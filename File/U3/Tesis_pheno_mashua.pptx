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4"/>
  </p:notesMasterIdLst>
  <p:sldIdLst>
    <p:sldId id="384" r:id="rId3"/>
    <p:sldId id="302" r:id="rId4"/>
    <p:sldId id="392" r:id="rId5"/>
    <p:sldId id="301" r:id="rId6"/>
    <p:sldId id="390" r:id="rId7"/>
    <p:sldId id="386" r:id="rId8"/>
    <p:sldId id="389" r:id="rId9"/>
    <p:sldId id="388" r:id="rId10"/>
    <p:sldId id="387" r:id="rId11"/>
    <p:sldId id="393" r:id="rId12"/>
    <p:sldId id="391"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5"/>
      </p:cViewPr>
      <p:guideLst/>
    </p:cSldViewPr>
  </p:slideViewPr>
  <p:notesTextViewPr>
    <p:cViewPr>
      <p:scale>
        <a:sx n="1" d="1"/>
        <a:sy n="1" d="1"/>
      </p:scale>
      <p:origin x="0" y="0"/>
    </p:cViewPr>
  </p:notesTextViewPr>
  <p:sorterViewPr>
    <p:cViewPr>
      <p:scale>
        <a:sx n="150" d="100"/>
        <a:sy n="150" d="100"/>
      </p:scale>
      <p:origin x="0" y="-600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39180-69ED-4CEF-8F5E-03AC1E8227F3}" type="datetimeFigureOut">
              <a:rPr lang="es-PE" smtClean="0"/>
              <a:t>16/07/2025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45946-A4B6-4CDB-89AB-6F8E66C3E705}" type="slidenum">
              <a:rPr lang="es-PE" smtClean="0"/>
              <a:t>‹Nº›</a:t>
            </a:fld>
            <a:endParaRPr lang="es-PE"/>
          </a:p>
        </p:txBody>
      </p:sp>
    </p:spTree>
    <p:extLst>
      <p:ext uri="{BB962C8B-B14F-4D97-AF65-F5344CB8AC3E}">
        <p14:creationId xmlns:p14="http://schemas.microsoft.com/office/powerpoint/2010/main" val="1807556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A131B6E9-7246-4F47-8CED-2F6D7805382D}" type="slidenum">
              <a:rPr lang="es-PE" smtClean="0"/>
              <a:t>1</a:t>
            </a:fld>
            <a:endParaRPr lang="es-PE"/>
          </a:p>
        </p:txBody>
      </p:sp>
    </p:spTree>
    <p:extLst>
      <p:ext uri="{BB962C8B-B14F-4D97-AF65-F5344CB8AC3E}">
        <p14:creationId xmlns:p14="http://schemas.microsoft.com/office/powerpoint/2010/main" val="1157989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9FC44E13-959C-4F92-962A-CD885D5B846E}" type="datetime1">
              <a:rPr lang="es-PE" smtClean="0"/>
              <a:t>16/07/2025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dirty="0"/>
          </a:p>
        </p:txBody>
      </p:sp>
    </p:spTree>
    <p:extLst>
      <p:ext uri="{BB962C8B-B14F-4D97-AF65-F5344CB8AC3E}">
        <p14:creationId xmlns:p14="http://schemas.microsoft.com/office/powerpoint/2010/main" val="67201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CF785727-E760-45B6-9F4E-2F2C4F62F3BB}" type="datetime1">
              <a:rPr lang="es-PE" smtClean="0"/>
              <a:t>16/07/2025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3908126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941A305E-4538-4EF4-8A60-B26B92A54B1E}" type="datetime1">
              <a:rPr lang="es-PE" smtClean="0"/>
              <a:t>16/07/2025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590209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4B8C0D03-F6BA-4A21-A06F-6339D28516A6}" type="datetime1">
              <a:rPr lang="es-PE" smtClean="0"/>
              <a:t>16/07/2025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89232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281DEDF0-8D30-4849-A407-C5D7E9B17A2C}" type="datetime1">
              <a:rPr lang="es-PE" smtClean="0"/>
              <a:t>16/07/2025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346891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43ABBC62-67A9-46F9-AEFA-81CED7CEB82B}" type="datetime1">
              <a:rPr lang="es-PE" smtClean="0"/>
              <a:t>16/07/2025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223279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B2B5955-A839-45BA-BE11-BEEAB6F0DF39}" type="datetime1">
              <a:rPr lang="es-PE" smtClean="0"/>
              <a:t>16/07/2025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3762522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F2DA779-49C3-4A80-962C-836EB22A4F27}" type="datetime1">
              <a:rPr lang="es-PE" smtClean="0"/>
              <a:t>16/07/2025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950218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A2993D5A-FBDB-44E9-88A4-426546FABA3A}" type="datetime1">
              <a:rPr lang="es-PE" smtClean="0"/>
              <a:t>16/07/2025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299783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E29A0FB7-A1C8-4A8B-B6E8-CA79B2374D45}" type="datetime1">
              <a:rPr lang="es-PE" smtClean="0"/>
              <a:t>16/07/2025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15914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63FDB39A-4106-4328-83B7-5B6A35462136}" type="datetime1">
              <a:rPr lang="es-PE" smtClean="0"/>
              <a:t>16/07/2025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05127BEB-47AF-44ED-B554-0B1B2779EC32}" type="slidenum">
              <a:rPr lang="es-PE" smtClean="0"/>
              <a:t>‹Nº›</a:t>
            </a:fld>
            <a:endParaRPr lang="es-PE"/>
          </a:p>
        </p:txBody>
      </p:sp>
    </p:spTree>
    <p:extLst>
      <p:ext uri="{BB962C8B-B14F-4D97-AF65-F5344CB8AC3E}">
        <p14:creationId xmlns:p14="http://schemas.microsoft.com/office/powerpoint/2010/main" val="8474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609630"/>
            <a:fld id="{FF9AD559-A633-48DD-ACDE-0D66C4E5631E}"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1426151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8C02FD7E-4A3F-45A8-B566-DDF87EC22DD3}"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677301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30"/>
            <a:fld id="{CE3CCD89-AC9B-4A81-95EB-26E774CAC999}"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25744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30"/>
            <a:fld id="{B0FFFC7C-A9B3-4658-B095-05B7774E10EA}" type="datetime1">
              <a:rPr lang="es-PE" smtClean="0">
                <a:solidFill>
                  <a:prstClr val="black">
                    <a:tint val="75000"/>
                  </a:prstClr>
                </a:solidFill>
              </a:rPr>
              <a:t>16/07/2025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4278635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30"/>
            <a:fld id="{C98357E6-B3D4-4061-8B35-CAE56D66540A}" type="datetime1">
              <a:rPr lang="es-PE" smtClean="0">
                <a:solidFill>
                  <a:prstClr val="black">
                    <a:tint val="75000"/>
                  </a:prstClr>
                </a:solidFill>
              </a:rPr>
              <a:t>16/07/2025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3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01896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609630"/>
            <a:fld id="{A59504B0-6791-4FC7-ABF3-7E75AF957B30}" type="datetime1">
              <a:rPr lang="es-PE" smtClean="0">
                <a:solidFill>
                  <a:prstClr val="black">
                    <a:tint val="75000"/>
                  </a:prstClr>
                </a:solidFill>
              </a:rPr>
              <a:t>16/07/2025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3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161841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30"/>
            <a:fld id="{2F83DE5F-83A6-46F0-AA28-CD4963D01588}" type="datetime1">
              <a:rPr lang="es-PE" smtClean="0">
                <a:solidFill>
                  <a:prstClr val="black">
                    <a:tint val="75000"/>
                  </a:prstClr>
                </a:solidFill>
              </a:rPr>
              <a:t>16/07/2025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3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084549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A09CCEA5-2D46-4A08-8A29-F9CB16A38BE6}" type="datetime1">
              <a:rPr lang="es-PE" smtClean="0">
                <a:solidFill>
                  <a:prstClr val="black">
                    <a:tint val="75000"/>
                  </a:prstClr>
                </a:solidFill>
              </a:rPr>
              <a:t>16/07/2025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788431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4861341F-A270-44A2-A4D2-A03FA24430FD}" type="datetime1">
              <a:rPr lang="es-PE" smtClean="0">
                <a:solidFill>
                  <a:prstClr val="black">
                    <a:tint val="75000"/>
                  </a:prstClr>
                </a:solidFill>
              </a:rPr>
              <a:t>16/07/2025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510814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0F231ADB-8132-4991-84B3-D37D40A3C3A1}"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38494357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057FB1DD-81B4-4AC1-BBF1-2FEC8FFB6BE6}"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1132643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328C8-5827-4102-B5A4-3B4509DEDE02}" type="datetime1">
              <a:rPr lang="es-PE" smtClean="0"/>
              <a:t>16/07/2025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127BEB-47AF-44ED-B554-0B1B2779EC32}" type="slidenum">
              <a:rPr lang="es-PE" smtClean="0"/>
              <a:t>‹Nº›</a:t>
            </a:fld>
            <a:endParaRPr lang="es-PE"/>
          </a:p>
        </p:txBody>
      </p:sp>
    </p:spTree>
    <p:extLst>
      <p:ext uri="{BB962C8B-B14F-4D97-AF65-F5344CB8AC3E}">
        <p14:creationId xmlns:p14="http://schemas.microsoft.com/office/powerpoint/2010/main" val="2479769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30"/>
            <a:fld id="{2F237A21-F2F8-46AA-87C8-2A0780D65DA1}" type="datetime1">
              <a:rPr lang="es-PE" smtClean="0">
                <a:solidFill>
                  <a:prstClr val="black">
                    <a:tint val="75000"/>
                  </a:prstClr>
                </a:solidFill>
              </a:rPr>
              <a:t>16/07/2025</a:t>
            </a:fld>
            <a:endParaRPr lang="en-US">
              <a:solidFill>
                <a:prstClr val="black">
                  <a:tint val="75000"/>
                </a:prstClr>
              </a:solidFill>
            </a:endParaRPr>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30"/>
            <a:endParaRPr lang="en-US">
              <a:solidFill>
                <a:prstClr val="black">
                  <a:tint val="75000"/>
                </a:prstClr>
              </a:solidFill>
            </a:endParaRPr>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30"/>
            <a:fld id="{B6F15528-21DE-4FAA-801E-634DDDAF4B2B}" type="slidenum">
              <a:rPr lang="en-US" smtClean="0">
                <a:solidFill>
                  <a:prstClr val="black">
                    <a:tint val="75000"/>
                  </a:prstClr>
                </a:solidFill>
              </a:rPr>
              <a:pPr defTabSz="609630"/>
              <a:t>‹Nº›</a:t>
            </a:fld>
            <a:endParaRPr lang="en-US">
              <a:solidFill>
                <a:prstClr val="black">
                  <a:tint val="75000"/>
                </a:prstClr>
              </a:solidFill>
            </a:endParaRPr>
          </a:p>
        </p:txBody>
      </p:sp>
    </p:spTree>
    <p:extLst>
      <p:ext uri="{BB962C8B-B14F-4D97-AF65-F5344CB8AC3E}">
        <p14:creationId xmlns:p14="http://schemas.microsoft.com/office/powerpoint/2010/main" val="28002110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7268/agroind.sci.2022.01.12" TargetMode="External"/><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hyperlink" Target="https://doi.org/10.1016/j.atech.2025.100832" TargetMode="External"/><Relationship Id="rId5" Type="http://schemas.openxmlformats.org/officeDocument/2006/relationships/hyperlink" Target="https://doi.org/10.1016/j.indcrop.2020.112162" TargetMode="External"/><Relationship Id="rId4" Type="http://schemas.openxmlformats.org/officeDocument/2006/relationships/hyperlink" Target="https://doi.org/10.3389/fpls.2024.134133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1CCF4D3A-7576-4B68-B174-77B1F556F77A}"/>
              </a:ext>
            </a:extLst>
          </p:cNvPr>
          <p:cNvGrpSpPr/>
          <p:nvPr/>
        </p:nvGrpSpPr>
        <p:grpSpPr>
          <a:xfrm>
            <a:off x="0" y="6457565"/>
            <a:ext cx="12192000" cy="431847"/>
            <a:chOff x="0" y="6309373"/>
            <a:chExt cx="12192000" cy="431847"/>
          </a:xfrm>
        </p:grpSpPr>
        <p:pic>
          <p:nvPicPr>
            <p:cNvPr id="7" name="Imagen 6">
              <a:extLst>
                <a:ext uri="{FF2B5EF4-FFF2-40B4-BE49-F238E27FC236}">
                  <a16:creationId xmlns:a16="http://schemas.microsoft.com/office/drawing/2014/main" id="{0016073D-BF98-4ED4-B5AC-4163EF84E6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5884"/>
            <a:stretch/>
          </p:blipFill>
          <p:spPr>
            <a:xfrm>
              <a:off x="0" y="6309887"/>
              <a:ext cx="10255348" cy="431333"/>
            </a:xfrm>
            <a:prstGeom prst="rect">
              <a:avLst/>
            </a:prstGeom>
          </p:spPr>
        </p:pic>
        <p:pic>
          <p:nvPicPr>
            <p:cNvPr id="8" name="Imagen 7">
              <a:extLst>
                <a:ext uri="{FF2B5EF4-FFF2-40B4-BE49-F238E27FC236}">
                  <a16:creationId xmlns:a16="http://schemas.microsoft.com/office/drawing/2014/main" id="{689E5482-B04A-4681-A4D8-FCD4F0F80B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4115"/>
            <a:stretch/>
          </p:blipFill>
          <p:spPr>
            <a:xfrm>
              <a:off x="10255348" y="6309373"/>
              <a:ext cx="1936652" cy="431333"/>
            </a:xfrm>
            <a:prstGeom prst="rect">
              <a:avLst/>
            </a:prstGeom>
          </p:spPr>
        </p:pic>
      </p:grpSp>
      <p:pic>
        <p:nvPicPr>
          <p:cNvPr id="10" name="Imagen 9">
            <a:extLst>
              <a:ext uri="{FF2B5EF4-FFF2-40B4-BE49-F238E27FC236}">
                <a16:creationId xmlns:a16="http://schemas.microsoft.com/office/drawing/2014/main" id="{393292AB-8B53-4C8E-813C-2572932E51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7550" r="5771"/>
          <a:stretch/>
        </p:blipFill>
        <p:spPr>
          <a:xfrm>
            <a:off x="0" y="1893714"/>
            <a:ext cx="12192000" cy="2588841"/>
          </a:xfrm>
          <a:prstGeom prst="rect">
            <a:avLst/>
          </a:prstGeom>
        </p:spPr>
      </p:pic>
      <p:sp>
        <p:nvSpPr>
          <p:cNvPr id="9" name="Subtítulo 2">
            <a:extLst>
              <a:ext uri="{FF2B5EF4-FFF2-40B4-BE49-F238E27FC236}">
                <a16:creationId xmlns:a16="http://schemas.microsoft.com/office/drawing/2014/main" id="{FE57E6CF-B661-4492-BC5F-CC999126F28D}"/>
              </a:ext>
            </a:extLst>
          </p:cNvPr>
          <p:cNvSpPr txBox="1">
            <a:spLocks/>
          </p:cNvSpPr>
          <p:nvPr/>
        </p:nvSpPr>
        <p:spPr>
          <a:xfrm>
            <a:off x="1073958" y="412409"/>
            <a:ext cx="10429739" cy="1112599"/>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FACULTAD DE INGENIERÍA Y CIENCIAS AGRARIAS</a:t>
            </a:r>
          </a:p>
          <a:p>
            <a:r>
              <a:rPr lang="es-PE"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ESCUELA PROFESIONAL DE INGENIERÍA AGRÓNOMA</a:t>
            </a:r>
          </a:p>
        </p:txBody>
      </p:sp>
      <p:sp>
        <p:nvSpPr>
          <p:cNvPr id="13" name="Rectángulo 12">
            <a:extLst>
              <a:ext uri="{FF2B5EF4-FFF2-40B4-BE49-F238E27FC236}">
                <a16:creationId xmlns:a16="http://schemas.microsoft.com/office/drawing/2014/main" id="{35027311-7354-4740-A44A-5A121F09C7EA}"/>
              </a:ext>
            </a:extLst>
          </p:cNvPr>
          <p:cNvSpPr/>
          <p:nvPr/>
        </p:nvSpPr>
        <p:spPr>
          <a:xfrm>
            <a:off x="284920" y="2237267"/>
            <a:ext cx="11622157" cy="16808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3200" b="1" dirty="0">
              <a:solidFill>
                <a:schemeClr val="bg1"/>
              </a:solidFill>
              <a:latin typeface="Times New Roman" panose="02020603050405020304" pitchFamily="18" charset="0"/>
              <a:cs typeface="Times New Roman" panose="02020603050405020304" pitchFamily="18" charset="0"/>
            </a:endParaRPr>
          </a:p>
          <a:p>
            <a:pPr algn="ctr"/>
            <a:endParaRPr lang="es-MX" sz="3200" b="1" dirty="0">
              <a:solidFill>
                <a:schemeClr val="bg1"/>
              </a:solidFill>
              <a:latin typeface="Times New Roman" panose="02020603050405020304" pitchFamily="18" charset="0"/>
              <a:cs typeface="Times New Roman" panose="02020603050405020304" pitchFamily="18" charset="0"/>
            </a:endParaRPr>
          </a:p>
        </p:txBody>
      </p:sp>
      <p:sp>
        <p:nvSpPr>
          <p:cNvPr id="19" name="Rectángulo 18">
            <a:extLst>
              <a:ext uri="{FF2B5EF4-FFF2-40B4-BE49-F238E27FC236}">
                <a16:creationId xmlns:a16="http://schemas.microsoft.com/office/drawing/2014/main" id="{1BA32B2F-4C83-4104-A85E-5BB3ECF8E3DB}"/>
              </a:ext>
            </a:extLst>
          </p:cNvPr>
          <p:cNvSpPr/>
          <p:nvPr/>
        </p:nvSpPr>
        <p:spPr>
          <a:xfrm>
            <a:off x="8883748" y="5903824"/>
            <a:ext cx="2743199" cy="369332"/>
          </a:xfrm>
          <a:prstGeom prst="rect">
            <a:avLst/>
          </a:prstGeom>
          <a:solidFill>
            <a:schemeClr val="bg1"/>
          </a:solidFill>
          <a:ln>
            <a:noFill/>
          </a:ln>
        </p:spPr>
        <p:txBody>
          <a:bodyPr wrap="square">
            <a:spAutoFit/>
          </a:bodyPr>
          <a:lstStyle/>
          <a:p>
            <a:r>
              <a:rPr lang="es-PE" b="1" dirty="0">
                <a:latin typeface="Times New Roman" panose="02020603050405020304" pitchFamily="18" charset="0"/>
                <a:cs typeface="Times New Roman" panose="02020603050405020304" pitchFamily="18" charset="0"/>
              </a:rPr>
              <a:t>CHACHAPOYAS - 2025</a:t>
            </a:r>
          </a:p>
        </p:txBody>
      </p:sp>
      <p:grpSp>
        <p:nvGrpSpPr>
          <p:cNvPr id="12" name="Group 11">
            <a:extLst>
              <a:ext uri="{FF2B5EF4-FFF2-40B4-BE49-F238E27FC236}">
                <a16:creationId xmlns:a16="http://schemas.microsoft.com/office/drawing/2014/main" id="{C16B7E47-6894-4BD5-B1B1-7970F7EE5506}"/>
              </a:ext>
            </a:extLst>
          </p:cNvPr>
          <p:cNvGrpSpPr/>
          <p:nvPr/>
        </p:nvGrpSpPr>
        <p:grpSpPr>
          <a:xfrm>
            <a:off x="-6031" y="68726"/>
            <a:ext cx="2929528" cy="859121"/>
            <a:chOff x="0" y="0"/>
            <a:chExt cx="4361354" cy="1282270"/>
          </a:xfrm>
        </p:grpSpPr>
        <p:sp>
          <p:nvSpPr>
            <p:cNvPr id="14" name="Freeform 12">
              <a:extLst>
                <a:ext uri="{FF2B5EF4-FFF2-40B4-BE49-F238E27FC236}">
                  <a16:creationId xmlns:a16="http://schemas.microsoft.com/office/drawing/2014/main" id="{405DCE1F-C857-4A07-9FC1-642969AC143D}"/>
                </a:ext>
              </a:extLst>
            </p:cNvPr>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5"/>
              <a:stretch>
                <a:fillRect t="-205" r="-1" b="-202"/>
              </a:stretch>
            </a:blipFill>
          </p:spPr>
          <p:txBody>
            <a:bodyPr/>
            <a:lstStyle/>
            <a:p>
              <a:endParaRPr lang="es-PE"/>
            </a:p>
          </p:txBody>
        </p:sp>
      </p:grpSp>
      <p:pic>
        <p:nvPicPr>
          <p:cNvPr id="17" name="Imagen 16">
            <a:extLst>
              <a:ext uri="{FF2B5EF4-FFF2-40B4-BE49-F238E27FC236}">
                <a16:creationId xmlns:a16="http://schemas.microsoft.com/office/drawing/2014/main" id="{CE550DD8-EDF9-4B6F-922B-628CC14D60FE}"/>
              </a:ext>
            </a:extLst>
          </p:cNvPr>
          <p:cNvPicPr>
            <a:picLocks noChangeAspect="1"/>
          </p:cNvPicPr>
          <p:nvPr/>
        </p:nvPicPr>
        <p:blipFill>
          <a:blip r:embed="rId6"/>
          <a:stretch>
            <a:fillRect/>
          </a:stretch>
        </p:blipFill>
        <p:spPr>
          <a:xfrm>
            <a:off x="11127007" y="69844"/>
            <a:ext cx="855107" cy="858036"/>
          </a:xfrm>
          <a:prstGeom prst="rect">
            <a:avLst/>
          </a:prstGeom>
        </p:spPr>
      </p:pic>
      <p:sp>
        <p:nvSpPr>
          <p:cNvPr id="2" name="CuadroTexto 1">
            <a:extLst>
              <a:ext uri="{FF2B5EF4-FFF2-40B4-BE49-F238E27FC236}">
                <a16:creationId xmlns:a16="http://schemas.microsoft.com/office/drawing/2014/main" id="{893752D0-8350-48A2-A471-8B2253CBF1F1}"/>
              </a:ext>
            </a:extLst>
          </p:cNvPr>
          <p:cNvSpPr txBox="1"/>
          <p:nvPr/>
        </p:nvSpPr>
        <p:spPr>
          <a:xfrm>
            <a:off x="753035" y="5046961"/>
            <a:ext cx="3697942" cy="498663"/>
          </a:xfrm>
          <a:prstGeom prst="rect">
            <a:avLst/>
          </a:prstGeom>
          <a:noFill/>
        </p:spPr>
        <p:txBody>
          <a:bodyPr wrap="square" rtlCol="0">
            <a:spAutoFit/>
          </a:bodyPr>
          <a:lstStyle/>
          <a:p>
            <a:pPr algn="just">
              <a:lnSpc>
                <a:spcPct val="150000"/>
              </a:lnSpc>
            </a:pPr>
            <a:r>
              <a:rPr lang="es-PE" sz="2000" b="1" dirty="0">
                <a:latin typeface="Times New Roman" panose="02020603050405020304" pitchFamily="18" charset="0"/>
                <a:cs typeface="Times New Roman" panose="02020603050405020304" pitchFamily="18" charset="0"/>
              </a:rPr>
              <a:t>Autor: </a:t>
            </a:r>
            <a:r>
              <a:rPr lang="es-PE" sz="2000" dirty="0">
                <a:latin typeface="Times New Roman" panose="02020603050405020304" pitchFamily="18" charset="0"/>
                <a:cs typeface="Times New Roman" panose="02020603050405020304" pitchFamily="18" charset="0"/>
              </a:rPr>
              <a:t>Diaz Saucedo Yoel</a:t>
            </a:r>
          </a:p>
        </p:txBody>
      </p:sp>
      <p:sp>
        <p:nvSpPr>
          <p:cNvPr id="11" name="Marcador de número de diapositiva 10">
            <a:extLst>
              <a:ext uri="{FF2B5EF4-FFF2-40B4-BE49-F238E27FC236}">
                <a16:creationId xmlns:a16="http://schemas.microsoft.com/office/drawing/2014/main" id="{A1F826A5-CDCC-46DB-9BCD-A3DBA4A0713E}"/>
              </a:ext>
            </a:extLst>
          </p:cNvPr>
          <p:cNvSpPr>
            <a:spLocks noGrp="1"/>
          </p:cNvSpPr>
          <p:nvPr>
            <p:ph type="sldNum" sz="quarter" idx="12"/>
          </p:nvPr>
        </p:nvSpPr>
        <p:spPr>
          <a:xfrm>
            <a:off x="4724399" y="6445591"/>
            <a:ext cx="2743200" cy="365125"/>
          </a:xfrm>
        </p:spPr>
        <p:txBody>
          <a:bodyPr/>
          <a:lstStyle/>
          <a:p>
            <a:pPr algn="ctr"/>
            <a:fld id="{05127BEB-47AF-44ED-B554-0B1B2779EC32}" type="slidenum">
              <a:rPr lang="es-PE" sz="2000" smtClean="0">
                <a:solidFill>
                  <a:schemeClr val="bg1"/>
                </a:solidFill>
                <a:latin typeface="Times New Roman" panose="02020603050405020304" pitchFamily="18" charset="0"/>
                <a:cs typeface="Times New Roman" panose="02020603050405020304" pitchFamily="18" charset="0"/>
              </a:rPr>
              <a:pPr algn="ctr"/>
              <a:t>1</a:t>
            </a:fld>
            <a:endParaRPr lang="es-PE" sz="2000" dirty="0">
              <a:solidFill>
                <a:schemeClr val="bg1"/>
              </a:solidFill>
              <a:latin typeface="Times New Roman" panose="02020603050405020304" pitchFamily="18" charset="0"/>
              <a:cs typeface="Times New Roman" panose="02020603050405020304" pitchFamily="18" charset="0"/>
            </a:endParaRPr>
          </a:p>
        </p:txBody>
      </p:sp>
      <p:sp>
        <p:nvSpPr>
          <p:cNvPr id="16" name="CuadroTexto 15">
            <a:extLst>
              <a:ext uri="{FF2B5EF4-FFF2-40B4-BE49-F238E27FC236}">
                <a16:creationId xmlns:a16="http://schemas.microsoft.com/office/drawing/2014/main" id="{6A94B409-09B3-42E0-98BB-728DB859C117}"/>
              </a:ext>
            </a:extLst>
          </p:cNvPr>
          <p:cNvSpPr txBox="1"/>
          <p:nvPr/>
        </p:nvSpPr>
        <p:spPr>
          <a:xfrm>
            <a:off x="7206247" y="4871194"/>
            <a:ext cx="3697942" cy="458074"/>
          </a:xfrm>
          <a:prstGeom prst="rect">
            <a:avLst/>
          </a:prstGeom>
          <a:noFill/>
        </p:spPr>
        <p:txBody>
          <a:bodyPr wrap="square">
            <a:spAutoFit/>
          </a:bodyPr>
          <a:lstStyle/>
          <a:p>
            <a:pPr algn="ctr">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Asesor: </a:t>
            </a:r>
            <a:r>
              <a:rPr lang="es-P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Flavio Lozano Isla</a:t>
            </a:r>
          </a:p>
        </p:txBody>
      </p:sp>
      <p:sp>
        <p:nvSpPr>
          <p:cNvPr id="5" name="CuadroTexto 4">
            <a:extLst>
              <a:ext uri="{FF2B5EF4-FFF2-40B4-BE49-F238E27FC236}">
                <a16:creationId xmlns:a16="http://schemas.microsoft.com/office/drawing/2014/main" id="{E8387F69-D2D7-42F1-99E7-FA7F6A946F47}"/>
              </a:ext>
            </a:extLst>
          </p:cNvPr>
          <p:cNvSpPr txBox="1"/>
          <p:nvPr/>
        </p:nvSpPr>
        <p:spPr>
          <a:xfrm>
            <a:off x="4634062" y="2144219"/>
            <a:ext cx="2923871" cy="369332"/>
          </a:xfrm>
          <a:prstGeom prst="rect">
            <a:avLst/>
          </a:prstGeom>
          <a:noFill/>
        </p:spPr>
        <p:txBody>
          <a:bodyPr wrap="square" rtlCol="0">
            <a:spAutoFit/>
          </a:bodyPr>
          <a:lstStyle/>
          <a:p>
            <a:r>
              <a:rPr lang="es-PE" b="1" dirty="0">
                <a:solidFill>
                  <a:schemeClr val="bg1"/>
                </a:solidFill>
                <a:latin typeface="Times New Roman" panose="02020603050405020304" pitchFamily="18" charset="0"/>
                <a:cs typeface="Times New Roman" panose="02020603050405020304" pitchFamily="18" charset="0"/>
              </a:rPr>
              <a:t>PROYECTO DE TESIS</a:t>
            </a:r>
          </a:p>
        </p:txBody>
      </p:sp>
      <p:sp>
        <p:nvSpPr>
          <p:cNvPr id="20" name="CuadroTexto 19">
            <a:extLst>
              <a:ext uri="{FF2B5EF4-FFF2-40B4-BE49-F238E27FC236}">
                <a16:creationId xmlns:a16="http://schemas.microsoft.com/office/drawing/2014/main" id="{C60A0986-243B-47FC-A36E-5A747276C046}"/>
              </a:ext>
            </a:extLst>
          </p:cNvPr>
          <p:cNvSpPr txBox="1"/>
          <p:nvPr/>
        </p:nvSpPr>
        <p:spPr>
          <a:xfrm>
            <a:off x="753035" y="2641331"/>
            <a:ext cx="10963836" cy="1754326"/>
          </a:xfrm>
          <a:prstGeom prst="rect">
            <a:avLst/>
          </a:prstGeom>
          <a:noFill/>
        </p:spPr>
        <p:txBody>
          <a:bodyPr wrap="square">
            <a:spAutoFit/>
          </a:bodyPr>
          <a:lstStyle/>
          <a:p>
            <a:pPr algn="ctr"/>
            <a:r>
              <a:rPr lang="es-PE" sz="3600" b="1" dirty="0">
                <a:solidFill>
                  <a:schemeClr val="bg1"/>
                </a:solidFill>
                <a:latin typeface="Times New Roman" panose="02020603050405020304" pitchFamily="18" charset="0"/>
                <a:cs typeface="Times New Roman" panose="02020603050405020304" pitchFamily="18" charset="0"/>
              </a:rPr>
              <a:t>Caracterización morfológica automatizada de </a:t>
            </a:r>
            <a:r>
              <a:rPr lang="es-PE" sz="3600" b="1" dirty="0" err="1">
                <a:solidFill>
                  <a:schemeClr val="bg1"/>
                </a:solidFill>
                <a:latin typeface="Times New Roman" panose="02020603050405020304" pitchFamily="18" charset="0"/>
                <a:cs typeface="Times New Roman" panose="02020603050405020304" pitchFamily="18" charset="0"/>
              </a:rPr>
              <a:t>Mashua</a:t>
            </a:r>
            <a:r>
              <a:rPr lang="es-PE" sz="3600" b="1" dirty="0">
                <a:solidFill>
                  <a:schemeClr val="bg1"/>
                </a:solidFill>
                <a:latin typeface="Times New Roman" panose="02020603050405020304" pitchFamily="18" charset="0"/>
                <a:cs typeface="Times New Roman" panose="02020603050405020304" pitchFamily="18" charset="0"/>
              </a:rPr>
              <a:t> (</a:t>
            </a:r>
            <a:r>
              <a:rPr lang="es-PE" sz="3600" b="1" i="1" dirty="0" err="1">
                <a:solidFill>
                  <a:schemeClr val="bg1"/>
                </a:solidFill>
                <a:latin typeface="Times New Roman" panose="02020603050405020304" pitchFamily="18" charset="0"/>
                <a:cs typeface="Times New Roman" panose="02020603050405020304" pitchFamily="18" charset="0"/>
              </a:rPr>
              <a:t>Tropaeolum</a:t>
            </a:r>
            <a:r>
              <a:rPr lang="es-PE" sz="3600" b="1" i="1" dirty="0">
                <a:solidFill>
                  <a:schemeClr val="bg1"/>
                </a:solidFill>
                <a:latin typeface="Times New Roman" panose="02020603050405020304" pitchFamily="18" charset="0"/>
                <a:cs typeface="Times New Roman" panose="02020603050405020304" pitchFamily="18" charset="0"/>
              </a:rPr>
              <a:t> </a:t>
            </a:r>
            <a:r>
              <a:rPr lang="es-PE" sz="3600" b="1" i="1" dirty="0" err="1">
                <a:solidFill>
                  <a:schemeClr val="bg1"/>
                </a:solidFill>
                <a:latin typeface="Times New Roman" panose="02020603050405020304" pitchFamily="18" charset="0"/>
                <a:cs typeface="Times New Roman" panose="02020603050405020304" pitchFamily="18" charset="0"/>
              </a:rPr>
              <a:t>tuberosum</a:t>
            </a:r>
            <a:r>
              <a:rPr lang="es-PE" sz="3600" b="1" dirty="0">
                <a:solidFill>
                  <a:schemeClr val="bg1"/>
                </a:solidFill>
                <a:latin typeface="Times New Roman" panose="02020603050405020304" pitchFamily="18" charset="0"/>
                <a:cs typeface="Times New Roman" panose="02020603050405020304" pitchFamily="18" charset="0"/>
              </a:rPr>
              <a:t>) mediante modelos de inteligencia artificial y análisis de imágenes.</a:t>
            </a:r>
          </a:p>
        </p:txBody>
      </p:sp>
    </p:spTree>
    <p:extLst>
      <p:ext uri="{BB962C8B-B14F-4D97-AF65-F5344CB8AC3E}">
        <p14:creationId xmlns:p14="http://schemas.microsoft.com/office/powerpoint/2010/main" val="3197922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349791"/>
            <a:ext cx="12192000" cy="557485"/>
            <a:chOff x="0" y="0"/>
            <a:chExt cx="24384000" cy="1114970"/>
          </a:xfrm>
        </p:grpSpPr>
        <p:sp>
          <p:nvSpPr>
            <p:cNvPr id="3" name="Freeform 3"/>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dirty="0"/>
            </a:p>
          </p:txBody>
        </p:sp>
      </p:grpSp>
      <p:grpSp>
        <p:nvGrpSpPr>
          <p:cNvPr id="4" name="Group 4"/>
          <p:cNvGrpSpPr/>
          <p:nvPr/>
        </p:nvGrpSpPr>
        <p:grpSpPr>
          <a:xfrm>
            <a:off x="294226" y="85799"/>
            <a:ext cx="2180677" cy="641135"/>
            <a:chOff x="0" y="0"/>
            <a:chExt cx="4361354" cy="1282270"/>
          </a:xfrm>
        </p:grpSpPr>
        <p:sp>
          <p:nvSpPr>
            <p:cNvPr id="5" name="Freeform 5"/>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7" name="TextBox 7"/>
          <p:cNvSpPr txBox="1"/>
          <p:nvPr/>
        </p:nvSpPr>
        <p:spPr>
          <a:xfrm>
            <a:off x="4883523" y="236049"/>
            <a:ext cx="2424953" cy="361894"/>
          </a:xfrm>
          <a:prstGeom prst="rect">
            <a:avLst/>
          </a:prstGeom>
        </p:spPr>
        <p:txBody>
          <a:bodyPr wrap="square" lIns="0" tIns="0" rIns="0" bIns="0" rtlCol="0" anchor="t">
            <a:spAutoFit/>
          </a:bodyPr>
          <a:lstStyle/>
          <a:p>
            <a:pPr algn="ctr" defTabSz="609630">
              <a:lnSpc>
                <a:spcPts val="3173"/>
              </a:lnSpc>
            </a:pPr>
            <a:r>
              <a:rPr lang="en-US" b="1" dirty="0">
                <a:solidFill>
                  <a:srgbClr val="000000"/>
                </a:solidFill>
                <a:latin typeface="Times New Roman" panose="02020603050405020304" pitchFamily="18" charset="0"/>
                <a:ea typeface="Times New Roman"/>
                <a:cs typeface="Times New Roman" panose="02020603050405020304" pitchFamily="18" charset="0"/>
                <a:sym typeface="Times New Roman Bold"/>
              </a:rPr>
              <a:t>1. INTRODUCCIÓN</a:t>
            </a:r>
            <a:endParaRPr lang="en-US"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4" name="CuadroTexto 13">
            <a:extLst>
              <a:ext uri="{FF2B5EF4-FFF2-40B4-BE49-F238E27FC236}">
                <a16:creationId xmlns:a16="http://schemas.microsoft.com/office/drawing/2014/main" id="{D32295D3-63FE-468C-B7DC-46D5587BF77A}"/>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2</a:t>
            </a:r>
          </a:p>
        </p:txBody>
      </p:sp>
      <p:pic>
        <p:nvPicPr>
          <p:cNvPr id="1026" name="Picture 2" descr="Beneficios de la mashua - Policlínico Continental">
            <a:extLst>
              <a:ext uri="{FF2B5EF4-FFF2-40B4-BE49-F238E27FC236}">
                <a16:creationId xmlns:a16="http://schemas.microsoft.com/office/drawing/2014/main" id="{DE336584-8100-4EF2-A1A2-0E72E7925B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360" y="817751"/>
            <a:ext cx="5127639" cy="2884297"/>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03094737-BA88-4D03-A7ED-B60835FDB47B}"/>
              </a:ext>
            </a:extLst>
          </p:cNvPr>
          <p:cNvPicPr>
            <a:picLocks noChangeAspect="1"/>
          </p:cNvPicPr>
          <p:nvPr/>
        </p:nvPicPr>
        <p:blipFill>
          <a:blip r:embed="rId5"/>
          <a:stretch>
            <a:fillRect/>
          </a:stretch>
        </p:blipFill>
        <p:spPr>
          <a:xfrm>
            <a:off x="8510443" y="2716434"/>
            <a:ext cx="3343197" cy="3343197"/>
          </a:xfrm>
          <a:prstGeom prst="rect">
            <a:avLst/>
          </a:prstGeom>
        </p:spPr>
      </p:pic>
      <p:sp>
        <p:nvSpPr>
          <p:cNvPr id="16" name="CuadroTexto 15">
            <a:extLst>
              <a:ext uri="{FF2B5EF4-FFF2-40B4-BE49-F238E27FC236}">
                <a16:creationId xmlns:a16="http://schemas.microsoft.com/office/drawing/2014/main" id="{CD72D7E2-DB0F-44F8-8991-13BC6F04EC13}"/>
              </a:ext>
            </a:extLst>
          </p:cNvPr>
          <p:cNvSpPr txBox="1"/>
          <p:nvPr/>
        </p:nvSpPr>
        <p:spPr>
          <a:xfrm>
            <a:off x="5757640" y="1001199"/>
            <a:ext cx="6096000" cy="1754326"/>
          </a:xfrm>
          <a:prstGeom prst="rect">
            <a:avLst/>
          </a:prstGeom>
          <a:noFill/>
        </p:spPr>
        <p:txBody>
          <a:bodyPr wrap="square">
            <a:spAutoFit/>
          </a:bodyPr>
          <a:lstStyle/>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La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a:t>
            </a:r>
            <a:r>
              <a:rPr lang="es-MX" i="1" dirty="0" err="1">
                <a:latin typeface="Times New Roman" panose="02020603050405020304" pitchFamily="18" charset="0"/>
                <a:cs typeface="Times New Roman" panose="02020603050405020304" pitchFamily="18" charset="0"/>
              </a:rPr>
              <a:t>Tropaeolum</a:t>
            </a:r>
            <a:r>
              <a:rPr lang="es-MX" i="1" dirty="0">
                <a:latin typeface="Times New Roman" panose="02020603050405020304" pitchFamily="18" charset="0"/>
                <a:cs typeface="Times New Roman" panose="02020603050405020304" pitchFamily="18" charset="0"/>
              </a:rPr>
              <a:t> </a:t>
            </a:r>
            <a:r>
              <a:rPr lang="es-MX" i="1" dirty="0" err="1">
                <a:latin typeface="Times New Roman" panose="02020603050405020304" pitchFamily="18" charset="0"/>
                <a:cs typeface="Times New Roman" panose="02020603050405020304" pitchFamily="18" charset="0"/>
              </a:rPr>
              <a:t>tuberosum</a:t>
            </a:r>
            <a:r>
              <a:rPr lang="es-MX" dirty="0">
                <a:latin typeface="Times New Roman" panose="02020603050405020304" pitchFamily="18" charset="0"/>
                <a:cs typeface="Times New Roman" panose="02020603050405020304" pitchFamily="18" charset="0"/>
              </a:rPr>
              <a:t>) es un tubérculo andino de alto valor cultural, nutricional y medicinal.</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Ha sido cultivada desde tiempos ancestrales en zonas de gran altitud.</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Se encuentra principalmente en países como Perú, Bolivia y Ecuador.</a:t>
            </a:r>
            <a:endParaRPr lang="es-PE" dirty="0">
              <a:latin typeface="Times New Roman" panose="02020603050405020304" pitchFamily="18" charset="0"/>
              <a:cs typeface="Times New Roman" panose="02020603050405020304" pitchFamily="18" charset="0"/>
            </a:endParaRPr>
          </a:p>
        </p:txBody>
      </p:sp>
      <p:sp>
        <p:nvSpPr>
          <p:cNvPr id="17" name="CuadroTexto 16">
            <a:extLst>
              <a:ext uri="{FF2B5EF4-FFF2-40B4-BE49-F238E27FC236}">
                <a16:creationId xmlns:a16="http://schemas.microsoft.com/office/drawing/2014/main" id="{ACE4E660-695E-430B-89DB-97839090F4BD}"/>
              </a:ext>
            </a:extLst>
          </p:cNvPr>
          <p:cNvSpPr txBox="1"/>
          <p:nvPr/>
        </p:nvSpPr>
        <p:spPr>
          <a:xfrm>
            <a:off x="338360" y="3871757"/>
            <a:ext cx="8060879" cy="2308324"/>
          </a:xfrm>
          <a:prstGeom prst="rect">
            <a:avLst/>
          </a:prstGeom>
          <a:noFill/>
        </p:spPr>
        <p:txBody>
          <a:bodyPr wrap="square">
            <a:spAutoFit/>
          </a:bodyPr>
          <a:lstStyle/>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La caracterización morfológica tradicional de la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se basa en observaciones visuales, siendo un proceso lento, subjetivo y poco reproducible.</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Esta limitación dificulta la estandarización y eficiencia en la evaluación de su diversidad.</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Tecnologías como la inteligencia artificial y el análisis automatizado de imágenes ofrecen una alternativa moderna y precisa.</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Estas herramientas permiten evaluaciones más objetivas y eficientes, favoreciendo la conservación, estudio y valorización de esta especie nativa andina.</a:t>
            </a:r>
            <a:endParaRPr lang="es-PE" dirty="0">
              <a:latin typeface="Times New Roman" panose="02020603050405020304" pitchFamily="18" charset="0"/>
              <a:cs typeface="Times New Roman" panose="02020603050405020304" pitchFamily="18" charset="0"/>
            </a:endParaRPr>
          </a:p>
        </p:txBody>
      </p:sp>
      <p:pic>
        <p:nvPicPr>
          <p:cNvPr id="18" name="Imagen 17">
            <a:extLst>
              <a:ext uri="{FF2B5EF4-FFF2-40B4-BE49-F238E27FC236}">
                <a16:creationId xmlns:a16="http://schemas.microsoft.com/office/drawing/2014/main" id="{3A26A122-7E6A-4BFA-B00F-8A3F843A5662}"/>
              </a:ext>
            </a:extLst>
          </p:cNvPr>
          <p:cNvPicPr>
            <a:picLocks noChangeAspect="1"/>
          </p:cNvPicPr>
          <p:nvPr/>
        </p:nvPicPr>
        <p:blipFill>
          <a:blip r:embed="rId6"/>
          <a:stretch>
            <a:fillRect/>
          </a:stretch>
        </p:blipFill>
        <p:spPr>
          <a:xfrm>
            <a:off x="11247048" y="79901"/>
            <a:ext cx="650726" cy="652955"/>
          </a:xfrm>
          <a:prstGeom prst="rect">
            <a:avLst/>
          </a:prstGeom>
        </p:spPr>
      </p:pic>
    </p:spTree>
    <p:extLst>
      <p:ext uri="{BB962C8B-B14F-4D97-AF65-F5344CB8AC3E}">
        <p14:creationId xmlns:p14="http://schemas.microsoft.com/office/powerpoint/2010/main" val="157188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6349791"/>
            <a:ext cx="12192000" cy="557485"/>
            <a:chOff x="0" y="0"/>
            <a:chExt cx="24384000" cy="1114970"/>
          </a:xfrm>
        </p:grpSpPr>
        <p:sp>
          <p:nvSpPr>
            <p:cNvPr id="3" name="Freeform 3"/>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dirty="0"/>
            </a:p>
          </p:txBody>
        </p:sp>
      </p:grpSp>
      <p:grpSp>
        <p:nvGrpSpPr>
          <p:cNvPr id="4" name="Group 4"/>
          <p:cNvGrpSpPr/>
          <p:nvPr/>
        </p:nvGrpSpPr>
        <p:grpSpPr>
          <a:xfrm>
            <a:off x="294226" y="85799"/>
            <a:ext cx="2180677" cy="641135"/>
            <a:chOff x="0" y="0"/>
            <a:chExt cx="4361354" cy="1282270"/>
          </a:xfrm>
        </p:grpSpPr>
        <p:sp>
          <p:nvSpPr>
            <p:cNvPr id="5" name="Freeform 5"/>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14" name="CuadroTexto 13">
            <a:extLst>
              <a:ext uri="{FF2B5EF4-FFF2-40B4-BE49-F238E27FC236}">
                <a16:creationId xmlns:a16="http://schemas.microsoft.com/office/drawing/2014/main" id="{D32295D3-63FE-468C-B7DC-46D5587BF77A}"/>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3</a:t>
            </a:r>
          </a:p>
        </p:txBody>
      </p:sp>
      <p:sp>
        <p:nvSpPr>
          <p:cNvPr id="8" name="CuadroTexto 7">
            <a:extLst>
              <a:ext uri="{FF2B5EF4-FFF2-40B4-BE49-F238E27FC236}">
                <a16:creationId xmlns:a16="http://schemas.microsoft.com/office/drawing/2014/main" id="{E7E73FF2-F259-39A4-AFD6-CDEFCF497E1E}"/>
              </a:ext>
            </a:extLst>
          </p:cNvPr>
          <p:cNvSpPr txBox="1"/>
          <p:nvPr/>
        </p:nvSpPr>
        <p:spPr>
          <a:xfrm>
            <a:off x="5525361" y="440181"/>
            <a:ext cx="1812023" cy="369332"/>
          </a:xfrm>
          <a:prstGeom prst="rect">
            <a:avLst/>
          </a:prstGeom>
          <a:noFill/>
        </p:spPr>
        <p:txBody>
          <a:bodyPr wrap="square">
            <a:spAutoFit/>
          </a:bodyPr>
          <a:lstStyle/>
          <a:p>
            <a:r>
              <a:rPr lang="es-PE" b="1" dirty="0">
                <a:solidFill>
                  <a:srgbClr val="000000"/>
                </a:solidFill>
                <a:latin typeface="Times New Roman" panose="02020603050405020304" pitchFamily="18" charset="0"/>
              </a:rPr>
              <a:t>2. P</a:t>
            </a:r>
            <a:r>
              <a:rPr lang="es-PE" b="1" i="0" u="none" strike="noStrike" dirty="0">
                <a:solidFill>
                  <a:srgbClr val="000000"/>
                </a:solidFill>
                <a:effectLst/>
                <a:latin typeface="Times New Roman" panose="02020603050405020304" pitchFamily="18" charset="0"/>
              </a:rPr>
              <a:t>ROBLEMA</a:t>
            </a:r>
            <a:endParaRPr lang="es-PE" dirty="0"/>
          </a:p>
        </p:txBody>
      </p:sp>
      <p:sp>
        <p:nvSpPr>
          <p:cNvPr id="16" name="CuadroTexto 22">
            <a:extLst>
              <a:ext uri="{FF2B5EF4-FFF2-40B4-BE49-F238E27FC236}">
                <a16:creationId xmlns:a16="http://schemas.microsoft.com/office/drawing/2014/main" id="{367AC916-0A7B-4E9D-ADAB-9886DDD480DF}"/>
              </a:ext>
            </a:extLst>
          </p:cNvPr>
          <p:cNvSpPr txBox="1"/>
          <p:nvPr/>
        </p:nvSpPr>
        <p:spPr>
          <a:xfrm>
            <a:off x="1241384" y="4993068"/>
            <a:ext cx="6096000" cy="400110"/>
          </a:xfrm>
          <a:prstGeom prst="rect">
            <a:avLst/>
          </a:prstGeom>
          <a:noFill/>
        </p:spPr>
        <p:txBody>
          <a:bodyPr wrap="square">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1200"/>
              </a:spcBef>
              <a:spcAft>
                <a:spcPts val="1200"/>
              </a:spcAft>
            </a:pPr>
            <a:r>
              <a:rPr lang="es-PE"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 Pregunta del problema</a:t>
            </a:r>
            <a:endParaRPr lang="es-PE"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CuadroTexto 24">
            <a:extLst>
              <a:ext uri="{FF2B5EF4-FFF2-40B4-BE49-F238E27FC236}">
                <a16:creationId xmlns:a16="http://schemas.microsoft.com/office/drawing/2014/main" id="{849C47AD-CC9D-4933-92B3-4C433665D772}"/>
              </a:ext>
            </a:extLst>
          </p:cNvPr>
          <p:cNvSpPr txBox="1"/>
          <p:nvPr/>
        </p:nvSpPr>
        <p:spPr>
          <a:xfrm>
            <a:off x="1241384" y="5470303"/>
            <a:ext cx="10206545" cy="584775"/>
          </a:xfrm>
          <a:prstGeom prst="rect">
            <a:avLst/>
          </a:prstGeom>
          <a:noFill/>
        </p:spPr>
        <p:txBody>
          <a:bodyPr wrap="square">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1200"/>
              </a:spcBef>
              <a:spcAft>
                <a:spcPts val="1200"/>
              </a:spcAft>
            </a:pP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¿Cómo puede automatizarse la caracterización morfológica de la </a:t>
            </a:r>
            <a:r>
              <a:rPr lang="es-PE" sz="16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mashua</a:t>
            </a: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6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Tropaeolum</a:t>
            </a:r>
            <a:r>
              <a:rPr lang="es-PE" sz="16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6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tuberosum</a:t>
            </a:r>
            <a:r>
              <a:rPr lang="es-PE"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mediante el uso de modelos de inteligencia artificial y análisis de imágenes?</a:t>
            </a:r>
            <a:endParaRPr lang="es-PE"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34EB8C50-02ED-4569-808C-38042D23E7AC}"/>
              </a:ext>
            </a:extLst>
          </p:cNvPr>
          <p:cNvPicPr>
            <a:picLocks noChangeAspect="1"/>
          </p:cNvPicPr>
          <p:nvPr/>
        </p:nvPicPr>
        <p:blipFill rotWithShape="1">
          <a:blip r:embed="rId4"/>
          <a:srcRect l="9003" r="11598" b="9069"/>
          <a:stretch/>
        </p:blipFill>
        <p:spPr>
          <a:xfrm>
            <a:off x="7118618" y="1342441"/>
            <a:ext cx="4733365" cy="3388056"/>
          </a:xfrm>
          <a:prstGeom prst="rect">
            <a:avLst/>
          </a:prstGeom>
        </p:spPr>
      </p:pic>
      <p:sp>
        <p:nvSpPr>
          <p:cNvPr id="13" name="CuadroTexto 12">
            <a:extLst>
              <a:ext uri="{FF2B5EF4-FFF2-40B4-BE49-F238E27FC236}">
                <a16:creationId xmlns:a16="http://schemas.microsoft.com/office/drawing/2014/main" id="{87C4A0F7-3458-4103-A08A-C6F378017C44}"/>
              </a:ext>
            </a:extLst>
          </p:cNvPr>
          <p:cNvSpPr txBox="1"/>
          <p:nvPr/>
        </p:nvSpPr>
        <p:spPr>
          <a:xfrm>
            <a:off x="775447" y="1428852"/>
            <a:ext cx="6096000" cy="2862322"/>
          </a:xfrm>
          <a:prstGeom prst="rect">
            <a:avLst/>
          </a:prstGeom>
          <a:noFill/>
        </p:spPr>
        <p:txBody>
          <a:bodyPr wrap="square">
            <a:spAutoFit/>
          </a:bodyPr>
          <a:lstStyle/>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La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posee alto valor nutricional y agronómico, pero su diversidad morfológica ha sido poco explorada.</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El desinterés comercial y la baja conservación limitan su estudio y aprovechamiento.</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Los métodos tradicionales de caracterización son lentos, destructivos y subjetivos.</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No existen sistemas automatizados con IA aplicados específicamente a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Falta un sistema automatizado que permita una caracterización morfológica precisa y eficiente.</a:t>
            </a:r>
            <a:endParaRPr lang="es-PE" dirty="0">
              <a:latin typeface="Times New Roman" panose="02020603050405020304" pitchFamily="18" charset="0"/>
              <a:cs typeface="Times New Roman" panose="02020603050405020304" pitchFamily="18" charset="0"/>
            </a:endParaRPr>
          </a:p>
        </p:txBody>
      </p:sp>
      <p:pic>
        <p:nvPicPr>
          <p:cNvPr id="15" name="Imagen 14">
            <a:extLst>
              <a:ext uri="{FF2B5EF4-FFF2-40B4-BE49-F238E27FC236}">
                <a16:creationId xmlns:a16="http://schemas.microsoft.com/office/drawing/2014/main" id="{90F519A2-1379-4AC6-9A5E-394615FD1D4F}"/>
              </a:ext>
            </a:extLst>
          </p:cNvPr>
          <p:cNvPicPr>
            <a:picLocks noChangeAspect="1"/>
          </p:cNvPicPr>
          <p:nvPr/>
        </p:nvPicPr>
        <p:blipFill>
          <a:blip r:embed="rId5"/>
          <a:stretch>
            <a:fillRect/>
          </a:stretch>
        </p:blipFill>
        <p:spPr>
          <a:xfrm>
            <a:off x="11247048" y="79901"/>
            <a:ext cx="650726" cy="652955"/>
          </a:xfrm>
          <a:prstGeom prst="rect">
            <a:avLst/>
          </a:prstGeom>
        </p:spPr>
      </p:pic>
    </p:spTree>
    <p:extLst>
      <p:ext uri="{BB962C8B-B14F-4D97-AF65-F5344CB8AC3E}">
        <p14:creationId xmlns:p14="http://schemas.microsoft.com/office/powerpoint/2010/main" val="3776478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114933" y="43766"/>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4</a:t>
            </a:r>
          </a:p>
        </p:txBody>
      </p:sp>
      <p:sp>
        <p:nvSpPr>
          <p:cNvPr id="16" name="CuadroTexto 15">
            <a:extLst>
              <a:ext uri="{FF2B5EF4-FFF2-40B4-BE49-F238E27FC236}">
                <a16:creationId xmlns:a16="http://schemas.microsoft.com/office/drawing/2014/main" id="{119ABC7A-B2CB-4B36-9F4F-0BE4918924FF}"/>
              </a:ext>
            </a:extLst>
          </p:cNvPr>
          <p:cNvSpPr txBox="1"/>
          <p:nvPr/>
        </p:nvSpPr>
        <p:spPr>
          <a:xfrm>
            <a:off x="5005672" y="320681"/>
            <a:ext cx="2180654" cy="458074"/>
          </a:xfrm>
          <a:prstGeom prst="rect">
            <a:avLst/>
          </a:prstGeom>
          <a:noFill/>
        </p:spPr>
        <p:txBody>
          <a:bodyPr wrap="square">
            <a:spAutoFit/>
          </a:bodyPr>
          <a:lstStyle/>
          <a:p>
            <a:pPr algn="just">
              <a:lnSpc>
                <a:spcPct val="150000"/>
              </a:lnSpc>
              <a:spcAft>
                <a:spcPts val="800"/>
              </a:spcAft>
            </a:pPr>
            <a:r>
              <a:rPr lang="es-PE"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OBJETIVOS</a:t>
            </a:r>
            <a:endParaRPr lang="es-P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66BC21CE-BCEF-46CB-A0FF-E17F951988FE}"/>
              </a:ext>
            </a:extLst>
          </p:cNvPr>
          <p:cNvSpPr txBox="1"/>
          <p:nvPr/>
        </p:nvSpPr>
        <p:spPr>
          <a:xfrm>
            <a:off x="766595" y="868552"/>
            <a:ext cx="6096000" cy="458074"/>
          </a:xfrm>
          <a:prstGeom prst="rect">
            <a:avLst/>
          </a:prstGeom>
          <a:noFill/>
        </p:spPr>
        <p:txBody>
          <a:bodyPr wrap="square">
            <a:spAutoFit/>
          </a:bodyPr>
          <a:lstStyle/>
          <a:p>
            <a:pPr algn="just">
              <a:lnSpc>
                <a:spcPct val="150000"/>
              </a:lnSpc>
              <a:spcAft>
                <a:spcPts val="800"/>
              </a:spcAft>
            </a:pPr>
            <a:r>
              <a:rPr lang="es-PE"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3.1. Objetivo general</a:t>
            </a:r>
            <a:endParaRPr lang="es-P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CuadroTexto 18">
            <a:extLst>
              <a:ext uri="{FF2B5EF4-FFF2-40B4-BE49-F238E27FC236}">
                <a16:creationId xmlns:a16="http://schemas.microsoft.com/office/drawing/2014/main" id="{F6530B77-FE12-4AC3-B02D-B814B05A869F}"/>
              </a:ext>
            </a:extLst>
          </p:cNvPr>
          <p:cNvSpPr txBox="1"/>
          <p:nvPr/>
        </p:nvSpPr>
        <p:spPr>
          <a:xfrm>
            <a:off x="766595" y="2733967"/>
            <a:ext cx="6096000" cy="458074"/>
          </a:xfrm>
          <a:prstGeom prst="rect">
            <a:avLst/>
          </a:prstGeom>
          <a:noFill/>
        </p:spPr>
        <p:txBody>
          <a:bodyPr wrap="square">
            <a:spAutoFit/>
          </a:bodyPr>
          <a:lstStyle/>
          <a:p>
            <a:pPr algn="just">
              <a:lnSpc>
                <a:spcPct val="150000"/>
              </a:lnSpc>
              <a:spcAft>
                <a:spcPts val="800"/>
              </a:spcAft>
            </a:pPr>
            <a:r>
              <a:rPr lang="es-PE"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 Objetivos específicos</a:t>
            </a:r>
            <a:endParaRPr lang="es-P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3577498F-DFB0-415B-BF4A-365ABD5F991B}"/>
              </a:ext>
            </a:extLst>
          </p:cNvPr>
          <p:cNvSpPr txBox="1"/>
          <p:nvPr/>
        </p:nvSpPr>
        <p:spPr>
          <a:xfrm>
            <a:off x="959103" y="1371491"/>
            <a:ext cx="10443658" cy="1289071"/>
          </a:xfrm>
          <a:prstGeom prst="rect">
            <a:avLst/>
          </a:prstGeom>
          <a:noFill/>
        </p:spPr>
        <p:txBody>
          <a:bodyPr wrap="square">
            <a:spAutoFit/>
          </a:bodyPr>
          <a:lstStyle/>
          <a:p>
            <a:pPr algn="just">
              <a:lnSpc>
                <a:spcPct val="150000"/>
              </a:lnSpc>
              <a:spcAft>
                <a:spcPts val="800"/>
              </a:spcAft>
            </a:pP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Desarrollar un sistema automatizado para la caracterización morfológica de </a:t>
            </a:r>
            <a:r>
              <a:rPr lang="es-PE"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mediante la aplicación de modelos de inteligencia artificial y técnicas de análisis de imágenes digitales, con el fin de contribuir a su evaluación, conservación y mejoramiento genético.</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Imagen 12">
            <a:extLst>
              <a:ext uri="{FF2B5EF4-FFF2-40B4-BE49-F238E27FC236}">
                <a16:creationId xmlns:a16="http://schemas.microsoft.com/office/drawing/2014/main" id="{A4209D80-4191-41FD-851B-A09A91F3A288}"/>
              </a:ext>
            </a:extLst>
          </p:cNvPr>
          <p:cNvPicPr>
            <a:picLocks noChangeAspect="1"/>
          </p:cNvPicPr>
          <p:nvPr/>
        </p:nvPicPr>
        <p:blipFill>
          <a:blip r:embed="rId4"/>
          <a:stretch>
            <a:fillRect/>
          </a:stretch>
        </p:blipFill>
        <p:spPr>
          <a:xfrm>
            <a:off x="11247048" y="79901"/>
            <a:ext cx="650726" cy="652955"/>
          </a:xfrm>
          <a:prstGeom prst="rect">
            <a:avLst/>
          </a:prstGeom>
        </p:spPr>
      </p:pic>
      <p:sp>
        <p:nvSpPr>
          <p:cNvPr id="14" name="CuadroTexto 13">
            <a:extLst>
              <a:ext uri="{FF2B5EF4-FFF2-40B4-BE49-F238E27FC236}">
                <a16:creationId xmlns:a16="http://schemas.microsoft.com/office/drawing/2014/main" id="{CA3ED5A9-2828-4D48-B88D-B64D75C1F5FA}"/>
              </a:ext>
            </a:extLst>
          </p:cNvPr>
          <p:cNvSpPr txBox="1"/>
          <p:nvPr/>
        </p:nvSpPr>
        <p:spPr>
          <a:xfrm>
            <a:off x="959103" y="3232926"/>
            <a:ext cx="10219765" cy="2535566"/>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Desarrollar un modelo de inteligencia artificial que permita clasificar los tubérculos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según variables morfológicas visibles como forma, color de piel y color de pulpa.</a:t>
            </a:r>
          </a:p>
          <a:p>
            <a:pPr marL="342900" indent="-342900" algn="just">
              <a:lnSpc>
                <a:spcPct val="150000"/>
              </a:lnSpc>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Implementar un modelo de segmentación de imágenes para identificar y medir de manera automática características como tamaño, color del tubérculo, pulpa y número de ojos.</a:t>
            </a:r>
          </a:p>
          <a:p>
            <a:pPr marL="342900" lvl="0" indent="-342900" algn="just">
              <a:lnSpc>
                <a:spcPct val="150000"/>
              </a:lnSpc>
              <a:spcAft>
                <a:spcPts val="600"/>
              </a:spcAft>
              <a:buFont typeface="Wingdings" panose="05000000000000000000" pitchFamily="2" charset="2"/>
              <a:buChar char=""/>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Evaluar la precisión y el funcionamiento del sistema automático comparando sus resultados con mediciones manuales, utilizando métricas como precisión,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mAP</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IoU</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 tiempo de inferencia por imagen.</a:t>
            </a:r>
          </a:p>
        </p:txBody>
      </p:sp>
    </p:spTree>
    <p:extLst>
      <p:ext uri="{BB962C8B-B14F-4D97-AF65-F5344CB8AC3E}">
        <p14:creationId xmlns:p14="http://schemas.microsoft.com/office/powerpoint/2010/main" val="92701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7003" y="704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5</a:t>
            </a:r>
          </a:p>
        </p:txBody>
      </p:sp>
      <p:sp>
        <p:nvSpPr>
          <p:cNvPr id="13" name="CuadroTexto 12">
            <a:extLst>
              <a:ext uri="{FF2B5EF4-FFF2-40B4-BE49-F238E27FC236}">
                <a16:creationId xmlns:a16="http://schemas.microsoft.com/office/drawing/2014/main" id="{BFBC3E87-FC9B-4CBA-BDEF-B5B24660CE82}"/>
              </a:ext>
            </a:extLst>
          </p:cNvPr>
          <p:cNvSpPr txBox="1"/>
          <p:nvPr/>
        </p:nvSpPr>
        <p:spPr>
          <a:xfrm>
            <a:off x="97003" y="770104"/>
            <a:ext cx="6096000" cy="2031325"/>
          </a:xfrm>
          <a:prstGeom prst="rect">
            <a:avLst/>
          </a:prstGeom>
          <a:noFill/>
        </p:spPr>
        <p:txBody>
          <a:bodyPr wrap="square">
            <a:spAutoFit/>
          </a:bodyPr>
          <a:lstStyle/>
          <a:p>
            <a:pPr algn="just"/>
            <a:r>
              <a:rPr lang="es-MX" b="1" dirty="0" err="1">
                <a:latin typeface="Times New Roman" panose="02020603050405020304" pitchFamily="18" charset="0"/>
                <a:cs typeface="Times New Roman" panose="02020603050405020304" pitchFamily="18" charset="0"/>
              </a:rPr>
              <a:t>Mirano</a:t>
            </a:r>
            <a:r>
              <a:rPr lang="es-MX" b="1" dirty="0">
                <a:latin typeface="Times New Roman" panose="02020603050405020304" pitchFamily="18" charset="0"/>
                <a:cs typeface="Times New Roman" panose="02020603050405020304" pitchFamily="18" charset="0"/>
              </a:rPr>
              <a:t> Papel, (2018),</a:t>
            </a:r>
            <a:r>
              <a:rPr lang="es-MX" dirty="0">
                <a:latin typeface="Times New Roman" panose="02020603050405020304" pitchFamily="18" charset="0"/>
                <a:cs typeface="Times New Roman" panose="02020603050405020304" pitchFamily="18" charset="0"/>
              </a:rPr>
              <a:t> caracterizaron morfológicamente 113 accesiones de </a:t>
            </a:r>
            <a:r>
              <a:rPr lang="es-MX" dirty="0" err="1">
                <a:latin typeface="Times New Roman" panose="02020603050405020304" pitchFamily="18" charset="0"/>
                <a:cs typeface="Times New Roman" panose="02020603050405020304" pitchFamily="18" charset="0"/>
              </a:rPr>
              <a:t>mashua</a:t>
            </a:r>
            <a:r>
              <a:rPr lang="es-MX" dirty="0">
                <a:latin typeface="Times New Roman" panose="02020603050405020304" pitchFamily="18" charset="0"/>
                <a:cs typeface="Times New Roman" panose="02020603050405020304" pitchFamily="18" charset="0"/>
              </a:rPr>
              <a:t> en el Centro Agronómico </a:t>
            </a:r>
            <a:r>
              <a:rPr lang="es-MX" dirty="0" err="1">
                <a:latin typeface="Times New Roman" panose="02020603050405020304" pitchFamily="18" charset="0"/>
                <a:cs typeface="Times New Roman" panose="02020603050405020304" pitchFamily="18" charset="0"/>
              </a:rPr>
              <a:t>K’ayra</a:t>
            </a:r>
            <a:r>
              <a:rPr lang="es-MX" dirty="0">
                <a:latin typeface="Times New Roman" panose="02020603050405020304" pitchFamily="18" charset="0"/>
                <a:cs typeface="Times New Roman" panose="02020603050405020304" pitchFamily="18" charset="0"/>
              </a:rPr>
              <a:t> (Cusco) usando descriptores del IPGRI, destacando gran diversidad en tipo de planta, enroscamiento, cobertura del suelo y color del tallo. El estudio resalta la necesidad de continuar con investigaciones para seleccionar variedades adaptadas a distintas zonas y condiciones agroclimáticas.</a:t>
            </a:r>
          </a:p>
        </p:txBody>
      </p:sp>
      <p:sp>
        <p:nvSpPr>
          <p:cNvPr id="14" name="CuadroTexto 13">
            <a:extLst>
              <a:ext uri="{FF2B5EF4-FFF2-40B4-BE49-F238E27FC236}">
                <a16:creationId xmlns:a16="http://schemas.microsoft.com/office/drawing/2014/main" id="{4C629755-E7C5-4603-9241-F31684374976}"/>
              </a:ext>
            </a:extLst>
          </p:cNvPr>
          <p:cNvSpPr txBox="1"/>
          <p:nvPr/>
        </p:nvSpPr>
        <p:spPr>
          <a:xfrm>
            <a:off x="4946275" y="206329"/>
            <a:ext cx="2299448"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4. ANTECEDENTES</a:t>
            </a:r>
            <a:endParaRPr lang="es-PE" dirty="0"/>
          </a:p>
        </p:txBody>
      </p:sp>
      <p:pic>
        <p:nvPicPr>
          <p:cNvPr id="7" name="Imagen 6">
            <a:extLst>
              <a:ext uri="{FF2B5EF4-FFF2-40B4-BE49-F238E27FC236}">
                <a16:creationId xmlns:a16="http://schemas.microsoft.com/office/drawing/2014/main" id="{8FAC8CC8-A5F5-438C-A601-E5D372A1A9A9}"/>
              </a:ext>
            </a:extLst>
          </p:cNvPr>
          <p:cNvPicPr>
            <a:picLocks noChangeAspect="1"/>
          </p:cNvPicPr>
          <p:nvPr/>
        </p:nvPicPr>
        <p:blipFill>
          <a:blip r:embed="rId4"/>
          <a:stretch>
            <a:fillRect/>
          </a:stretch>
        </p:blipFill>
        <p:spPr>
          <a:xfrm>
            <a:off x="149555" y="2896589"/>
            <a:ext cx="6043448" cy="3290589"/>
          </a:xfrm>
          <a:prstGeom prst="rect">
            <a:avLst/>
          </a:prstGeom>
        </p:spPr>
      </p:pic>
      <p:cxnSp>
        <p:nvCxnSpPr>
          <p:cNvPr id="16" name="Conector recto 15">
            <a:extLst>
              <a:ext uri="{FF2B5EF4-FFF2-40B4-BE49-F238E27FC236}">
                <a16:creationId xmlns:a16="http://schemas.microsoft.com/office/drawing/2014/main" id="{8A788268-1A30-4A90-A431-BADE3EB1A3D4}"/>
              </a:ext>
            </a:extLst>
          </p:cNvPr>
          <p:cNvCxnSpPr/>
          <p:nvPr/>
        </p:nvCxnSpPr>
        <p:spPr>
          <a:xfrm>
            <a:off x="6300580" y="711587"/>
            <a:ext cx="0" cy="55382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0F092213-AE04-4401-BBC2-411B2EB6CD20}"/>
              </a:ext>
            </a:extLst>
          </p:cNvPr>
          <p:cNvSpPr txBox="1"/>
          <p:nvPr/>
        </p:nvSpPr>
        <p:spPr>
          <a:xfrm>
            <a:off x="6623311" y="4115088"/>
            <a:ext cx="5339748" cy="1754326"/>
          </a:xfrm>
          <a:prstGeom prst="rect">
            <a:avLst/>
          </a:prstGeom>
          <a:noFill/>
        </p:spPr>
        <p:txBody>
          <a:bodyPr wrap="square">
            <a:spAutoFit/>
          </a:bodyPr>
          <a:lstStyle/>
          <a:p>
            <a:pPr algn="just"/>
            <a:r>
              <a:rPr lang="es-MX" b="1" dirty="0">
                <a:latin typeface="Times New Roman" panose="02020603050405020304" pitchFamily="18" charset="0"/>
                <a:cs typeface="Times New Roman" panose="02020603050405020304" pitchFamily="18" charset="0"/>
              </a:rPr>
              <a:t>Sharma et al. (2025), </a:t>
            </a:r>
            <a:r>
              <a:rPr lang="es-MX" dirty="0">
                <a:latin typeface="Times New Roman" panose="02020603050405020304" pitchFamily="18" charset="0"/>
                <a:cs typeface="Times New Roman" panose="02020603050405020304" pitchFamily="18" charset="0"/>
              </a:rPr>
              <a:t>desarrollaron un sistema de estimación de masa y clasificación de tubérculos de papa usando imágenes 2D desde ángulos superior y lateral. Utilizaron modelos de regresión y clasificación aleatoria, alcanzando alta precisión (R² = 0,99 para masa y 100 % en clasificación de tamaño).</a:t>
            </a:r>
            <a:endParaRPr lang="es-PE" dirty="0">
              <a:latin typeface="Times New Roman" panose="02020603050405020304" pitchFamily="18" charset="0"/>
              <a:cs typeface="Times New Roman" panose="02020603050405020304" pitchFamily="18" charset="0"/>
            </a:endParaRPr>
          </a:p>
        </p:txBody>
      </p:sp>
      <p:pic>
        <p:nvPicPr>
          <p:cNvPr id="20" name="Imagen 19">
            <a:extLst>
              <a:ext uri="{FF2B5EF4-FFF2-40B4-BE49-F238E27FC236}">
                <a16:creationId xmlns:a16="http://schemas.microsoft.com/office/drawing/2014/main" id="{9F65FEDA-0998-4CF0-8BC4-D4B77313E3D2}"/>
              </a:ext>
            </a:extLst>
          </p:cNvPr>
          <p:cNvPicPr>
            <a:picLocks noChangeAspect="1"/>
          </p:cNvPicPr>
          <p:nvPr/>
        </p:nvPicPr>
        <p:blipFill>
          <a:blip r:embed="rId5"/>
          <a:stretch>
            <a:fillRect/>
          </a:stretch>
        </p:blipFill>
        <p:spPr>
          <a:xfrm>
            <a:off x="6478639" y="1141838"/>
            <a:ext cx="5484420" cy="2571329"/>
          </a:xfrm>
          <a:prstGeom prst="rect">
            <a:avLst/>
          </a:prstGeom>
        </p:spPr>
      </p:pic>
      <p:pic>
        <p:nvPicPr>
          <p:cNvPr id="15" name="Imagen 14">
            <a:extLst>
              <a:ext uri="{FF2B5EF4-FFF2-40B4-BE49-F238E27FC236}">
                <a16:creationId xmlns:a16="http://schemas.microsoft.com/office/drawing/2014/main" id="{4A372023-47DA-4D69-A2DE-2197047EC13E}"/>
              </a:ext>
            </a:extLst>
          </p:cNvPr>
          <p:cNvPicPr>
            <a:picLocks noChangeAspect="1"/>
          </p:cNvPicPr>
          <p:nvPr/>
        </p:nvPicPr>
        <p:blipFill>
          <a:blip r:embed="rId6"/>
          <a:stretch>
            <a:fillRect/>
          </a:stretch>
        </p:blipFill>
        <p:spPr>
          <a:xfrm>
            <a:off x="11247048" y="79901"/>
            <a:ext cx="650726" cy="652955"/>
          </a:xfrm>
          <a:prstGeom prst="rect">
            <a:avLst/>
          </a:prstGeom>
        </p:spPr>
      </p:pic>
    </p:spTree>
    <p:extLst>
      <p:ext uri="{BB962C8B-B14F-4D97-AF65-F5344CB8AC3E}">
        <p14:creationId xmlns:p14="http://schemas.microsoft.com/office/powerpoint/2010/main" val="79639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54711"/>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94226" y="2942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6</a:t>
            </a:r>
          </a:p>
        </p:txBody>
      </p:sp>
      <p:sp>
        <p:nvSpPr>
          <p:cNvPr id="16" name="CuadroTexto 15">
            <a:extLst>
              <a:ext uri="{FF2B5EF4-FFF2-40B4-BE49-F238E27FC236}">
                <a16:creationId xmlns:a16="http://schemas.microsoft.com/office/drawing/2014/main" id="{733A0B44-FDB3-4912-A157-34959C6C7B59}"/>
              </a:ext>
            </a:extLst>
          </p:cNvPr>
          <p:cNvSpPr txBox="1"/>
          <p:nvPr/>
        </p:nvSpPr>
        <p:spPr>
          <a:xfrm>
            <a:off x="1066799" y="1796852"/>
            <a:ext cx="10058400" cy="2951064"/>
          </a:xfrm>
          <a:prstGeom prst="rect">
            <a:avLst/>
          </a:prstGeom>
          <a:noFill/>
        </p:spPr>
        <p:txBody>
          <a:bodyPr wrap="square">
            <a:spAutoFit/>
          </a:bodyPr>
          <a:lstStyle/>
          <a:p>
            <a:pPr algn="just">
              <a:lnSpc>
                <a:spcPct val="150000"/>
              </a:lnSpc>
              <a:spcAft>
                <a:spcPts val="600"/>
              </a:spcAft>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Una caracterización morfológica más precisa, rápida y repetible que las técnicas tradicionales será posible con el desarrollo de un sistema automatizado basado en inteligencia artificial que utilice modelos de detección como YOLO entrenados con imágenes digitales de tubérculos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8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Este método ayudará a clasificar eficazmente las accesiones, identificar rasgos de interés agronómico y apoyar iniciativas de conservación y mejora genética, al facilitar la identificación de variaciones fenotípicas complejas y revelar patrones morfológicos sutiles que con frecuencia se pasan por alto en los análisis tradicionales.</a:t>
            </a:r>
          </a:p>
        </p:txBody>
      </p:sp>
      <p:sp>
        <p:nvSpPr>
          <p:cNvPr id="19" name="CuadroTexto 18">
            <a:extLst>
              <a:ext uri="{FF2B5EF4-FFF2-40B4-BE49-F238E27FC236}">
                <a16:creationId xmlns:a16="http://schemas.microsoft.com/office/drawing/2014/main" id="{FC17EFB5-529D-4EB2-907D-B5F355DF5B9C}"/>
              </a:ext>
            </a:extLst>
          </p:cNvPr>
          <p:cNvSpPr txBox="1"/>
          <p:nvPr/>
        </p:nvSpPr>
        <p:spPr>
          <a:xfrm>
            <a:off x="5091952" y="1058152"/>
            <a:ext cx="1721224"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HIPÓTESIS </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67FA1BA4-9438-4F0A-B18F-EE0E679C4A3C}"/>
              </a:ext>
            </a:extLst>
          </p:cNvPr>
          <p:cNvPicPr>
            <a:picLocks noChangeAspect="1"/>
          </p:cNvPicPr>
          <p:nvPr/>
        </p:nvPicPr>
        <p:blipFill>
          <a:blip r:embed="rId4"/>
          <a:stretch>
            <a:fillRect/>
          </a:stretch>
        </p:blipFill>
        <p:spPr>
          <a:xfrm>
            <a:off x="11247048" y="79901"/>
            <a:ext cx="650726" cy="652955"/>
          </a:xfrm>
          <a:prstGeom prst="rect">
            <a:avLst/>
          </a:prstGeom>
        </p:spPr>
      </p:pic>
    </p:spTree>
    <p:extLst>
      <p:ext uri="{BB962C8B-B14F-4D97-AF65-F5344CB8AC3E}">
        <p14:creationId xmlns:p14="http://schemas.microsoft.com/office/powerpoint/2010/main" val="3547801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49403" y="131455"/>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7</a:t>
            </a:r>
          </a:p>
        </p:txBody>
      </p:sp>
      <p:sp>
        <p:nvSpPr>
          <p:cNvPr id="13" name="CuadroTexto 12">
            <a:extLst>
              <a:ext uri="{FF2B5EF4-FFF2-40B4-BE49-F238E27FC236}">
                <a16:creationId xmlns:a16="http://schemas.microsoft.com/office/drawing/2014/main" id="{475D2344-F4D9-4A15-BF6C-40EF2B58EC20}"/>
              </a:ext>
            </a:extLst>
          </p:cNvPr>
          <p:cNvSpPr txBox="1"/>
          <p:nvPr/>
        </p:nvSpPr>
        <p:spPr>
          <a:xfrm>
            <a:off x="4675093" y="156733"/>
            <a:ext cx="2245660"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METODOLOGÍA</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CuadroTexto 13">
            <a:extLst>
              <a:ext uri="{FF2B5EF4-FFF2-40B4-BE49-F238E27FC236}">
                <a16:creationId xmlns:a16="http://schemas.microsoft.com/office/drawing/2014/main" id="{79C613C6-F968-43B1-8AF6-DAFDD9960EE2}"/>
              </a:ext>
            </a:extLst>
          </p:cNvPr>
          <p:cNvSpPr txBox="1"/>
          <p:nvPr/>
        </p:nvSpPr>
        <p:spPr>
          <a:xfrm>
            <a:off x="428697" y="807901"/>
            <a:ext cx="4119282" cy="369332"/>
          </a:xfrm>
          <a:prstGeom prst="rect">
            <a:avLst/>
          </a:prstGeom>
          <a:noFill/>
        </p:spPr>
        <p:txBody>
          <a:bodyPr wrap="square">
            <a:spAutoFit/>
          </a:bodyPr>
          <a:lstStyle/>
          <a:p>
            <a:pPr algn="just"/>
            <a:r>
              <a:rPr lang="es-MX" b="1" dirty="0">
                <a:latin typeface="Times New Roman" panose="02020603050405020304" pitchFamily="18" charset="0"/>
                <a:cs typeface="Times New Roman" panose="02020603050405020304" pitchFamily="18" charset="0"/>
              </a:rPr>
              <a:t>6.1. Entorno de trabajo</a:t>
            </a:r>
            <a:endParaRPr lang="es-MX" dirty="0">
              <a:latin typeface="Times New Roman" panose="02020603050405020304" pitchFamily="18" charset="0"/>
              <a:cs typeface="Times New Roman" panose="02020603050405020304" pitchFamily="18" charset="0"/>
            </a:endParaRPr>
          </a:p>
        </p:txBody>
      </p:sp>
      <p:sp>
        <p:nvSpPr>
          <p:cNvPr id="16" name="CuadroTexto 15">
            <a:extLst>
              <a:ext uri="{FF2B5EF4-FFF2-40B4-BE49-F238E27FC236}">
                <a16:creationId xmlns:a16="http://schemas.microsoft.com/office/drawing/2014/main" id="{73155039-C0A9-4543-ACFE-99609217E6CC}"/>
              </a:ext>
            </a:extLst>
          </p:cNvPr>
          <p:cNvSpPr txBox="1"/>
          <p:nvPr/>
        </p:nvSpPr>
        <p:spPr>
          <a:xfrm>
            <a:off x="5620270" y="683218"/>
            <a:ext cx="1585144" cy="463397"/>
          </a:xfrm>
          <a:prstGeom prst="rect">
            <a:avLst/>
          </a:prstGeom>
          <a:noFill/>
        </p:spPr>
        <p:txBody>
          <a:bodyPr wrap="square">
            <a:spAutoFit/>
          </a:bodyPr>
          <a:lstStyle/>
          <a:p>
            <a:pPr algn="just">
              <a:lnSpc>
                <a:spcPct val="150000"/>
              </a:lnSpc>
              <a:spcAft>
                <a:spcPts val="600"/>
              </a:spcAft>
            </a:pPr>
            <a:r>
              <a:rPr lang="es-PE"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6.2. M</a:t>
            </a: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uestra</a:t>
            </a:r>
            <a:endParaRPr lang="es-PE" dirty="0"/>
          </a:p>
        </p:txBody>
      </p:sp>
      <p:sp>
        <p:nvSpPr>
          <p:cNvPr id="20" name="CuadroTexto 19">
            <a:extLst>
              <a:ext uri="{FF2B5EF4-FFF2-40B4-BE49-F238E27FC236}">
                <a16:creationId xmlns:a16="http://schemas.microsoft.com/office/drawing/2014/main" id="{46702A65-2FEB-4BD3-A50E-063CE2BBB36A}"/>
              </a:ext>
            </a:extLst>
          </p:cNvPr>
          <p:cNvSpPr txBox="1"/>
          <p:nvPr/>
        </p:nvSpPr>
        <p:spPr>
          <a:xfrm>
            <a:off x="433316" y="2635487"/>
            <a:ext cx="3052483"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6.3. Variables de estudio</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CuadroTexto 21">
            <a:extLst>
              <a:ext uri="{FF2B5EF4-FFF2-40B4-BE49-F238E27FC236}">
                <a16:creationId xmlns:a16="http://schemas.microsoft.com/office/drawing/2014/main" id="{9E82C3F2-745F-4A3E-B630-00694D099377}"/>
              </a:ext>
            </a:extLst>
          </p:cNvPr>
          <p:cNvSpPr txBox="1"/>
          <p:nvPr/>
        </p:nvSpPr>
        <p:spPr>
          <a:xfrm>
            <a:off x="690281" y="4067965"/>
            <a:ext cx="4929989" cy="1554272"/>
          </a:xfrm>
          <a:prstGeom prst="rect">
            <a:avLst/>
          </a:prstGeom>
          <a:noFill/>
        </p:spPr>
        <p:txBody>
          <a:bodyPr wrap="square">
            <a:spAutoFit/>
          </a:bodyPr>
          <a:lstStyle/>
          <a:p>
            <a:pPr marL="285750" indent="-285750" algn="just">
              <a:spcAft>
                <a:spcPts val="600"/>
              </a:spcAft>
              <a:buFont typeface="Wingdings" panose="05000000000000000000" pitchFamily="2" charset="2"/>
              <a:buChar char="Ø"/>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Variables de desempeño de los modelos de inteligencia artificial</a:t>
            </a:r>
          </a:p>
          <a:p>
            <a:pPr algn="just">
              <a:spcAft>
                <a:spcPts val="600"/>
              </a:spcAft>
            </a:pPr>
            <a:r>
              <a:rPr lang="es-PE" b="1" dirty="0">
                <a:latin typeface="Times New Roman" panose="02020603050405020304" pitchFamily="18" charset="0"/>
                <a:cs typeface="Times New Roman" panose="02020603050405020304" pitchFamily="18" charset="0"/>
              </a:rPr>
              <a:t>Precisión de detección (%), Precisión media promedio (</a:t>
            </a:r>
            <a:r>
              <a:rPr lang="es-PE" b="1" dirty="0" err="1">
                <a:latin typeface="Times New Roman" panose="02020603050405020304" pitchFamily="18" charset="0"/>
                <a:cs typeface="Times New Roman" panose="02020603050405020304" pitchFamily="18" charset="0"/>
              </a:rPr>
              <a:t>mAP</a:t>
            </a:r>
            <a:r>
              <a:rPr lang="es-PE" b="1" dirty="0">
                <a:latin typeface="Times New Roman" panose="02020603050405020304" pitchFamily="18" charset="0"/>
                <a:cs typeface="Times New Roman" panose="02020603050405020304" pitchFamily="18" charset="0"/>
              </a:rPr>
              <a:t>), </a:t>
            </a:r>
            <a:r>
              <a:rPr lang="es-PE" sz="1800" b="1" dirty="0">
                <a:effectLst/>
                <a:latin typeface="Times New Roman" panose="02020603050405020304" pitchFamily="18" charset="0"/>
                <a:ea typeface="Times New Roman" panose="02020603050405020304" pitchFamily="18" charset="0"/>
              </a:rPr>
              <a:t>Número de parámetros,</a:t>
            </a:r>
            <a:r>
              <a:rPr lang="es-PE" b="1" dirty="0">
                <a:latin typeface="Times New Roman" panose="02020603050405020304" pitchFamily="18" charset="0"/>
                <a:cs typeface="Times New Roman" panose="02020603050405020304" pitchFamily="18" charset="0"/>
              </a:rPr>
              <a:t> </a:t>
            </a:r>
            <a:r>
              <a:rPr lang="es-PE" sz="1800" b="1" dirty="0">
                <a:solidFill>
                  <a:srgbClr val="000000"/>
                </a:solidFill>
                <a:effectLst/>
                <a:latin typeface="Times New Roman" panose="02020603050405020304" pitchFamily="18" charset="0"/>
                <a:ea typeface="Calibri" panose="020F0502020204030204" pitchFamily="34" charset="0"/>
              </a:rPr>
              <a:t>Tiempo de inferencia por imagen (ms).</a:t>
            </a:r>
            <a:endParaRPr lang="es-PE"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55E52E42-0D00-4325-925B-3D466072DB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81016" y="2346944"/>
            <a:ext cx="5982287" cy="3371182"/>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5CF86BF2-90E7-4341-AC04-CEABAE953646}"/>
              </a:ext>
            </a:extLst>
          </p:cNvPr>
          <p:cNvSpPr txBox="1"/>
          <p:nvPr/>
        </p:nvSpPr>
        <p:spPr>
          <a:xfrm>
            <a:off x="690282" y="3233570"/>
            <a:ext cx="5049233" cy="646331"/>
          </a:xfrm>
          <a:prstGeom prst="rect">
            <a:avLst/>
          </a:prstGeom>
          <a:noFill/>
        </p:spPr>
        <p:txBody>
          <a:bodyPr wrap="square">
            <a:spAutoFit/>
          </a:bodyPr>
          <a:lstStyle/>
          <a:p>
            <a:pPr marL="285750" indent="-285750" algn="just">
              <a:spcAft>
                <a:spcPts val="600"/>
              </a:spcAft>
              <a:buFont typeface="Wingdings" panose="05000000000000000000" pitchFamily="2" charset="2"/>
              <a:buChar char="Ø"/>
            </a:pP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Variables morfológicas (según descriptores específicos de </a:t>
            </a:r>
            <a:r>
              <a:rPr lang="es-PE"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p:txBody>
      </p:sp>
      <p:pic>
        <p:nvPicPr>
          <p:cNvPr id="17" name="Imagen 16">
            <a:extLst>
              <a:ext uri="{FF2B5EF4-FFF2-40B4-BE49-F238E27FC236}">
                <a16:creationId xmlns:a16="http://schemas.microsoft.com/office/drawing/2014/main" id="{CA28B357-F6AA-4022-8D03-90D937E1FC39}"/>
              </a:ext>
            </a:extLst>
          </p:cNvPr>
          <p:cNvPicPr>
            <a:picLocks noChangeAspect="1"/>
          </p:cNvPicPr>
          <p:nvPr/>
        </p:nvPicPr>
        <p:blipFill>
          <a:blip r:embed="rId5"/>
          <a:stretch>
            <a:fillRect/>
          </a:stretch>
        </p:blipFill>
        <p:spPr>
          <a:xfrm>
            <a:off x="11247048" y="79901"/>
            <a:ext cx="650726" cy="652955"/>
          </a:xfrm>
          <a:prstGeom prst="rect">
            <a:avLst/>
          </a:prstGeom>
        </p:spPr>
      </p:pic>
      <p:sp>
        <p:nvSpPr>
          <p:cNvPr id="18" name="CuadroTexto 17">
            <a:extLst>
              <a:ext uri="{FF2B5EF4-FFF2-40B4-BE49-F238E27FC236}">
                <a16:creationId xmlns:a16="http://schemas.microsoft.com/office/drawing/2014/main" id="{AF2E48A4-07CC-43C1-AA9C-0768C50AA234}"/>
              </a:ext>
            </a:extLst>
          </p:cNvPr>
          <p:cNvSpPr txBox="1"/>
          <p:nvPr/>
        </p:nvSpPr>
        <p:spPr>
          <a:xfrm>
            <a:off x="690282" y="1146615"/>
            <a:ext cx="4929988" cy="1200329"/>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El sistema se desarrollará en servidores de la UNTRM, utilizando equipos de alto rendimiento, servidores locales y servicios en la nube. La programación será en Python.</a:t>
            </a:r>
            <a:endParaRPr lang="es-PE" dirty="0">
              <a:latin typeface="Times New Roman" panose="02020603050405020304" pitchFamily="18" charset="0"/>
              <a:cs typeface="Times New Roman" panose="02020603050405020304" pitchFamily="18" charset="0"/>
            </a:endParaRPr>
          </a:p>
        </p:txBody>
      </p:sp>
      <p:sp>
        <p:nvSpPr>
          <p:cNvPr id="19" name="CuadroTexto 18">
            <a:extLst>
              <a:ext uri="{FF2B5EF4-FFF2-40B4-BE49-F238E27FC236}">
                <a16:creationId xmlns:a16="http://schemas.microsoft.com/office/drawing/2014/main" id="{A1404194-29FC-4352-9FC1-0CAC44DE4225}"/>
              </a:ext>
            </a:extLst>
          </p:cNvPr>
          <p:cNvSpPr txBox="1"/>
          <p:nvPr/>
        </p:nvSpPr>
        <p:spPr>
          <a:xfrm>
            <a:off x="5881856" y="1146615"/>
            <a:ext cx="5881448" cy="923330"/>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La unidad de análisis en esta investigación está constituida por un conjunto de 159 imágenes digitales de tubérculos de </a:t>
            </a:r>
            <a:r>
              <a:rPr lang="es-MX" dirty="0" err="1">
                <a:latin typeface="Times New Roman" panose="02020603050405020304" pitchFamily="18" charset="0"/>
                <a:cs typeface="Times New Roman" panose="02020603050405020304" pitchFamily="18" charset="0"/>
              </a:rPr>
              <a:t>mashua</a:t>
            </a:r>
            <a:endParaRPr lang="es-P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823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213544" y="55769"/>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8</a:t>
            </a:r>
          </a:p>
        </p:txBody>
      </p:sp>
      <p:sp>
        <p:nvSpPr>
          <p:cNvPr id="10" name="CuadroTexto 9">
            <a:extLst>
              <a:ext uri="{FF2B5EF4-FFF2-40B4-BE49-F238E27FC236}">
                <a16:creationId xmlns:a16="http://schemas.microsoft.com/office/drawing/2014/main" id="{E026B823-01DF-4964-BA32-D28BA91CD293}"/>
              </a:ext>
            </a:extLst>
          </p:cNvPr>
          <p:cNvSpPr txBox="1"/>
          <p:nvPr/>
        </p:nvSpPr>
        <p:spPr>
          <a:xfrm>
            <a:off x="4639581" y="144515"/>
            <a:ext cx="1649506"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6.4. Métodos</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9CEFB286-AB68-4D82-AD01-EC36EECD8F61}"/>
              </a:ext>
            </a:extLst>
          </p:cNvPr>
          <p:cNvSpPr txBox="1"/>
          <p:nvPr/>
        </p:nvSpPr>
        <p:spPr>
          <a:xfrm>
            <a:off x="560640" y="842798"/>
            <a:ext cx="4078941" cy="369332"/>
          </a:xfrm>
          <a:prstGeom prst="rect">
            <a:avLst/>
          </a:prstGeom>
          <a:noFill/>
        </p:spPr>
        <p:txBody>
          <a:bodyPr wrap="square">
            <a:spAutoFit/>
          </a:bodyPr>
          <a:lstStyle/>
          <a:p>
            <a:r>
              <a:rPr lang="es-PE" b="1" dirty="0">
                <a:solidFill>
                  <a:srgbClr val="000000"/>
                </a:solidFill>
                <a:latin typeface="Times New Roman" panose="02020603050405020304" pitchFamily="18" charset="0"/>
                <a:ea typeface="Calibri" panose="020F0502020204030204" pitchFamily="34" charset="0"/>
              </a:rPr>
              <a:t>6.4.1. A</a:t>
            </a:r>
            <a:r>
              <a:rPr lang="es-PE" sz="1800" b="1" dirty="0">
                <a:solidFill>
                  <a:srgbClr val="000000"/>
                </a:solidFill>
                <a:effectLst/>
                <a:latin typeface="Times New Roman" panose="02020603050405020304" pitchFamily="18" charset="0"/>
                <a:ea typeface="Calibri" panose="020F0502020204030204" pitchFamily="34" charset="0"/>
              </a:rPr>
              <a:t>notación de imágenes</a:t>
            </a:r>
            <a:endParaRPr lang="es-PE" dirty="0"/>
          </a:p>
        </p:txBody>
      </p:sp>
      <p:pic>
        <p:nvPicPr>
          <p:cNvPr id="7" name="Imagen 6">
            <a:extLst>
              <a:ext uri="{FF2B5EF4-FFF2-40B4-BE49-F238E27FC236}">
                <a16:creationId xmlns:a16="http://schemas.microsoft.com/office/drawing/2014/main" id="{DC85E0E3-19E8-4E93-89B2-2EFD1F57D559}"/>
              </a:ext>
            </a:extLst>
          </p:cNvPr>
          <p:cNvPicPr>
            <a:picLocks noChangeAspect="1"/>
          </p:cNvPicPr>
          <p:nvPr/>
        </p:nvPicPr>
        <p:blipFill rotWithShape="1">
          <a:blip r:embed="rId4"/>
          <a:srcRect r="33824"/>
          <a:stretch/>
        </p:blipFill>
        <p:spPr>
          <a:xfrm>
            <a:off x="560640" y="1379523"/>
            <a:ext cx="3651693" cy="894668"/>
          </a:xfrm>
          <a:prstGeom prst="rect">
            <a:avLst/>
          </a:prstGeom>
        </p:spPr>
      </p:pic>
      <p:cxnSp>
        <p:nvCxnSpPr>
          <p:cNvPr id="21" name="Conector recto 20">
            <a:extLst>
              <a:ext uri="{FF2B5EF4-FFF2-40B4-BE49-F238E27FC236}">
                <a16:creationId xmlns:a16="http://schemas.microsoft.com/office/drawing/2014/main" id="{DF9643BD-2DFA-4F5D-BCEC-50ED77328DBA}"/>
              </a:ext>
            </a:extLst>
          </p:cNvPr>
          <p:cNvCxnSpPr/>
          <p:nvPr/>
        </p:nvCxnSpPr>
        <p:spPr>
          <a:xfrm>
            <a:off x="4769223" y="851202"/>
            <a:ext cx="0" cy="51555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9D423FC2-7FFE-4ABD-82C0-C5CE62DA3CA6}"/>
              </a:ext>
            </a:extLst>
          </p:cNvPr>
          <p:cNvSpPr txBox="1"/>
          <p:nvPr/>
        </p:nvSpPr>
        <p:spPr>
          <a:xfrm>
            <a:off x="5244353" y="777872"/>
            <a:ext cx="6096000"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6.4.2. Entrenamiento de modelos de inteligencia artificial</a:t>
            </a:r>
            <a:endParaRPr lang="es-PE" dirty="0"/>
          </a:p>
        </p:txBody>
      </p:sp>
      <p:sp>
        <p:nvSpPr>
          <p:cNvPr id="26" name="CuadroTexto 25">
            <a:extLst>
              <a:ext uri="{FF2B5EF4-FFF2-40B4-BE49-F238E27FC236}">
                <a16:creationId xmlns:a16="http://schemas.microsoft.com/office/drawing/2014/main" id="{6639A435-2582-4731-952D-94CC3276369A}"/>
              </a:ext>
            </a:extLst>
          </p:cNvPr>
          <p:cNvSpPr txBox="1"/>
          <p:nvPr/>
        </p:nvSpPr>
        <p:spPr>
          <a:xfrm>
            <a:off x="235263" y="2549693"/>
            <a:ext cx="4426037" cy="369332"/>
          </a:xfrm>
          <a:prstGeom prst="rect">
            <a:avLst/>
          </a:prstGeom>
          <a:noFill/>
        </p:spPr>
        <p:txBody>
          <a:bodyPr wrap="square">
            <a:spAutoFit/>
          </a:bodyPr>
          <a:lstStyle/>
          <a:p>
            <a:r>
              <a:rPr lang="es-PE" sz="1800" b="1" dirty="0">
                <a:solidFill>
                  <a:srgbClr val="000000"/>
                </a:solidFill>
                <a:effectLst/>
                <a:latin typeface="Times New Roman" panose="02020603050405020304" pitchFamily="18" charset="0"/>
                <a:ea typeface="Calibri" panose="020F0502020204030204" pitchFamily="34" charset="0"/>
              </a:rPr>
              <a:t>6.4.3. Evaluación de desempeño del modelo</a:t>
            </a:r>
            <a:endParaRPr lang="es-PE" dirty="0"/>
          </a:p>
        </p:txBody>
      </p:sp>
      <p:sp>
        <p:nvSpPr>
          <p:cNvPr id="31" name="CuadroTexto 30">
            <a:extLst>
              <a:ext uri="{FF2B5EF4-FFF2-40B4-BE49-F238E27FC236}">
                <a16:creationId xmlns:a16="http://schemas.microsoft.com/office/drawing/2014/main" id="{21F81547-14C9-4F8D-B110-BCF2A7717C7C}"/>
              </a:ext>
            </a:extLst>
          </p:cNvPr>
          <p:cNvSpPr txBox="1"/>
          <p:nvPr/>
        </p:nvSpPr>
        <p:spPr>
          <a:xfrm>
            <a:off x="4877146" y="1178006"/>
            <a:ext cx="6682842" cy="923330"/>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Se entrenarán modelos YOLOv5 y YOLOv11 en </a:t>
            </a:r>
            <a:r>
              <a:rPr lang="es-PE" sz="1800" dirty="0" err="1">
                <a:solidFill>
                  <a:srgbClr val="000000"/>
                </a:solidFill>
                <a:effectLst/>
                <a:latin typeface="Times New Roman" panose="02020603050405020304" pitchFamily="18" charset="0"/>
                <a:ea typeface="Calibri" panose="020F0502020204030204" pitchFamily="34" charset="0"/>
              </a:rPr>
              <a:t>Ultralytics</a:t>
            </a:r>
            <a:r>
              <a:rPr lang="es-PE" sz="1800" dirty="0">
                <a:solidFill>
                  <a:srgbClr val="000000"/>
                </a:solidFill>
                <a:effectLst/>
                <a:latin typeface="Times New Roman" panose="02020603050405020304" pitchFamily="18" charset="0"/>
                <a:ea typeface="Calibri" panose="020F0502020204030204" pitchFamily="34" charset="0"/>
              </a:rPr>
              <a:t>,</a:t>
            </a:r>
            <a:r>
              <a:rPr lang="es-MX" dirty="0">
                <a:latin typeface="Times New Roman" panose="02020603050405020304" pitchFamily="18" charset="0"/>
                <a:cs typeface="Times New Roman" panose="02020603050405020304" pitchFamily="18" charset="0"/>
              </a:rPr>
              <a:t> utilizando 159 imágenes, divididas en entrenamiento (80 %), validación (20 %).</a:t>
            </a:r>
            <a:endParaRPr lang="es-PE" dirty="0">
              <a:latin typeface="Times New Roman" panose="02020603050405020304" pitchFamily="18" charset="0"/>
              <a:cs typeface="Times New Roman" panose="02020603050405020304" pitchFamily="18" charset="0"/>
            </a:endParaRPr>
          </a:p>
        </p:txBody>
      </p:sp>
      <p:sp>
        <p:nvSpPr>
          <p:cNvPr id="38" name="CuadroTexto 37">
            <a:extLst>
              <a:ext uri="{FF2B5EF4-FFF2-40B4-BE49-F238E27FC236}">
                <a16:creationId xmlns:a16="http://schemas.microsoft.com/office/drawing/2014/main" id="{20D7DACE-3FC9-4B37-B18E-29472CDC8589}"/>
              </a:ext>
            </a:extLst>
          </p:cNvPr>
          <p:cNvSpPr txBox="1"/>
          <p:nvPr/>
        </p:nvSpPr>
        <p:spPr>
          <a:xfrm>
            <a:off x="4877146" y="2151861"/>
            <a:ext cx="6682837" cy="923330"/>
          </a:xfrm>
          <a:prstGeom prst="rect">
            <a:avLst/>
          </a:prstGeom>
          <a:noFill/>
        </p:spPr>
        <p:txBody>
          <a:bodyPr wrap="square">
            <a:spAutoFit/>
          </a:bodyPr>
          <a:lstStyle/>
          <a:p>
            <a:pPr algn="just"/>
            <a:r>
              <a:rPr lang="es-MX" dirty="0">
                <a:latin typeface="Times New Roman" panose="02020603050405020304" pitchFamily="18" charset="0"/>
                <a:cs typeface="Times New Roman" panose="02020603050405020304" pitchFamily="18" charset="0"/>
              </a:rPr>
              <a:t>Se aplicarán aumentos de datos como rotación, recorte y ajustes de brillo/contraste para mejorar la capacidad del modelo frente a variaciones morfológicas y de fondo.</a:t>
            </a:r>
            <a:endParaRPr lang="es-PE" dirty="0"/>
          </a:p>
        </p:txBody>
      </p:sp>
      <p:pic>
        <p:nvPicPr>
          <p:cNvPr id="19" name="Imagen 18">
            <a:extLst>
              <a:ext uri="{FF2B5EF4-FFF2-40B4-BE49-F238E27FC236}">
                <a16:creationId xmlns:a16="http://schemas.microsoft.com/office/drawing/2014/main" id="{1D072D63-F8D4-4CAF-A66F-FB7A3A81EA47}"/>
              </a:ext>
            </a:extLst>
          </p:cNvPr>
          <p:cNvPicPr>
            <a:picLocks noChangeAspect="1"/>
          </p:cNvPicPr>
          <p:nvPr/>
        </p:nvPicPr>
        <p:blipFill>
          <a:blip r:embed="rId5"/>
          <a:stretch>
            <a:fillRect/>
          </a:stretch>
        </p:blipFill>
        <p:spPr>
          <a:xfrm>
            <a:off x="11247048" y="79901"/>
            <a:ext cx="650726" cy="652955"/>
          </a:xfrm>
          <a:prstGeom prst="rect">
            <a:avLst/>
          </a:prstGeom>
        </p:spPr>
      </p:pic>
      <p:sp>
        <p:nvSpPr>
          <p:cNvPr id="22" name="CuadroTexto 21">
            <a:extLst>
              <a:ext uri="{FF2B5EF4-FFF2-40B4-BE49-F238E27FC236}">
                <a16:creationId xmlns:a16="http://schemas.microsoft.com/office/drawing/2014/main" id="{9949FA99-705A-4F12-9681-A342BCBC6BAC}"/>
              </a:ext>
            </a:extLst>
          </p:cNvPr>
          <p:cNvSpPr txBox="1"/>
          <p:nvPr/>
        </p:nvSpPr>
        <p:spPr>
          <a:xfrm>
            <a:off x="381916" y="3034505"/>
            <a:ext cx="4257663" cy="3139321"/>
          </a:xfrm>
          <a:prstGeom prst="rect">
            <a:avLst/>
          </a:prstGeom>
          <a:noFill/>
        </p:spPr>
        <p:txBody>
          <a:bodyPr wrap="square">
            <a:spAutoFit/>
          </a:bodyPr>
          <a:lstStyle/>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Se probarán varias configuraciones de entrenamiento con 5 réplicas por combinación.</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Se analizarán métricas como precisión, </a:t>
            </a:r>
            <a:r>
              <a:rPr lang="es-MX" dirty="0" err="1">
                <a:latin typeface="Times New Roman" panose="02020603050405020304" pitchFamily="18" charset="0"/>
                <a:cs typeface="Times New Roman" panose="02020603050405020304" pitchFamily="18" charset="0"/>
              </a:rPr>
              <a:t>mAP</a:t>
            </a:r>
            <a:r>
              <a:rPr lang="es-MX" dirty="0">
                <a:latin typeface="Times New Roman" panose="02020603050405020304" pitchFamily="18" charset="0"/>
                <a:cs typeface="Times New Roman" panose="02020603050405020304" pitchFamily="18" charset="0"/>
              </a:rPr>
              <a:t> e </a:t>
            </a:r>
            <a:r>
              <a:rPr lang="es-MX" dirty="0" err="1">
                <a:latin typeface="Times New Roman" panose="02020603050405020304" pitchFamily="18" charset="0"/>
                <a:cs typeface="Times New Roman" panose="02020603050405020304" pitchFamily="18" charset="0"/>
              </a:rPr>
              <a:t>IoU</a:t>
            </a:r>
            <a:r>
              <a:rPr lang="es-MX"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Se aplicará un modelo lineal mixto (ANOVA) para detectar diferencias significativas.</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En caso de diferencia, se usará la prueba de Tukey.</a:t>
            </a:r>
          </a:p>
          <a:p>
            <a:pPr marL="285750" indent="-285750" algn="just">
              <a:buFont typeface="Wingdings" panose="05000000000000000000" pitchFamily="2" charset="2"/>
              <a:buChar char="v"/>
            </a:pPr>
            <a:r>
              <a:rPr lang="es-MX" dirty="0">
                <a:latin typeface="Times New Roman" panose="02020603050405020304" pitchFamily="18" charset="0"/>
                <a:cs typeface="Times New Roman" panose="02020603050405020304" pitchFamily="18" charset="0"/>
              </a:rPr>
              <a:t>Análisis ejecutado en software R.</a:t>
            </a:r>
            <a:endParaRPr lang="es-PE" dirty="0">
              <a:latin typeface="Times New Roman" panose="02020603050405020304" pitchFamily="18" charset="0"/>
              <a:cs typeface="Times New Roman" panose="02020603050405020304" pitchFamily="18" charset="0"/>
            </a:endParaRPr>
          </a:p>
        </p:txBody>
      </p:sp>
      <p:sp>
        <p:nvSpPr>
          <p:cNvPr id="5" name="Rectángulo: esquinas redondeadas 4">
            <a:extLst>
              <a:ext uri="{FF2B5EF4-FFF2-40B4-BE49-F238E27FC236}">
                <a16:creationId xmlns:a16="http://schemas.microsoft.com/office/drawing/2014/main" id="{A37F1A24-92F6-40BB-AC35-C94B1845DCB0}"/>
              </a:ext>
            </a:extLst>
          </p:cNvPr>
          <p:cNvSpPr/>
          <p:nvPr/>
        </p:nvSpPr>
        <p:spPr>
          <a:xfrm>
            <a:off x="6095999" y="3242221"/>
            <a:ext cx="5051267" cy="2837907"/>
          </a:xfrm>
          <a:prstGeom prst="roundRect">
            <a:avLst/>
          </a:prstGeom>
          <a:blipFill>
            <a:blip r:embed="rId6"/>
            <a:stretch>
              <a:fillRect/>
            </a:stretch>
          </a:blipFill>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279523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7003" y="704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9</a:t>
            </a:r>
          </a:p>
        </p:txBody>
      </p:sp>
      <p:pic>
        <p:nvPicPr>
          <p:cNvPr id="15" name="Imagen 14">
            <a:extLst>
              <a:ext uri="{FF2B5EF4-FFF2-40B4-BE49-F238E27FC236}">
                <a16:creationId xmlns:a16="http://schemas.microsoft.com/office/drawing/2014/main" id="{DD68F318-68C8-474A-8199-7F193E16AE26}"/>
              </a:ext>
            </a:extLst>
          </p:cNvPr>
          <p:cNvPicPr>
            <a:picLocks noChangeAspect="1"/>
          </p:cNvPicPr>
          <p:nvPr/>
        </p:nvPicPr>
        <p:blipFill>
          <a:blip r:embed="rId4"/>
          <a:stretch>
            <a:fillRect/>
          </a:stretch>
        </p:blipFill>
        <p:spPr>
          <a:xfrm>
            <a:off x="11247048" y="79901"/>
            <a:ext cx="650726" cy="652955"/>
          </a:xfrm>
          <a:prstGeom prst="rect">
            <a:avLst/>
          </a:prstGeom>
        </p:spPr>
      </p:pic>
      <p:sp>
        <p:nvSpPr>
          <p:cNvPr id="17" name="CuadroTexto 16">
            <a:extLst>
              <a:ext uri="{FF2B5EF4-FFF2-40B4-BE49-F238E27FC236}">
                <a16:creationId xmlns:a16="http://schemas.microsoft.com/office/drawing/2014/main" id="{430ED350-5E2D-4766-A64F-ED8759F06D6B}"/>
              </a:ext>
            </a:extLst>
          </p:cNvPr>
          <p:cNvSpPr txBox="1"/>
          <p:nvPr/>
        </p:nvSpPr>
        <p:spPr>
          <a:xfrm>
            <a:off x="4373661" y="342255"/>
            <a:ext cx="2180654"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6.5. Cronograma</a:t>
            </a:r>
          </a:p>
        </p:txBody>
      </p:sp>
      <p:pic>
        <p:nvPicPr>
          <p:cNvPr id="13" name="Imagen 12">
            <a:extLst>
              <a:ext uri="{FF2B5EF4-FFF2-40B4-BE49-F238E27FC236}">
                <a16:creationId xmlns:a16="http://schemas.microsoft.com/office/drawing/2014/main" id="{C73302F9-D0ED-4C2D-AEA1-49D3AF7BA211}"/>
              </a:ext>
            </a:extLst>
          </p:cNvPr>
          <p:cNvPicPr>
            <a:picLocks noChangeAspect="1"/>
          </p:cNvPicPr>
          <p:nvPr/>
        </p:nvPicPr>
        <p:blipFill>
          <a:blip r:embed="rId5"/>
          <a:stretch>
            <a:fillRect/>
          </a:stretch>
        </p:blipFill>
        <p:spPr>
          <a:xfrm>
            <a:off x="759457" y="999130"/>
            <a:ext cx="10673083" cy="4626658"/>
          </a:xfrm>
          <a:prstGeom prst="rect">
            <a:avLst/>
          </a:prstGeom>
        </p:spPr>
      </p:pic>
    </p:spTree>
    <p:extLst>
      <p:ext uri="{BB962C8B-B14F-4D97-AF65-F5344CB8AC3E}">
        <p14:creationId xmlns:p14="http://schemas.microsoft.com/office/powerpoint/2010/main" val="382316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grpSp>
        <p:nvGrpSpPr>
          <p:cNvPr id="11" name="Group 11"/>
          <p:cNvGrpSpPr/>
          <p:nvPr/>
        </p:nvGrpSpPr>
        <p:grpSpPr>
          <a:xfrm>
            <a:off x="97003" y="70427"/>
            <a:ext cx="2180677" cy="641135"/>
            <a:chOff x="0" y="0"/>
            <a:chExt cx="4361354" cy="1282270"/>
          </a:xfrm>
        </p:grpSpPr>
        <p:sp>
          <p:nvSpPr>
            <p:cNvPr id="12" name="Freeform 12"/>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3"/>
              <a:stretch>
                <a:fillRect t="-205" r="-1" b="-202"/>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10</a:t>
            </a:r>
          </a:p>
        </p:txBody>
      </p:sp>
      <p:pic>
        <p:nvPicPr>
          <p:cNvPr id="15" name="Imagen 14">
            <a:extLst>
              <a:ext uri="{FF2B5EF4-FFF2-40B4-BE49-F238E27FC236}">
                <a16:creationId xmlns:a16="http://schemas.microsoft.com/office/drawing/2014/main" id="{DD68F318-68C8-474A-8199-7F193E16AE26}"/>
              </a:ext>
            </a:extLst>
          </p:cNvPr>
          <p:cNvPicPr>
            <a:picLocks noChangeAspect="1"/>
          </p:cNvPicPr>
          <p:nvPr/>
        </p:nvPicPr>
        <p:blipFill>
          <a:blip r:embed="rId4"/>
          <a:stretch>
            <a:fillRect/>
          </a:stretch>
        </p:blipFill>
        <p:spPr>
          <a:xfrm>
            <a:off x="11247048" y="79901"/>
            <a:ext cx="650726" cy="652955"/>
          </a:xfrm>
          <a:prstGeom prst="rect">
            <a:avLst/>
          </a:prstGeom>
        </p:spPr>
      </p:pic>
      <p:sp>
        <p:nvSpPr>
          <p:cNvPr id="13" name="CuadroTexto 12">
            <a:extLst>
              <a:ext uri="{FF2B5EF4-FFF2-40B4-BE49-F238E27FC236}">
                <a16:creationId xmlns:a16="http://schemas.microsoft.com/office/drawing/2014/main" id="{0FA3CB0E-A572-4E7A-A214-6544918525CD}"/>
              </a:ext>
            </a:extLst>
          </p:cNvPr>
          <p:cNvSpPr txBox="1"/>
          <p:nvPr/>
        </p:nvSpPr>
        <p:spPr>
          <a:xfrm>
            <a:off x="4805081" y="548190"/>
            <a:ext cx="2581836" cy="369332"/>
          </a:xfrm>
          <a:prstGeom prst="rect">
            <a:avLst/>
          </a:prstGeom>
          <a:noFill/>
        </p:spPr>
        <p:txBody>
          <a:bodyPr wrap="square">
            <a:spAutoFit/>
          </a:bodyPr>
          <a:lstStyle/>
          <a:p>
            <a:r>
              <a:rPr lang="es-MX" b="1" dirty="0">
                <a:latin typeface="Times New Roman" panose="02020603050405020304" pitchFamily="18" charset="0"/>
                <a:cs typeface="Times New Roman" panose="02020603050405020304" pitchFamily="18" charset="0"/>
              </a:rPr>
              <a:t>6.6. Análisis de datos</a:t>
            </a:r>
            <a:endParaRPr lang="es-PE" b="1" dirty="0"/>
          </a:p>
        </p:txBody>
      </p:sp>
      <p:sp>
        <p:nvSpPr>
          <p:cNvPr id="14" name="CuadroTexto 13">
            <a:extLst>
              <a:ext uri="{FF2B5EF4-FFF2-40B4-BE49-F238E27FC236}">
                <a16:creationId xmlns:a16="http://schemas.microsoft.com/office/drawing/2014/main" id="{45A31F64-6EAA-41AD-8AB8-434E7668D67B}"/>
              </a:ext>
            </a:extLst>
          </p:cNvPr>
          <p:cNvSpPr txBox="1"/>
          <p:nvPr/>
        </p:nvSpPr>
        <p:spPr>
          <a:xfrm>
            <a:off x="1205752" y="1349529"/>
            <a:ext cx="9780494" cy="3366563"/>
          </a:xfrm>
          <a:prstGeom prst="rect">
            <a:avLst/>
          </a:prstGeom>
          <a:noFill/>
        </p:spPr>
        <p:txBody>
          <a:bodyPr wrap="square">
            <a:spAutoFit/>
          </a:bodyPr>
          <a:lstStyle/>
          <a:p>
            <a:pPr algn="just">
              <a:lnSpc>
                <a:spcPct val="150000"/>
              </a:lnSpc>
            </a:pPr>
            <a:r>
              <a:rPr lang="es-MX" dirty="0">
                <a:latin typeface="Times New Roman" panose="02020603050405020304" pitchFamily="18" charset="0"/>
                <a:cs typeface="Times New Roman" panose="02020603050405020304" pitchFamily="18" charset="0"/>
              </a:rPr>
              <a:t>El desempeño de los modelos YOLOv5 y YOLOv11 será evaluado mediante un modelo lineal mixto, considerando como factores fijos el número de épocas de entrenamiento (50, 100, 150) y el uso de aumentación de datos (sí/no), y como efecto aleatorio las réplicas. Las métricas analizadas serán mAP@0.5, precisión, tiempo de inferencia.</a:t>
            </a:r>
          </a:p>
          <a:p>
            <a:pPr algn="just">
              <a:lnSpc>
                <a:spcPct val="150000"/>
              </a:lnSpc>
            </a:pPr>
            <a:r>
              <a:rPr lang="es-MX" dirty="0">
                <a:latin typeface="Times New Roman" panose="02020603050405020304" pitchFamily="18" charset="0"/>
                <a:cs typeface="Times New Roman" panose="02020603050405020304" pitchFamily="18" charset="0"/>
              </a:rPr>
              <a:t>El análisis se realizará en R utilizando los paquetes lme4 y </a:t>
            </a:r>
            <a:r>
              <a:rPr lang="es-MX" dirty="0" err="1">
                <a:latin typeface="Times New Roman" panose="02020603050405020304" pitchFamily="18" charset="0"/>
                <a:cs typeface="Times New Roman" panose="02020603050405020304" pitchFamily="18" charset="0"/>
              </a:rPr>
              <a:t>emmeans</a:t>
            </a:r>
            <a:r>
              <a:rPr lang="es-MX" dirty="0">
                <a:latin typeface="Times New Roman" panose="02020603050405020304" pitchFamily="18" charset="0"/>
                <a:cs typeface="Times New Roman" panose="02020603050405020304" pitchFamily="18" charset="0"/>
              </a:rPr>
              <a:t>, aplicando ANOVA y la prueba de Tukey (α = 0.05). Además, se calculará la desviación estándar del </a:t>
            </a:r>
            <a:r>
              <a:rPr lang="es-MX" dirty="0" err="1">
                <a:latin typeface="Times New Roman" panose="02020603050405020304" pitchFamily="18" charset="0"/>
                <a:cs typeface="Times New Roman" panose="02020603050405020304" pitchFamily="18" charset="0"/>
              </a:rPr>
              <a:t>mAP</a:t>
            </a:r>
            <a:r>
              <a:rPr lang="es-MX" dirty="0">
                <a:latin typeface="Times New Roman" panose="02020603050405020304" pitchFamily="18" charset="0"/>
                <a:cs typeface="Times New Roman" panose="02020603050405020304" pitchFamily="18" charset="0"/>
              </a:rPr>
              <a:t> como medida de estabilidad, y se evaluará la correlación entre los resultados manuales y automáticos. Finalmente, se incluirá una revisión visual de las segmentaciones para detectar errores frecuentes.</a:t>
            </a:r>
            <a:endParaRPr lang="es-P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757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6340856"/>
            <a:ext cx="12192000" cy="557485"/>
            <a:chOff x="0" y="0"/>
            <a:chExt cx="24384000" cy="1114970"/>
          </a:xfrm>
        </p:grpSpPr>
        <p:sp>
          <p:nvSpPr>
            <p:cNvPr id="9" name="Freeform 9"/>
            <p:cNvSpPr/>
            <p:nvPr/>
          </p:nvSpPr>
          <p:spPr>
            <a:xfrm>
              <a:off x="0" y="0"/>
              <a:ext cx="24384000" cy="1114933"/>
            </a:xfrm>
            <a:custGeom>
              <a:avLst/>
              <a:gdLst/>
              <a:ahLst/>
              <a:cxnLst/>
              <a:rect l="l" t="t" r="r" b="b"/>
              <a:pathLst>
                <a:path w="24384000" h="1114933">
                  <a:moveTo>
                    <a:pt x="0" y="0"/>
                  </a:moveTo>
                  <a:lnTo>
                    <a:pt x="24384000" y="0"/>
                  </a:lnTo>
                  <a:lnTo>
                    <a:pt x="24384000" y="1114933"/>
                  </a:lnTo>
                  <a:lnTo>
                    <a:pt x="0" y="1114933"/>
                  </a:lnTo>
                  <a:lnTo>
                    <a:pt x="0" y="0"/>
                  </a:lnTo>
                  <a:close/>
                </a:path>
              </a:pathLst>
            </a:custGeom>
            <a:blipFill>
              <a:blip r:embed="rId2"/>
              <a:stretch>
                <a:fillRect l="-30644" t="-3"/>
              </a:stretch>
            </a:blipFill>
          </p:spPr>
          <p:txBody>
            <a:bodyPr/>
            <a:lstStyle/>
            <a:p>
              <a:endParaRPr lang="es-PE"/>
            </a:p>
          </p:txBody>
        </p:sp>
      </p:grpSp>
      <p:sp>
        <p:nvSpPr>
          <p:cNvPr id="24" name="CuadroTexto 23">
            <a:extLst>
              <a:ext uri="{FF2B5EF4-FFF2-40B4-BE49-F238E27FC236}">
                <a16:creationId xmlns:a16="http://schemas.microsoft.com/office/drawing/2014/main" id="{6888C567-3D68-4D70-9D56-AF0A60081177}"/>
              </a:ext>
            </a:extLst>
          </p:cNvPr>
          <p:cNvSpPr txBox="1"/>
          <p:nvPr/>
        </p:nvSpPr>
        <p:spPr>
          <a:xfrm>
            <a:off x="5463988" y="6457890"/>
            <a:ext cx="1264023" cy="400110"/>
          </a:xfrm>
          <a:prstGeom prst="rect">
            <a:avLst/>
          </a:prstGeom>
          <a:noFill/>
        </p:spPr>
        <p:txBody>
          <a:bodyPr wrap="square" rtlCol="0">
            <a:spAutoFit/>
          </a:bodyPr>
          <a:lstStyle/>
          <a:p>
            <a:pPr algn="ctr"/>
            <a:r>
              <a:rPr lang="es-PE" sz="2000" dirty="0">
                <a:solidFill>
                  <a:schemeClr val="bg1"/>
                </a:solidFill>
                <a:latin typeface="Times New Roman" panose="02020603050405020304" pitchFamily="18" charset="0"/>
                <a:cs typeface="Times New Roman" panose="02020603050405020304" pitchFamily="18" charset="0"/>
              </a:rPr>
              <a:t>11</a:t>
            </a:r>
          </a:p>
        </p:txBody>
      </p:sp>
      <p:sp>
        <p:nvSpPr>
          <p:cNvPr id="18" name="CuadroTexto 17">
            <a:extLst>
              <a:ext uri="{FF2B5EF4-FFF2-40B4-BE49-F238E27FC236}">
                <a16:creationId xmlns:a16="http://schemas.microsoft.com/office/drawing/2014/main" id="{8E6877BB-9FCA-40E4-A422-699FCB5662F7}"/>
              </a:ext>
            </a:extLst>
          </p:cNvPr>
          <p:cNvSpPr txBox="1"/>
          <p:nvPr/>
        </p:nvSpPr>
        <p:spPr>
          <a:xfrm>
            <a:off x="672351" y="827111"/>
            <a:ext cx="10712825" cy="4952766"/>
          </a:xfrm>
          <a:prstGeom prst="rect">
            <a:avLst/>
          </a:prstGeom>
          <a:noFill/>
        </p:spPr>
        <p:txBody>
          <a:bodyPr wrap="square">
            <a:spAutoFit/>
          </a:bodyPr>
          <a:lstStyle/>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Arteaga-Cano, D., Chacón-Calvo, L., Samamé-Herrera, V., Valverde-Cerna, D., &amp;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Paucar</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-Menacho, L. M. (2022).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Composición nutricional, características químicas, compuestos bioactivos y propiedades beneficiosas para la salud.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Agroindustrial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Science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Article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https://doi.org/10.17268/agroind.sci.2022.01.12</a:t>
            </a:r>
            <a:endPar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rPr>
              <a:t>Chen, C., Bai, M., Wang, T., Zhang, W., </a:t>
            </a:r>
            <a:r>
              <a:rPr lang="es-PE" sz="1200" dirty="0" err="1">
                <a:solidFill>
                  <a:srgbClr val="000000"/>
                </a:solidFill>
                <a:effectLst/>
                <a:latin typeface="Times New Roman" panose="02020603050405020304" pitchFamily="18" charset="0"/>
                <a:ea typeface="Calibri" panose="020F0502020204030204" pitchFamily="34" charset="0"/>
              </a:rPr>
              <a:t>Yu</a:t>
            </a:r>
            <a:r>
              <a:rPr lang="es-PE" sz="1200" dirty="0">
                <a:solidFill>
                  <a:srgbClr val="000000"/>
                </a:solidFill>
                <a:effectLst/>
                <a:latin typeface="Times New Roman" panose="02020603050405020304" pitchFamily="18" charset="0"/>
                <a:ea typeface="Calibri" panose="020F0502020204030204" pitchFamily="34" charset="0"/>
              </a:rPr>
              <a:t>, H., </a:t>
            </a:r>
            <a:r>
              <a:rPr lang="es-PE" sz="1200" dirty="0" err="1">
                <a:solidFill>
                  <a:srgbClr val="000000"/>
                </a:solidFill>
                <a:effectLst/>
                <a:latin typeface="Times New Roman" panose="02020603050405020304" pitchFamily="18" charset="0"/>
                <a:ea typeface="Calibri" panose="020F0502020204030204" pitchFamily="34" charset="0"/>
              </a:rPr>
              <a:t>Pang</a:t>
            </a:r>
            <a:r>
              <a:rPr lang="es-PE" sz="1200" dirty="0">
                <a:solidFill>
                  <a:srgbClr val="000000"/>
                </a:solidFill>
                <a:effectLst/>
                <a:latin typeface="Times New Roman" panose="02020603050405020304" pitchFamily="18" charset="0"/>
                <a:ea typeface="Calibri" panose="020F0502020204030204" pitchFamily="34" charset="0"/>
              </a:rPr>
              <a:t>, T., Wu, J., Li, Z., &amp; Wang, X. (2024). </a:t>
            </a:r>
            <a:r>
              <a:rPr lang="es-PE" sz="1200" dirty="0" err="1">
                <a:solidFill>
                  <a:srgbClr val="000000"/>
                </a:solidFill>
                <a:effectLst/>
                <a:latin typeface="Times New Roman" panose="02020603050405020304" pitchFamily="18" charset="0"/>
                <a:ea typeface="Calibri" panose="020F0502020204030204" pitchFamily="34" charset="0"/>
              </a:rPr>
              <a:t>An</a:t>
            </a:r>
            <a:r>
              <a:rPr lang="es-PE" sz="1200" dirty="0">
                <a:solidFill>
                  <a:srgbClr val="000000"/>
                </a:solidFill>
                <a:effectLst/>
                <a:latin typeface="Times New Roman" panose="02020603050405020304" pitchFamily="18" charset="0"/>
                <a:ea typeface="Calibri" panose="020F0502020204030204" pitchFamily="34" charset="0"/>
              </a:rPr>
              <a:t> RGB </a:t>
            </a:r>
            <a:r>
              <a:rPr lang="es-PE" sz="1200" dirty="0" err="1">
                <a:solidFill>
                  <a:srgbClr val="000000"/>
                </a:solidFill>
                <a:effectLst/>
                <a:latin typeface="Times New Roman" panose="02020603050405020304" pitchFamily="18" charset="0"/>
                <a:ea typeface="Calibri" panose="020F0502020204030204" pitchFamily="34" charset="0"/>
              </a:rPr>
              <a:t>image</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dataset</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for</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seed</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germination</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err="1">
                <a:solidFill>
                  <a:srgbClr val="000000"/>
                </a:solidFill>
                <a:effectLst/>
                <a:latin typeface="Times New Roman" panose="02020603050405020304" pitchFamily="18" charset="0"/>
                <a:ea typeface="Calibri" panose="020F0502020204030204" pitchFamily="34" charset="0"/>
              </a:rPr>
              <a:t>prediction</a:t>
            </a:r>
            <a:r>
              <a:rPr lang="es-PE" sz="1200" dirty="0">
                <a:solidFill>
                  <a:srgbClr val="000000"/>
                </a:solidFill>
                <a:effectLst/>
                <a:latin typeface="Times New Roman" panose="02020603050405020304" pitchFamily="18" charset="0"/>
                <a:ea typeface="Calibri" panose="020F0502020204030204" pitchFamily="34" charset="0"/>
              </a:rPr>
              <a:t> and vigor </a:t>
            </a:r>
            <a:r>
              <a:rPr lang="es-PE" sz="1200" dirty="0" err="1">
                <a:solidFill>
                  <a:srgbClr val="000000"/>
                </a:solidFill>
                <a:effectLst/>
                <a:latin typeface="Times New Roman" panose="02020603050405020304" pitchFamily="18" charset="0"/>
                <a:ea typeface="Calibri" panose="020F0502020204030204" pitchFamily="34" charset="0"/>
              </a:rPr>
              <a:t>detection</a:t>
            </a:r>
            <a:r>
              <a:rPr lang="es-PE" sz="1200" dirty="0">
                <a:solidFill>
                  <a:srgbClr val="000000"/>
                </a:solidFill>
                <a:effectLst/>
                <a:latin typeface="Times New Roman" panose="02020603050405020304" pitchFamily="18" charset="0"/>
                <a:ea typeface="Calibri" panose="020F0502020204030204" pitchFamily="34" charset="0"/>
              </a:rPr>
              <a:t>—</a:t>
            </a:r>
            <a:r>
              <a:rPr lang="es-PE" sz="1200" dirty="0" err="1">
                <a:solidFill>
                  <a:srgbClr val="000000"/>
                </a:solidFill>
                <a:effectLst/>
                <a:latin typeface="Times New Roman" panose="02020603050405020304" pitchFamily="18" charset="0"/>
                <a:ea typeface="Calibri" panose="020F0502020204030204" pitchFamily="34" charset="0"/>
              </a:rPr>
              <a:t>Maize</a:t>
            </a:r>
            <a:r>
              <a:rPr lang="es-PE" sz="1200" dirty="0">
                <a:solidFill>
                  <a:srgbClr val="000000"/>
                </a:solidFill>
                <a:effectLst/>
                <a:latin typeface="Times New Roman" panose="02020603050405020304" pitchFamily="18" charset="0"/>
                <a:ea typeface="Calibri" panose="020F0502020204030204" pitchFamily="34" charset="0"/>
              </a:rPr>
              <a:t>. </a:t>
            </a:r>
            <a:r>
              <a:rPr lang="es-PE" sz="1200" i="1" dirty="0" err="1">
                <a:solidFill>
                  <a:srgbClr val="000000"/>
                </a:solidFill>
                <a:effectLst/>
                <a:latin typeface="Times New Roman" panose="02020603050405020304" pitchFamily="18" charset="0"/>
                <a:ea typeface="Calibri" panose="020F0502020204030204" pitchFamily="34" charset="0"/>
              </a:rPr>
              <a:t>Frontiers</a:t>
            </a:r>
            <a:r>
              <a:rPr lang="es-PE" sz="1200" i="1" dirty="0">
                <a:solidFill>
                  <a:srgbClr val="000000"/>
                </a:solidFill>
                <a:effectLst/>
                <a:latin typeface="Times New Roman" panose="02020603050405020304" pitchFamily="18" charset="0"/>
                <a:ea typeface="Calibri" panose="020F0502020204030204" pitchFamily="34" charset="0"/>
              </a:rPr>
              <a:t> in </a:t>
            </a:r>
            <a:r>
              <a:rPr lang="es-PE" sz="1200" i="1" dirty="0" err="1">
                <a:solidFill>
                  <a:srgbClr val="000000"/>
                </a:solidFill>
                <a:effectLst/>
                <a:latin typeface="Times New Roman" panose="02020603050405020304" pitchFamily="18" charset="0"/>
                <a:ea typeface="Calibri" panose="020F0502020204030204" pitchFamily="34" charset="0"/>
              </a:rPr>
              <a:t>Plant</a:t>
            </a:r>
            <a:r>
              <a:rPr lang="es-PE" sz="1200" i="1" dirty="0">
                <a:solidFill>
                  <a:srgbClr val="000000"/>
                </a:solidFill>
                <a:effectLst/>
                <a:latin typeface="Times New Roman" panose="02020603050405020304" pitchFamily="18" charset="0"/>
                <a:ea typeface="Calibri" panose="020F0502020204030204" pitchFamily="34" charset="0"/>
              </a:rPr>
              <a:t> </a:t>
            </a:r>
            <a:r>
              <a:rPr lang="es-PE" sz="1200" i="1" dirty="0" err="1">
                <a:solidFill>
                  <a:srgbClr val="000000"/>
                </a:solidFill>
                <a:effectLst/>
                <a:latin typeface="Times New Roman" panose="02020603050405020304" pitchFamily="18" charset="0"/>
                <a:ea typeface="Calibri" panose="020F0502020204030204" pitchFamily="34" charset="0"/>
              </a:rPr>
              <a:t>Science</a:t>
            </a:r>
            <a:r>
              <a:rPr lang="es-PE" sz="1200" dirty="0">
                <a:solidFill>
                  <a:srgbClr val="000000"/>
                </a:solidFill>
                <a:effectLst/>
                <a:latin typeface="Times New Roman" panose="02020603050405020304" pitchFamily="18" charset="0"/>
                <a:ea typeface="Calibri" panose="020F0502020204030204" pitchFamily="34" charset="0"/>
              </a:rPr>
              <a:t>, </a:t>
            </a:r>
            <a:r>
              <a:rPr lang="es-PE" sz="1200" i="1" dirty="0">
                <a:solidFill>
                  <a:srgbClr val="000000"/>
                </a:solidFill>
                <a:effectLst/>
                <a:latin typeface="Times New Roman" panose="02020603050405020304" pitchFamily="18" charset="0"/>
                <a:ea typeface="Calibri" panose="020F0502020204030204" pitchFamily="34" charset="0"/>
              </a:rPr>
              <a:t>15</a:t>
            </a:r>
            <a:r>
              <a:rPr lang="es-PE" sz="1200" dirty="0">
                <a:solidFill>
                  <a:srgbClr val="000000"/>
                </a:solidFill>
                <a:effectLst/>
                <a:latin typeface="Times New Roman" panose="02020603050405020304" pitchFamily="18" charset="0"/>
                <a:ea typeface="Calibri" panose="020F0502020204030204" pitchFamily="34" charset="0"/>
              </a:rPr>
              <a:t>. </a:t>
            </a:r>
            <a:r>
              <a:rPr lang="es-PE" sz="1200" dirty="0">
                <a:solidFill>
                  <a:srgbClr val="000000"/>
                </a:solidFill>
                <a:effectLst/>
                <a:latin typeface="Times New Roman" panose="02020603050405020304" pitchFamily="18" charset="0"/>
                <a:ea typeface="Calibri" panose="020F0502020204030204" pitchFamily="34" charset="0"/>
                <a:hlinkClick r:id="rId4"/>
              </a:rPr>
              <a:t>https://doi.org/10.3389/fpls.2024.1341335</a:t>
            </a:r>
            <a:endParaRPr lang="es-PE" sz="1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Medeiros, A. D. de,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Pinheiro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 T., Xavier, W. A., Silva, L. J. da, &amp;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Dias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 C. F. dos S. (2020). Clasificación de calidad de las semillas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Jatropha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curcas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mediante imágenes radiográficas y aprendizaje automático.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Industrial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Crops</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Products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146</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112162.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https://doi.org/10.1016/j.indcrop.2020.112162</a:t>
            </a:r>
            <a:endPar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Mirano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Papel, M. E. (2018).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Caracterización morfológica de 113 entradas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en el sector de Chiri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Unuyoc</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Kayra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—Cusco</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[Tesis de Título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Profecional</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Universidad Nacional de San Antonio Abad del Cusco]. https://repositorio.unsaac.edu.pe/handle/20.500.12918/4757</a:t>
            </a:r>
            <a:endParaRPr lang="es-PE" sz="12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Pacheco Arenas, E. S. (2015). </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Caracterización morfológica y molecular de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Ruiz y Pavón) de los departamentos de Cusco y Cajamarca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[Tesis de Maestría, Universidad Nacional Agraria La Molina]. https://hdl.handle.net/20.500.12996/2095</a:t>
            </a:r>
          </a:p>
          <a:p>
            <a:pPr marL="457200" indent="-457200" algn="just">
              <a:lnSpc>
                <a:spcPct val="150000"/>
              </a:lnSpc>
              <a:spcAft>
                <a:spcPts val="6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Sharma, A. K.,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Zotarelli</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Zare</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&amp; Sharma, L. K. (2025). Automated potato tuber mass estimation and grading with multiangle 2D images. Smart Agricultural Technology, 10, 100832. </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6"/>
              </a:rPr>
              <a:t>https://doi.org/10.1016/j.atech.2025.100832</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600"/>
              </a:spcAft>
            </a:pP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Valle-Parra, M.,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Pomboza-Tamaquiza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 Buenaño-</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Sanchez</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 Guevara-Freire, D.,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Chasi</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-Vizuete, P., Vásquez-</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Freitez</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 &amp; Pérez-Salinas, M. (2018).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Morphology</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phenology</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nutrients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yield</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six</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accessions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Tropaeolum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i="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tuberosum</a:t>
            </a:r>
            <a:r>
              <a:rPr lang="es-PE"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Ruiz y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Pav</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mashua</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Tropical and Subtropical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Agroecosystems</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21(1), </a:t>
            </a:r>
            <a:r>
              <a:rPr lang="es-PE"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Article</a:t>
            </a:r>
            <a:r>
              <a:rPr lang="es-PE"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 https://doi.org/10.56369/tsaes.2574</a:t>
            </a:r>
          </a:p>
        </p:txBody>
      </p:sp>
      <p:sp>
        <p:nvSpPr>
          <p:cNvPr id="20" name="CuadroTexto 19">
            <a:extLst>
              <a:ext uri="{FF2B5EF4-FFF2-40B4-BE49-F238E27FC236}">
                <a16:creationId xmlns:a16="http://schemas.microsoft.com/office/drawing/2014/main" id="{6AC217D7-FBF3-4C7D-801D-4C86053F680D}"/>
              </a:ext>
            </a:extLst>
          </p:cNvPr>
          <p:cNvSpPr txBox="1"/>
          <p:nvPr/>
        </p:nvSpPr>
        <p:spPr>
          <a:xfrm>
            <a:off x="1335741" y="266132"/>
            <a:ext cx="6096000" cy="458074"/>
          </a:xfrm>
          <a:prstGeom prst="rect">
            <a:avLst/>
          </a:prstGeom>
          <a:noFill/>
        </p:spPr>
        <p:txBody>
          <a:bodyPr wrap="square">
            <a:spAutoFit/>
          </a:bodyPr>
          <a:lstStyle/>
          <a:p>
            <a:pPr algn="just">
              <a:lnSpc>
                <a:spcPct val="150000"/>
              </a:lnSpc>
              <a:spcAft>
                <a:spcPts val="600"/>
              </a:spcAft>
            </a:pPr>
            <a:r>
              <a:rPr lang="es-PE"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 Referencias</a:t>
            </a:r>
            <a:endParaRPr lang="es-PE"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21" name="Group 11">
            <a:extLst>
              <a:ext uri="{FF2B5EF4-FFF2-40B4-BE49-F238E27FC236}">
                <a16:creationId xmlns:a16="http://schemas.microsoft.com/office/drawing/2014/main" id="{9CA30087-6FDF-4264-9DF6-88BBFF287F64}"/>
              </a:ext>
            </a:extLst>
          </p:cNvPr>
          <p:cNvGrpSpPr/>
          <p:nvPr/>
        </p:nvGrpSpPr>
        <p:grpSpPr>
          <a:xfrm>
            <a:off x="9765920" y="0"/>
            <a:ext cx="2180677" cy="641135"/>
            <a:chOff x="0" y="0"/>
            <a:chExt cx="4361354" cy="1282270"/>
          </a:xfrm>
        </p:grpSpPr>
        <p:sp>
          <p:nvSpPr>
            <p:cNvPr id="22" name="Freeform 12">
              <a:extLst>
                <a:ext uri="{FF2B5EF4-FFF2-40B4-BE49-F238E27FC236}">
                  <a16:creationId xmlns:a16="http://schemas.microsoft.com/office/drawing/2014/main" id="{EC1337C0-F1FC-40D0-81B0-99F339851224}"/>
                </a:ext>
              </a:extLst>
            </p:cNvPr>
            <p:cNvSpPr/>
            <p:nvPr/>
          </p:nvSpPr>
          <p:spPr>
            <a:xfrm>
              <a:off x="0" y="0"/>
              <a:ext cx="4361307" cy="1282319"/>
            </a:xfrm>
            <a:custGeom>
              <a:avLst/>
              <a:gdLst/>
              <a:ahLst/>
              <a:cxnLst/>
              <a:rect l="l" t="t" r="r" b="b"/>
              <a:pathLst>
                <a:path w="4361307" h="1282319">
                  <a:moveTo>
                    <a:pt x="0" y="0"/>
                  </a:moveTo>
                  <a:lnTo>
                    <a:pt x="4361307" y="0"/>
                  </a:lnTo>
                  <a:lnTo>
                    <a:pt x="4361307" y="1282319"/>
                  </a:lnTo>
                  <a:lnTo>
                    <a:pt x="0" y="1282319"/>
                  </a:lnTo>
                  <a:lnTo>
                    <a:pt x="0" y="0"/>
                  </a:lnTo>
                  <a:close/>
                </a:path>
              </a:pathLst>
            </a:custGeom>
            <a:blipFill>
              <a:blip r:embed="rId7"/>
              <a:stretch>
                <a:fillRect t="-205" r="-1" b="-202"/>
              </a:stretch>
            </a:blipFill>
          </p:spPr>
          <p:txBody>
            <a:bodyPr/>
            <a:lstStyle/>
            <a:p>
              <a:endParaRPr lang="es-PE"/>
            </a:p>
          </p:txBody>
        </p:sp>
      </p:grpSp>
    </p:spTree>
    <p:extLst>
      <p:ext uri="{BB962C8B-B14F-4D97-AF65-F5344CB8AC3E}">
        <p14:creationId xmlns:p14="http://schemas.microsoft.com/office/powerpoint/2010/main" val="121375272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9342</TotalTime>
  <Words>1478</Words>
  <Application>Microsoft Office PowerPoint</Application>
  <PresentationFormat>Panorámica</PresentationFormat>
  <Paragraphs>80</Paragraphs>
  <Slides>11</Slides>
  <Notes>1</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11</vt:i4>
      </vt:variant>
    </vt:vector>
  </HeadingPairs>
  <TitlesOfParts>
    <vt:vector size="18" baseType="lpstr">
      <vt:lpstr>Arial</vt:lpstr>
      <vt:lpstr>Calibri</vt:lpstr>
      <vt:lpstr>Calibri Light</vt:lpstr>
      <vt:lpstr>Times New Roman</vt:lpstr>
      <vt:lpstr>Wingdings</vt:lpstr>
      <vt:lpstr>Tema de Office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Yoel Diaz</cp:lastModifiedBy>
  <cp:revision>258</cp:revision>
  <dcterms:created xsi:type="dcterms:W3CDTF">2024-11-03T00:16:39Z</dcterms:created>
  <dcterms:modified xsi:type="dcterms:W3CDTF">2025-07-17T03:37:05Z</dcterms:modified>
</cp:coreProperties>
</file>