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72" r:id="rId2"/>
  </p:sldMasterIdLst>
  <p:notesMasterIdLst>
    <p:notesMasterId r:id="rId12"/>
  </p:notesMasterIdLst>
  <p:sldIdLst>
    <p:sldId id="384" r:id="rId3"/>
    <p:sldId id="302" r:id="rId4"/>
    <p:sldId id="301" r:id="rId5"/>
    <p:sldId id="390" r:id="rId6"/>
    <p:sldId id="386" r:id="rId7"/>
    <p:sldId id="389" r:id="rId8"/>
    <p:sldId id="388" r:id="rId9"/>
    <p:sldId id="387" r:id="rId10"/>
    <p:sldId id="391" r:id="rId11"/>
  </p:sldIdLst>
  <p:sldSz cx="12192000" cy="6858000"/>
  <p:notesSz cx="6858000" cy="9144000"/>
  <p:defaultTextStyle>
    <a:defPPr>
      <a:defRPr lang="es-P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9B9B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Estilo medio 2 - Énfasis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85" d="100"/>
          <a:sy n="85" d="100"/>
        </p:scale>
        <p:origin x="590" y="48"/>
      </p:cViewPr>
      <p:guideLst/>
    </p:cSldViewPr>
  </p:slideViewPr>
  <p:notesTextViewPr>
    <p:cViewPr>
      <p:scale>
        <a:sx n="1" d="1"/>
        <a:sy n="1" d="1"/>
      </p:scale>
      <p:origin x="0" y="0"/>
    </p:cViewPr>
  </p:notesTextViewPr>
  <p:sorterViewPr>
    <p:cViewPr>
      <p:scale>
        <a:sx n="150" d="100"/>
        <a:sy n="150" d="100"/>
      </p:scale>
      <p:origin x="0" y="-60072"/>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presProps" Target="presProp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theme" Target="theme/theme1.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PE"/>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2239180-69ED-4CEF-8F5E-03AC1E8227F3}" type="datetimeFigureOut">
              <a:rPr lang="es-PE" smtClean="0"/>
              <a:t>10/06/2025</a:t>
            </a:fld>
            <a:endParaRPr lang="es-PE"/>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PE"/>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PE"/>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E245946-A4B6-4CDB-89AB-6F8E66C3E705}" type="slidenum">
              <a:rPr lang="es-PE" smtClean="0"/>
              <a:t>‹Nº›</a:t>
            </a:fld>
            <a:endParaRPr lang="es-PE"/>
          </a:p>
        </p:txBody>
      </p:sp>
    </p:spTree>
    <p:extLst>
      <p:ext uri="{BB962C8B-B14F-4D97-AF65-F5344CB8AC3E}">
        <p14:creationId xmlns:p14="http://schemas.microsoft.com/office/powerpoint/2010/main" val="18075566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a:p>
        </p:txBody>
      </p:sp>
      <p:sp>
        <p:nvSpPr>
          <p:cNvPr id="4" name="Marcador de número de diapositiva 3"/>
          <p:cNvSpPr>
            <a:spLocks noGrp="1"/>
          </p:cNvSpPr>
          <p:nvPr>
            <p:ph type="sldNum" sz="quarter" idx="5"/>
          </p:nvPr>
        </p:nvSpPr>
        <p:spPr/>
        <p:txBody>
          <a:bodyPr/>
          <a:lstStyle/>
          <a:p>
            <a:fld id="{A131B6E9-7246-4F47-8CED-2F6D7805382D}" type="slidenum">
              <a:rPr lang="es-PE" smtClean="0"/>
              <a:t>1</a:t>
            </a:fld>
            <a:endParaRPr lang="es-PE"/>
          </a:p>
        </p:txBody>
      </p:sp>
    </p:spTree>
    <p:extLst>
      <p:ext uri="{BB962C8B-B14F-4D97-AF65-F5344CB8AC3E}">
        <p14:creationId xmlns:p14="http://schemas.microsoft.com/office/powerpoint/2010/main" val="115798958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PE"/>
          </a:p>
        </p:txBody>
      </p:sp>
      <p:sp>
        <p:nvSpPr>
          <p:cNvPr id="3" name="Subtítulo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editar el estilo de subtítulo del patrón</a:t>
            </a:r>
            <a:endParaRPr lang="es-PE"/>
          </a:p>
        </p:txBody>
      </p:sp>
      <p:sp>
        <p:nvSpPr>
          <p:cNvPr id="4" name="Marcador de fecha 3"/>
          <p:cNvSpPr>
            <a:spLocks noGrp="1"/>
          </p:cNvSpPr>
          <p:nvPr>
            <p:ph type="dt" sz="half" idx="10"/>
          </p:nvPr>
        </p:nvSpPr>
        <p:spPr/>
        <p:txBody>
          <a:bodyPr/>
          <a:lstStyle/>
          <a:p>
            <a:fld id="{9FC44E13-959C-4F92-962A-CD885D5B846E}" type="datetime1">
              <a:rPr lang="es-PE" smtClean="0"/>
              <a:t>10/06/2025</a:t>
            </a:fld>
            <a:endParaRPr lang="es-PE"/>
          </a:p>
        </p:txBody>
      </p:sp>
      <p:sp>
        <p:nvSpPr>
          <p:cNvPr id="5" name="Marcador de pie de página 4"/>
          <p:cNvSpPr>
            <a:spLocks noGrp="1"/>
          </p:cNvSpPr>
          <p:nvPr>
            <p:ph type="ftr" sz="quarter" idx="11"/>
          </p:nvPr>
        </p:nvSpPr>
        <p:spPr/>
        <p:txBody>
          <a:bodyPr/>
          <a:lstStyle/>
          <a:p>
            <a:endParaRPr lang="es-PE"/>
          </a:p>
        </p:txBody>
      </p:sp>
      <p:sp>
        <p:nvSpPr>
          <p:cNvPr id="6" name="Marcador de número de diapositiva 5"/>
          <p:cNvSpPr>
            <a:spLocks noGrp="1"/>
          </p:cNvSpPr>
          <p:nvPr>
            <p:ph type="sldNum" sz="quarter" idx="12"/>
          </p:nvPr>
        </p:nvSpPr>
        <p:spPr/>
        <p:txBody>
          <a:bodyPr/>
          <a:lstStyle/>
          <a:p>
            <a:fld id="{05127BEB-47AF-44ED-B554-0B1B2779EC32}" type="slidenum">
              <a:rPr lang="es-PE" smtClean="0"/>
              <a:t>‹Nº›</a:t>
            </a:fld>
            <a:endParaRPr lang="es-PE" dirty="0"/>
          </a:p>
        </p:txBody>
      </p:sp>
    </p:spTree>
    <p:extLst>
      <p:ext uri="{BB962C8B-B14F-4D97-AF65-F5344CB8AC3E}">
        <p14:creationId xmlns:p14="http://schemas.microsoft.com/office/powerpoint/2010/main" val="6720160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endParaRPr lang="es-PE"/>
          </a:p>
        </p:txBody>
      </p:sp>
      <p:sp>
        <p:nvSpPr>
          <p:cNvPr id="3" name="Marcador de contenido 2"/>
          <p:cNvSpPr>
            <a:spLocks noGrp="1"/>
          </p:cNvSpPr>
          <p:nvPr>
            <p:ph idx="1"/>
          </p:nvPr>
        </p:nvSpPr>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fecha 3"/>
          <p:cNvSpPr>
            <a:spLocks noGrp="1"/>
          </p:cNvSpPr>
          <p:nvPr>
            <p:ph type="dt" sz="half" idx="10"/>
          </p:nvPr>
        </p:nvSpPr>
        <p:spPr/>
        <p:txBody>
          <a:bodyPr/>
          <a:lstStyle/>
          <a:p>
            <a:fld id="{CF785727-E760-45B6-9F4E-2F2C4F62F3BB}" type="datetime1">
              <a:rPr lang="es-PE" smtClean="0"/>
              <a:t>10/06/2025</a:t>
            </a:fld>
            <a:endParaRPr lang="es-PE"/>
          </a:p>
        </p:txBody>
      </p:sp>
      <p:sp>
        <p:nvSpPr>
          <p:cNvPr id="5" name="Marcador de pie de página 4"/>
          <p:cNvSpPr>
            <a:spLocks noGrp="1"/>
          </p:cNvSpPr>
          <p:nvPr>
            <p:ph type="ftr" sz="quarter" idx="11"/>
          </p:nvPr>
        </p:nvSpPr>
        <p:spPr/>
        <p:txBody>
          <a:bodyPr/>
          <a:lstStyle/>
          <a:p>
            <a:endParaRPr lang="es-PE"/>
          </a:p>
        </p:txBody>
      </p:sp>
      <p:sp>
        <p:nvSpPr>
          <p:cNvPr id="6" name="Marcador de número de diapositiva 5"/>
          <p:cNvSpPr>
            <a:spLocks noGrp="1"/>
          </p:cNvSpPr>
          <p:nvPr>
            <p:ph type="sldNum" sz="quarter" idx="12"/>
          </p:nvPr>
        </p:nvSpPr>
        <p:spPr/>
        <p:txBody>
          <a:bodyPr/>
          <a:lstStyle/>
          <a:p>
            <a:fld id="{05127BEB-47AF-44ED-B554-0B1B2779EC32}" type="slidenum">
              <a:rPr lang="es-PE" smtClean="0"/>
              <a:t>‹Nº›</a:t>
            </a:fld>
            <a:endParaRPr lang="es-PE"/>
          </a:p>
        </p:txBody>
      </p:sp>
    </p:spTree>
    <p:extLst>
      <p:ext uri="{BB962C8B-B14F-4D97-AF65-F5344CB8AC3E}">
        <p14:creationId xmlns:p14="http://schemas.microsoft.com/office/powerpoint/2010/main" val="39081266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PE"/>
          </a:p>
        </p:txBody>
      </p:sp>
      <p:sp>
        <p:nvSpPr>
          <p:cNvPr id="3" name="Marcador de texto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Editar el estilo de texto del patrón</a:t>
            </a:r>
          </a:p>
        </p:txBody>
      </p:sp>
      <p:sp>
        <p:nvSpPr>
          <p:cNvPr id="4" name="Marcador de fecha 3"/>
          <p:cNvSpPr>
            <a:spLocks noGrp="1"/>
          </p:cNvSpPr>
          <p:nvPr>
            <p:ph type="dt" sz="half" idx="10"/>
          </p:nvPr>
        </p:nvSpPr>
        <p:spPr/>
        <p:txBody>
          <a:bodyPr/>
          <a:lstStyle/>
          <a:p>
            <a:fld id="{941A305E-4538-4EF4-8A60-B26B92A54B1E}" type="datetime1">
              <a:rPr lang="es-PE" smtClean="0"/>
              <a:t>10/06/2025</a:t>
            </a:fld>
            <a:endParaRPr lang="es-PE"/>
          </a:p>
        </p:txBody>
      </p:sp>
      <p:sp>
        <p:nvSpPr>
          <p:cNvPr id="5" name="Marcador de pie de página 4"/>
          <p:cNvSpPr>
            <a:spLocks noGrp="1"/>
          </p:cNvSpPr>
          <p:nvPr>
            <p:ph type="ftr" sz="quarter" idx="11"/>
          </p:nvPr>
        </p:nvSpPr>
        <p:spPr/>
        <p:txBody>
          <a:bodyPr/>
          <a:lstStyle/>
          <a:p>
            <a:endParaRPr lang="es-PE"/>
          </a:p>
        </p:txBody>
      </p:sp>
      <p:sp>
        <p:nvSpPr>
          <p:cNvPr id="6" name="Marcador de número de diapositiva 5"/>
          <p:cNvSpPr>
            <a:spLocks noGrp="1"/>
          </p:cNvSpPr>
          <p:nvPr>
            <p:ph type="sldNum" sz="quarter" idx="12"/>
          </p:nvPr>
        </p:nvSpPr>
        <p:spPr/>
        <p:txBody>
          <a:bodyPr/>
          <a:lstStyle/>
          <a:p>
            <a:fld id="{05127BEB-47AF-44ED-B554-0B1B2779EC32}" type="slidenum">
              <a:rPr lang="es-PE" smtClean="0"/>
              <a:t>‹Nº›</a:t>
            </a:fld>
            <a:endParaRPr lang="es-PE"/>
          </a:p>
        </p:txBody>
      </p:sp>
    </p:spTree>
    <p:extLst>
      <p:ext uri="{BB962C8B-B14F-4D97-AF65-F5344CB8AC3E}">
        <p14:creationId xmlns:p14="http://schemas.microsoft.com/office/powerpoint/2010/main" val="5902097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endParaRPr lang="es-PE"/>
          </a:p>
        </p:txBody>
      </p:sp>
      <p:sp>
        <p:nvSpPr>
          <p:cNvPr id="3" name="Marcador de contenido 2"/>
          <p:cNvSpPr>
            <a:spLocks noGrp="1"/>
          </p:cNvSpPr>
          <p:nvPr>
            <p:ph sz="half" idx="1"/>
          </p:nvPr>
        </p:nvSpPr>
        <p:spPr>
          <a:xfrm>
            <a:off x="838200" y="1825625"/>
            <a:ext cx="5181600" cy="435133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contenido 3"/>
          <p:cNvSpPr>
            <a:spLocks noGrp="1"/>
          </p:cNvSpPr>
          <p:nvPr>
            <p:ph sz="half" idx="2"/>
          </p:nvPr>
        </p:nvSpPr>
        <p:spPr>
          <a:xfrm>
            <a:off x="6172200" y="1825625"/>
            <a:ext cx="5181600" cy="435133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5" name="Marcador de fecha 4"/>
          <p:cNvSpPr>
            <a:spLocks noGrp="1"/>
          </p:cNvSpPr>
          <p:nvPr>
            <p:ph type="dt" sz="half" idx="10"/>
          </p:nvPr>
        </p:nvSpPr>
        <p:spPr/>
        <p:txBody>
          <a:bodyPr/>
          <a:lstStyle/>
          <a:p>
            <a:fld id="{4B8C0D03-F6BA-4A21-A06F-6339D28516A6}" type="datetime1">
              <a:rPr lang="es-PE" smtClean="0"/>
              <a:t>10/06/2025</a:t>
            </a:fld>
            <a:endParaRPr lang="es-PE"/>
          </a:p>
        </p:txBody>
      </p:sp>
      <p:sp>
        <p:nvSpPr>
          <p:cNvPr id="6" name="Marcador de pie de página 5"/>
          <p:cNvSpPr>
            <a:spLocks noGrp="1"/>
          </p:cNvSpPr>
          <p:nvPr>
            <p:ph type="ftr" sz="quarter" idx="11"/>
          </p:nvPr>
        </p:nvSpPr>
        <p:spPr/>
        <p:txBody>
          <a:bodyPr/>
          <a:lstStyle/>
          <a:p>
            <a:endParaRPr lang="es-PE"/>
          </a:p>
        </p:txBody>
      </p:sp>
      <p:sp>
        <p:nvSpPr>
          <p:cNvPr id="7" name="Marcador de número de diapositiva 6"/>
          <p:cNvSpPr>
            <a:spLocks noGrp="1"/>
          </p:cNvSpPr>
          <p:nvPr>
            <p:ph type="sldNum" sz="quarter" idx="12"/>
          </p:nvPr>
        </p:nvSpPr>
        <p:spPr/>
        <p:txBody>
          <a:bodyPr/>
          <a:lstStyle/>
          <a:p>
            <a:fld id="{05127BEB-47AF-44ED-B554-0B1B2779EC32}" type="slidenum">
              <a:rPr lang="es-PE" smtClean="0"/>
              <a:t>‹Nº›</a:t>
            </a:fld>
            <a:endParaRPr lang="es-PE"/>
          </a:p>
        </p:txBody>
      </p:sp>
    </p:spTree>
    <p:extLst>
      <p:ext uri="{BB962C8B-B14F-4D97-AF65-F5344CB8AC3E}">
        <p14:creationId xmlns:p14="http://schemas.microsoft.com/office/powerpoint/2010/main" val="892326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p:nvPr>
        </p:nvSpPr>
        <p:spPr>
          <a:xfrm>
            <a:off x="839788" y="365125"/>
            <a:ext cx="10515600" cy="1325563"/>
          </a:xfrm>
        </p:spPr>
        <p:txBody>
          <a:bodyPr/>
          <a:lstStyle/>
          <a:p>
            <a:r>
              <a:rPr lang="es-ES"/>
              <a:t>Haga clic para modificar el estilo de título del patrón</a:t>
            </a:r>
            <a:endParaRPr lang="es-PE"/>
          </a:p>
        </p:txBody>
      </p:sp>
      <p:sp>
        <p:nvSpPr>
          <p:cNvPr id="3" name="Marcador de texto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el estilo de texto del patrón</a:t>
            </a:r>
          </a:p>
        </p:txBody>
      </p:sp>
      <p:sp>
        <p:nvSpPr>
          <p:cNvPr id="4" name="Marcador de contenido 3"/>
          <p:cNvSpPr>
            <a:spLocks noGrp="1"/>
          </p:cNvSpPr>
          <p:nvPr>
            <p:ph sz="half" idx="2"/>
          </p:nvPr>
        </p:nvSpPr>
        <p:spPr>
          <a:xfrm>
            <a:off x="839788" y="2505075"/>
            <a:ext cx="5157787" cy="368458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5" name="Marcador de texto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el estilo de texto del patrón</a:t>
            </a:r>
          </a:p>
        </p:txBody>
      </p:sp>
      <p:sp>
        <p:nvSpPr>
          <p:cNvPr id="6" name="Marcador de contenido 5"/>
          <p:cNvSpPr>
            <a:spLocks noGrp="1"/>
          </p:cNvSpPr>
          <p:nvPr>
            <p:ph sz="quarter" idx="4"/>
          </p:nvPr>
        </p:nvSpPr>
        <p:spPr>
          <a:xfrm>
            <a:off x="6172200" y="2505075"/>
            <a:ext cx="5183188" cy="368458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7" name="Marcador de fecha 6"/>
          <p:cNvSpPr>
            <a:spLocks noGrp="1"/>
          </p:cNvSpPr>
          <p:nvPr>
            <p:ph type="dt" sz="half" idx="10"/>
          </p:nvPr>
        </p:nvSpPr>
        <p:spPr/>
        <p:txBody>
          <a:bodyPr/>
          <a:lstStyle/>
          <a:p>
            <a:fld id="{281DEDF0-8D30-4849-A407-C5D7E9B17A2C}" type="datetime1">
              <a:rPr lang="es-PE" smtClean="0"/>
              <a:t>10/06/2025</a:t>
            </a:fld>
            <a:endParaRPr lang="es-PE"/>
          </a:p>
        </p:txBody>
      </p:sp>
      <p:sp>
        <p:nvSpPr>
          <p:cNvPr id="8" name="Marcador de pie de página 7"/>
          <p:cNvSpPr>
            <a:spLocks noGrp="1"/>
          </p:cNvSpPr>
          <p:nvPr>
            <p:ph type="ftr" sz="quarter" idx="11"/>
          </p:nvPr>
        </p:nvSpPr>
        <p:spPr/>
        <p:txBody>
          <a:bodyPr/>
          <a:lstStyle/>
          <a:p>
            <a:endParaRPr lang="es-PE"/>
          </a:p>
        </p:txBody>
      </p:sp>
      <p:sp>
        <p:nvSpPr>
          <p:cNvPr id="9" name="Marcador de número de diapositiva 8"/>
          <p:cNvSpPr>
            <a:spLocks noGrp="1"/>
          </p:cNvSpPr>
          <p:nvPr>
            <p:ph type="sldNum" sz="quarter" idx="12"/>
          </p:nvPr>
        </p:nvSpPr>
        <p:spPr/>
        <p:txBody>
          <a:bodyPr/>
          <a:lstStyle/>
          <a:p>
            <a:fld id="{05127BEB-47AF-44ED-B554-0B1B2779EC32}" type="slidenum">
              <a:rPr lang="es-PE" smtClean="0"/>
              <a:t>‹Nº›</a:t>
            </a:fld>
            <a:endParaRPr lang="es-PE"/>
          </a:p>
        </p:txBody>
      </p:sp>
    </p:spTree>
    <p:extLst>
      <p:ext uri="{BB962C8B-B14F-4D97-AF65-F5344CB8AC3E}">
        <p14:creationId xmlns:p14="http://schemas.microsoft.com/office/powerpoint/2010/main" val="13468913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endParaRPr lang="es-PE"/>
          </a:p>
        </p:txBody>
      </p:sp>
      <p:sp>
        <p:nvSpPr>
          <p:cNvPr id="3" name="Marcador de fecha 2"/>
          <p:cNvSpPr>
            <a:spLocks noGrp="1"/>
          </p:cNvSpPr>
          <p:nvPr>
            <p:ph type="dt" sz="half" idx="10"/>
          </p:nvPr>
        </p:nvSpPr>
        <p:spPr/>
        <p:txBody>
          <a:bodyPr/>
          <a:lstStyle/>
          <a:p>
            <a:fld id="{43ABBC62-67A9-46F9-AEFA-81CED7CEB82B}" type="datetime1">
              <a:rPr lang="es-PE" smtClean="0"/>
              <a:t>10/06/2025</a:t>
            </a:fld>
            <a:endParaRPr lang="es-PE"/>
          </a:p>
        </p:txBody>
      </p:sp>
      <p:sp>
        <p:nvSpPr>
          <p:cNvPr id="4" name="Marcador de pie de página 3"/>
          <p:cNvSpPr>
            <a:spLocks noGrp="1"/>
          </p:cNvSpPr>
          <p:nvPr>
            <p:ph type="ftr" sz="quarter" idx="11"/>
          </p:nvPr>
        </p:nvSpPr>
        <p:spPr/>
        <p:txBody>
          <a:bodyPr/>
          <a:lstStyle/>
          <a:p>
            <a:endParaRPr lang="es-PE"/>
          </a:p>
        </p:txBody>
      </p:sp>
      <p:sp>
        <p:nvSpPr>
          <p:cNvPr id="5" name="Marcador de número de diapositiva 4"/>
          <p:cNvSpPr>
            <a:spLocks noGrp="1"/>
          </p:cNvSpPr>
          <p:nvPr>
            <p:ph type="sldNum" sz="quarter" idx="12"/>
          </p:nvPr>
        </p:nvSpPr>
        <p:spPr/>
        <p:txBody>
          <a:bodyPr/>
          <a:lstStyle/>
          <a:p>
            <a:fld id="{05127BEB-47AF-44ED-B554-0B1B2779EC32}" type="slidenum">
              <a:rPr lang="es-PE" smtClean="0"/>
              <a:t>‹Nº›</a:t>
            </a:fld>
            <a:endParaRPr lang="es-PE"/>
          </a:p>
        </p:txBody>
      </p:sp>
    </p:spTree>
    <p:extLst>
      <p:ext uri="{BB962C8B-B14F-4D97-AF65-F5344CB8AC3E}">
        <p14:creationId xmlns:p14="http://schemas.microsoft.com/office/powerpoint/2010/main" val="22327915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p:cNvSpPr>
            <a:spLocks noGrp="1"/>
          </p:cNvSpPr>
          <p:nvPr>
            <p:ph type="dt" sz="half" idx="10"/>
          </p:nvPr>
        </p:nvSpPr>
        <p:spPr/>
        <p:txBody>
          <a:bodyPr/>
          <a:lstStyle/>
          <a:p>
            <a:fld id="{8B2B5955-A839-45BA-BE11-BEEAB6F0DF39}" type="datetime1">
              <a:rPr lang="es-PE" smtClean="0"/>
              <a:t>10/06/2025</a:t>
            </a:fld>
            <a:endParaRPr lang="es-PE"/>
          </a:p>
        </p:txBody>
      </p:sp>
      <p:sp>
        <p:nvSpPr>
          <p:cNvPr id="3" name="Marcador de pie de página 2"/>
          <p:cNvSpPr>
            <a:spLocks noGrp="1"/>
          </p:cNvSpPr>
          <p:nvPr>
            <p:ph type="ftr" sz="quarter" idx="11"/>
          </p:nvPr>
        </p:nvSpPr>
        <p:spPr/>
        <p:txBody>
          <a:bodyPr/>
          <a:lstStyle/>
          <a:p>
            <a:endParaRPr lang="es-PE"/>
          </a:p>
        </p:txBody>
      </p:sp>
      <p:sp>
        <p:nvSpPr>
          <p:cNvPr id="4" name="Marcador de número de diapositiva 3"/>
          <p:cNvSpPr>
            <a:spLocks noGrp="1"/>
          </p:cNvSpPr>
          <p:nvPr>
            <p:ph type="sldNum" sz="quarter" idx="12"/>
          </p:nvPr>
        </p:nvSpPr>
        <p:spPr/>
        <p:txBody>
          <a:bodyPr/>
          <a:lstStyle/>
          <a:p>
            <a:fld id="{05127BEB-47AF-44ED-B554-0B1B2779EC32}" type="slidenum">
              <a:rPr lang="es-PE" smtClean="0"/>
              <a:t>‹Nº›</a:t>
            </a:fld>
            <a:endParaRPr lang="es-PE"/>
          </a:p>
        </p:txBody>
      </p:sp>
    </p:spTree>
    <p:extLst>
      <p:ext uri="{BB962C8B-B14F-4D97-AF65-F5344CB8AC3E}">
        <p14:creationId xmlns:p14="http://schemas.microsoft.com/office/powerpoint/2010/main" val="37625229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PE"/>
          </a:p>
        </p:txBody>
      </p:sp>
      <p:sp>
        <p:nvSpPr>
          <p:cNvPr id="3" name="Marcador de contenido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el estilo de texto del patrón</a:t>
            </a:r>
          </a:p>
        </p:txBody>
      </p:sp>
      <p:sp>
        <p:nvSpPr>
          <p:cNvPr id="5" name="Marcador de fecha 4"/>
          <p:cNvSpPr>
            <a:spLocks noGrp="1"/>
          </p:cNvSpPr>
          <p:nvPr>
            <p:ph type="dt" sz="half" idx="10"/>
          </p:nvPr>
        </p:nvSpPr>
        <p:spPr/>
        <p:txBody>
          <a:bodyPr/>
          <a:lstStyle/>
          <a:p>
            <a:fld id="{2F2DA779-49C3-4A80-962C-836EB22A4F27}" type="datetime1">
              <a:rPr lang="es-PE" smtClean="0"/>
              <a:t>10/06/2025</a:t>
            </a:fld>
            <a:endParaRPr lang="es-PE"/>
          </a:p>
        </p:txBody>
      </p:sp>
      <p:sp>
        <p:nvSpPr>
          <p:cNvPr id="6" name="Marcador de pie de página 5"/>
          <p:cNvSpPr>
            <a:spLocks noGrp="1"/>
          </p:cNvSpPr>
          <p:nvPr>
            <p:ph type="ftr" sz="quarter" idx="11"/>
          </p:nvPr>
        </p:nvSpPr>
        <p:spPr/>
        <p:txBody>
          <a:bodyPr/>
          <a:lstStyle/>
          <a:p>
            <a:endParaRPr lang="es-PE"/>
          </a:p>
        </p:txBody>
      </p:sp>
      <p:sp>
        <p:nvSpPr>
          <p:cNvPr id="7" name="Marcador de número de diapositiva 6"/>
          <p:cNvSpPr>
            <a:spLocks noGrp="1"/>
          </p:cNvSpPr>
          <p:nvPr>
            <p:ph type="sldNum" sz="quarter" idx="12"/>
          </p:nvPr>
        </p:nvSpPr>
        <p:spPr/>
        <p:txBody>
          <a:bodyPr/>
          <a:lstStyle/>
          <a:p>
            <a:fld id="{05127BEB-47AF-44ED-B554-0B1B2779EC32}" type="slidenum">
              <a:rPr lang="es-PE" smtClean="0"/>
              <a:t>‹Nº›</a:t>
            </a:fld>
            <a:endParaRPr lang="es-PE"/>
          </a:p>
        </p:txBody>
      </p:sp>
    </p:spTree>
    <p:extLst>
      <p:ext uri="{BB962C8B-B14F-4D97-AF65-F5344CB8AC3E}">
        <p14:creationId xmlns:p14="http://schemas.microsoft.com/office/powerpoint/2010/main" val="19502186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PE"/>
          </a:p>
        </p:txBody>
      </p:sp>
      <p:sp>
        <p:nvSpPr>
          <p:cNvPr id="3" name="Marcador de posición de imagen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PE"/>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el estilo de texto del patrón</a:t>
            </a:r>
          </a:p>
        </p:txBody>
      </p:sp>
      <p:sp>
        <p:nvSpPr>
          <p:cNvPr id="5" name="Marcador de fecha 4"/>
          <p:cNvSpPr>
            <a:spLocks noGrp="1"/>
          </p:cNvSpPr>
          <p:nvPr>
            <p:ph type="dt" sz="half" idx="10"/>
          </p:nvPr>
        </p:nvSpPr>
        <p:spPr/>
        <p:txBody>
          <a:bodyPr/>
          <a:lstStyle/>
          <a:p>
            <a:fld id="{A2993D5A-FBDB-44E9-88A4-426546FABA3A}" type="datetime1">
              <a:rPr lang="es-PE" smtClean="0"/>
              <a:t>10/06/2025</a:t>
            </a:fld>
            <a:endParaRPr lang="es-PE"/>
          </a:p>
        </p:txBody>
      </p:sp>
      <p:sp>
        <p:nvSpPr>
          <p:cNvPr id="6" name="Marcador de pie de página 5"/>
          <p:cNvSpPr>
            <a:spLocks noGrp="1"/>
          </p:cNvSpPr>
          <p:nvPr>
            <p:ph type="ftr" sz="quarter" idx="11"/>
          </p:nvPr>
        </p:nvSpPr>
        <p:spPr/>
        <p:txBody>
          <a:bodyPr/>
          <a:lstStyle/>
          <a:p>
            <a:endParaRPr lang="es-PE"/>
          </a:p>
        </p:txBody>
      </p:sp>
      <p:sp>
        <p:nvSpPr>
          <p:cNvPr id="7" name="Marcador de número de diapositiva 6"/>
          <p:cNvSpPr>
            <a:spLocks noGrp="1"/>
          </p:cNvSpPr>
          <p:nvPr>
            <p:ph type="sldNum" sz="quarter" idx="12"/>
          </p:nvPr>
        </p:nvSpPr>
        <p:spPr/>
        <p:txBody>
          <a:bodyPr/>
          <a:lstStyle/>
          <a:p>
            <a:fld id="{05127BEB-47AF-44ED-B554-0B1B2779EC32}" type="slidenum">
              <a:rPr lang="es-PE" smtClean="0"/>
              <a:t>‹Nº›</a:t>
            </a:fld>
            <a:endParaRPr lang="es-PE"/>
          </a:p>
        </p:txBody>
      </p:sp>
    </p:spTree>
    <p:extLst>
      <p:ext uri="{BB962C8B-B14F-4D97-AF65-F5344CB8AC3E}">
        <p14:creationId xmlns:p14="http://schemas.microsoft.com/office/powerpoint/2010/main" val="2997835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endParaRPr lang="es-PE"/>
          </a:p>
        </p:txBody>
      </p:sp>
      <p:sp>
        <p:nvSpPr>
          <p:cNvPr id="3" name="Marcador de texto vertical 2"/>
          <p:cNvSpPr>
            <a:spLocks noGrp="1"/>
          </p:cNvSpPr>
          <p:nvPr>
            <p:ph type="body" orient="vert" idx="1"/>
          </p:nvPr>
        </p:nvSpPr>
        <p:spPr/>
        <p:txBody>
          <a:bodyPr vert="eaVert"/>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fecha 3"/>
          <p:cNvSpPr>
            <a:spLocks noGrp="1"/>
          </p:cNvSpPr>
          <p:nvPr>
            <p:ph type="dt" sz="half" idx="10"/>
          </p:nvPr>
        </p:nvSpPr>
        <p:spPr/>
        <p:txBody>
          <a:bodyPr/>
          <a:lstStyle/>
          <a:p>
            <a:fld id="{E29A0FB7-A1C8-4A8B-B6E8-CA79B2374D45}" type="datetime1">
              <a:rPr lang="es-PE" smtClean="0"/>
              <a:t>10/06/2025</a:t>
            </a:fld>
            <a:endParaRPr lang="es-PE"/>
          </a:p>
        </p:txBody>
      </p:sp>
      <p:sp>
        <p:nvSpPr>
          <p:cNvPr id="5" name="Marcador de pie de página 4"/>
          <p:cNvSpPr>
            <a:spLocks noGrp="1"/>
          </p:cNvSpPr>
          <p:nvPr>
            <p:ph type="ftr" sz="quarter" idx="11"/>
          </p:nvPr>
        </p:nvSpPr>
        <p:spPr/>
        <p:txBody>
          <a:bodyPr/>
          <a:lstStyle/>
          <a:p>
            <a:endParaRPr lang="es-PE"/>
          </a:p>
        </p:txBody>
      </p:sp>
      <p:sp>
        <p:nvSpPr>
          <p:cNvPr id="6" name="Marcador de número de diapositiva 5"/>
          <p:cNvSpPr>
            <a:spLocks noGrp="1"/>
          </p:cNvSpPr>
          <p:nvPr>
            <p:ph type="sldNum" sz="quarter" idx="12"/>
          </p:nvPr>
        </p:nvSpPr>
        <p:spPr/>
        <p:txBody>
          <a:bodyPr/>
          <a:lstStyle/>
          <a:p>
            <a:fld id="{05127BEB-47AF-44ED-B554-0B1B2779EC32}" type="slidenum">
              <a:rPr lang="es-PE" smtClean="0"/>
              <a:t>‹Nº›</a:t>
            </a:fld>
            <a:endParaRPr lang="es-PE"/>
          </a:p>
        </p:txBody>
      </p:sp>
    </p:spTree>
    <p:extLst>
      <p:ext uri="{BB962C8B-B14F-4D97-AF65-F5344CB8AC3E}">
        <p14:creationId xmlns:p14="http://schemas.microsoft.com/office/powerpoint/2010/main" val="1591411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PE"/>
          </a:p>
        </p:txBody>
      </p:sp>
      <p:sp>
        <p:nvSpPr>
          <p:cNvPr id="3" name="Marcador de texto vertical 2"/>
          <p:cNvSpPr>
            <a:spLocks noGrp="1"/>
          </p:cNvSpPr>
          <p:nvPr>
            <p:ph type="body" orient="vert" idx="1"/>
          </p:nvPr>
        </p:nvSpPr>
        <p:spPr>
          <a:xfrm>
            <a:off x="838200" y="365125"/>
            <a:ext cx="7734300" cy="5811838"/>
          </a:xfrm>
        </p:spPr>
        <p:txBody>
          <a:bodyPr vert="eaVert"/>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fecha 3"/>
          <p:cNvSpPr>
            <a:spLocks noGrp="1"/>
          </p:cNvSpPr>
          <p:nvPr>
            <p:ph type="dt" sz="half" idx="10"/>
          </p:nvPr>
        </p:nvSpPr>
        <p:spPr/>
        <p:txBody>
          <a:bodyPr/>
          <a:lstStyle/>
          <a:p>
            <a:fld id="{63FDB39A-4106-4328-83B7-5B6A35462136}" type="datetime1">
              <a:rPr lang="es-PE" smtClean="0"/>
              <a:t>10/06/2025</a:t>
            </a:fld>
            <a:endParaRPr lang="es-PE"/>
          </a:p>
        </p:txBody>
      </p:sp>
      <p:sp>
        <p:nvSpPr>
          <p:cNvPr id="5" name="Marcador de pie de página 4"/>
          <p:cNvSpPr>
            <a:spLocks noGrp="1"/>
          </p:cNvSpPr>
          <p:nvPr>
            <p:ph type="ftr" sz="quarter" idx="11"/>
          </p:nvPr>
        </p:nvSpPr>
        <p:spPr/>
        <p:txBody>
          <a:bodyPr/>
          <a:lstStyle/>
          <a:p>
            <a:endParaRPr lang="es-PE"/>
          </a:p>
        </p:txBody>
      </p:sp>
      <p:sp>
        <p:nvSpPr>
          <p:cNvPr id="6" name="Marcador de número de diapositiva 5"/>
          <p:cNvSpPr>
            <a:spLocks noGrp="1"/>
          </p:cNvSpPr>
          <p:nvPr>
            <p:ph type="sldNum" sz="quarter" idx="12"/>
          </p:nvPr>
        </p:nvSpPr>
        <p:spPr/>
        <p:txBody>
          <a:bodyPr/>
          <a:lstStyle/>
          <a:p>
            <a:fld id="{05127BEB-47AF-44ED-B554-0B1B2779EC32}" type="slidenum">
              <a:rPr lang="es-PE" smtClean="0"/>
              <a:t>‹Nº›</a:t>
            </a:fld>
            <a:endParaRPr lang="es-PE"/>
          </a:p>
        </p:txBody>
      </p:sp>
    </p:spTree>
    <p:extLst>
      <p:ext uri="{BB962C8B-B14F-4D97-AF65-F5344CB8AC3E}">
        <p14:creationId xmlns:p14="http://schemas.microsoft.com/office/powerpoint/2010/main" val="8474066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57200" y="1420283"/>
            <a:ext cx="5181600" cy="980017"/>
          </a:xfrm>
        </p:spPr>
        <p:txBody>
          <a:bodyPr/>
          <a:lstStyle/>
          <a:p>
            <a:r>
              <a:rPr lang="en-US"/>
              <a:t>Click to edit Master title style</a:t>
            </a:r>
          </a:p>
        </p:txBody>
      </p:sp>
      <p:sp>
        <p:nvSpPr>
          <p:cNvPr id="3" name="Subtitle 2"/>
          <p:cNvSpPr>
            <a:spLocks noGrp="1"/>
          </p:cNvSpPr>
          <p:nvPr>
            <p:ph type="subTitle" idx="1"/>
          </p:nvPr>
        </p:nvSpPr>
        <p:spPr>
          <a:xfrm>
            <a:off x="914400" y="2590800"/>
            <a:ext cx="4267200" cy="1168400"/>
          </a:xfrm>
        </p:spPr>
        <p:txBody>
          <a:bodyPr/>
          <a:lstStyle>
            <a:lvl1pPr marL="0" indent="0" algn="ctr">
              <a:buNone/>
              <a:defRPr>
                <a:solidFill>
                  <a:schemeClr val="tx1">
                    <a:tint val="75000"/>
                  </a:schemeClr>
                </a:solidFill>
              </a:defRPr>
            </a:lvl1pPr>
            <a:lvl2pPr marL="304815" indent="0" algn="ctr">
              <a:buNone/>
              <a:defRPr>
                <a:solidFill>
                  <a:schemeClr val="tx1">
                    <a:tint val="75000"/>
                  </a:schemeClr>
                </a:solidFill>
              </a:defRPr>
            </a:lvl2pPr>
            <a:lvl3pPr marL="609630" indent="0" algn="ctr">
              <a:buNone/>
              <a:defRPr>
                <a:solidFill>
                  <a:schemeClr val="tx1">
                    <a:tint val="75000"/>
                  </a:schemeClr>
                </a:solidFill>
              </a:defRPr>
            </a:lvl3pPr>
            <a:lvl4pPr marL="914446" indent="0" algn="ctr">
              <a:buNone/>
              <a:defRPr>
                <a:solidFill>
                  <a:schemeClr val="tx1">
                    <a:tint val="75000"/>
                  </a:schemeClr>
                </a:solidFill>
              </a:defRPr>
            </a:lvl4pPr>
            <a:lvl5pPr marL="1219261" indent="0" algn="ctr">
              <a:buNone/>
              <a:defRPr>
                <a:solidFill>
                  <a:schemeClr val="tx1">
                    <a:tint val="75000"/>
                  </a:schemeClr>
                </a:solidFill>
              </a:defRPr>
            </a:lvl5pPr>
            <a:lvl6pPr marL="1524076" indent="0" algn="ctr">
              <a:buNone/>
              <a:defRPr>
                <a:solidFill>
                  <a:schemeClr val="tx1">
                    <a:tint val="75000"/>
                  </a:schemeClr>
                </a:solidFill>
              </a:defRPr>
            </a:lvl6pPr>
            <a:lvl7pPr marL="1828891" indent="0" algn="ctr">
              <a:buNone/>
              <a:defRPr>
                <a:solidFill>
                  <a:schemeClr val="tx1">
                    <a:tint val="75000"/>
                  </a:schemeClr>
                </a:solidFill>
              </a:defRPr>
            </a:lvl7pPr>
            <a:lvl8pPr marL="2133707" indent="0" algn="ctr">
              <a:buNone/>
              <a:defRPr>
                <a:solidFill>
                  <a:schemeClr val="tx1">
                    <a:tint val="75000"/>
                  </a:schemeClr>
                </a:solidFill>
              </a:defRPr>
            </a:lvl8pPr>
            <a:lvl9pPr marL="2438522"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pPr defTabSz="609630"/>
            <a:fld id="{FF9AD559-A633-48DD-ACDE-0D66C4E5631E}" type="datetime1">
              <a:rPr lang="es-PE" smtClean="0">
                <a:solidFill>
                  <a:prstClr val="black">
                    <a:tint val="75000"/>
                  </a:prstClr>
                </a:solidFill>
              </a:rPr>
              <a:t>10/06/2025</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pPr defTabSz="609630"/>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pPr defTabSz="609630"/>
            <a:fld id="{B6F15528-21DE-4FAA-801E-634DDDAF4B2B}" type="slidenum">
              <a:rPr lang="en-US" smtClean="0">
                <a:solidFill>
                  <a:prstClr val="black">
                    <a:tint val="75000"/>
                  </a:prstClr>
                </a:solidFill>
              </a:rPr>
              <a:pPr defTabSz="609630"/>
              <a:t>‹Nº›</a:t>
            </a:fld>
            <a:endParaRPr lang="en-US">
              <a:solidFill>
                <a:prstClr val="black">
                  <a:tint val="75000"/>
                </a:prstClr>
              </a:solidFill>
            </a:endParaRPr>
          </a:p>
        </p:txBody>
      </p:sp>
    </p:spTree>
    <p:extLst>
      <p:ext uri="{BB962C8B-B14F-4D97-AF65-F5344CB8AC3E}">
        <p14:creationId xmlns:p14="http://schemas.microsoft.com/office/powerpoint/2010/main" val="142615156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defTabSz="609630"/>
            <a:fld id="{8C02FD7E-4A3F-45A8-B566-DDF87EC22DD3}" type="datetime1">
              <a:rPr lang="es-PE" smtClean="0">
                <a:solidFill>
                  <a:prstClr val="black">
                    <a:tint val="75000"/>
                  </a:prstClr>
                </a:solidFill>
              </a:rPr>
              <a:t>10/06/2025</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pPr defTabSz="609630"/>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pPr defTabSz="609630"/>
            <a:fld id="{B6F15528-21DE-4FAA-801E-634DDDAF4B2B}" type="slidenum">
              <a:rPr lang="en-US" smtClean="0">
                <a:solidFill>
                  <a:prstClr val="black">
                    <a:tint val="75000"/>
                  </a:prstClr>
                </a:solidFill>
              </a:rPr>
              <a:pPr defTabSz="609630"/>
              <a:t>‹Nº›</a:t>
            </a:fld>
            <a:endParaRPr lang="en-US">
              <a:solidFill>
                <a:prstClr val="black">
                  <a:tint val="75000"/>
                </a:prstClr>
              </a:solidFill>
            </a:endParaRPr>
          </a:p>
        </p:txBody>
      </p:sp>
    </p:spTree>
    <p:extLst>
      <p:ext uri="{BB962C8B-B14F-4D97-AF65-F5344CB8AC3E}">
        <p14:creationId xmlns:p14="http://schemas.microsoft.com/office/powerpoint/2010/main" val="67730166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81542" y="2937934"/>
            <a:ext cx="5181600" cy="908050"/>
          </a:xfrm>
        </p:spPr>
        <p:txBody>
          <a:bodyPr anchor="t"/>
          <a:lstStyle>
            <a:lvl1pPr algn="l">
              <a:defRPr sz="2667" b="1" cap="all"/>
            </a:lvl1pPr>
          </a:lstStyle>
          <a:p>
            <a:r>
              <a:rPr lang="en-US"/>
              <a:t>Click to edit Master title style</a:t>
            </a:r>
          </a:p>
        </p:txBody>
      </p:sp>
      <p:sp>
        <p:nvSpPr>
          <p:cNvPr id="3" name="Text Placeholder 2"/>
          <p:cNvSpPr>
            <a:spLocks noGrp="1"/>
          </p:cNvSpPr>
          <p:nvPr>
            <p:ph type="body" idx="1"/>
          </p:nvPr>
        </p:nvSpPr>
        <p:spPr>
          <a:xfrm>
            <a:off x="481542" y="1937809"/>
            <a:ext cx="5181600" cy="1000125"/>
          </a:xfrm>
        </p:spPr>
        <p:txBody>
          <a:bodyPr anchor="b"/>
          <a:lstStyle>
            <a:lvl1pPr marL="0" indent="0">
              <a:buNone/>
              <a:defRPr sz="1333">
                <a:solidFill>
                  <a:schemeClr val="tx1">
                    <a:tint val="75000"/>
                  </a:schemeClr>
                </a:solidFill>
              </a:defRPr>
            </a:lvl1pPr>
            <a:lvl2pPr marL="304815" indent="0">
              <a:buNone/>
              <a:defRPr sz="1200">
                <a:solidFill>
                  <a:schemeClr val="tx1">
                    <a:tint val="75000"/>
                  </a:schemeClr>
                </a:solidFill>
              </a:defRPr>
            </a:lvl2pPr>
            <a:lvl3pPr marL="609630" indent="0">
              <a:buNone/>
              <a:defRPr sz="1067">
                <a:solidFill>
                  <a:schemeClr val="tx1">
                    <a:tint val="75000"/>
                  </a:schemeClr>
                </a:solidFill>
              </a:defRPr>
            </a:lvl3pPr>
            <a:lvl4pPr marL="914446" indent="0">
              <a:buNone/>
              <a:defRPr sz="933">
                <a:solidFill>
                  <a:schemeClr val="tx1">
                    <a:tint val="75000"/>
                  </a:schemeClr>
                </a:solidFill>
              </a:defRPr>
            </a:lvl4pPr>
            <a:lvl5pPr marL="1219261" indent="0">
              <a:buNone/>
              <a:defRPr sz="933">
                <a:solidFill>
                  <a:schemeClr val="tx1">
                    <a:tint val="75000"/>
                  </a:schemeClr>
                </a:solidFill>
              </a:defRPr>
            </a:lvl5pPr>
            <a:lvl6pPr marL="1524076" indent="0">
              <a:buNone/>
              <a:defRPr sz="933">
                <a:solidFill>
                  <a:schemeClr val="tx1">
                    <a:tint val="75000"/>
                  </a:schemeClr>
                </a:solidFill>
              </a:defRPr>
            </a:lvl6pPr>
            <a:lvl7pPr marL="1828891" indent="0">
              <a:buNone/>
              <a:defRPr sz="933">
                <a:solidFill>
                  <a:schemeClr val="tx1">
                    <a:tint val="75000"/>
                  </a:schemeClr>
                </a:solidFill>
              </a:defRPr>
            </a:lvl7pPr>
            <a:lvl8pPr marL="2133707" indent="0">
              <a:buNone/>
              <a:defRPr sz="933">
                <a:solidFill>
                  <a:schemeClr val="tx1">
                    <a:tint val="75000"/>
                  </a:schemeClr>
                </a:solidFill>
              </a:defRPr>
            </a:lvl8pPr>
            <a:lvl9pPr marL="2438522" indent="0">
              <a:buNone/>
              <a:defRPr sz="933">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defTabSz="609630"/>
            <a:fld id="{CE3CCD89-AC9B-4A81-95EB-26E774CAC999}" type="datetime1">
              <a:rPr lang="es-PE" smtClean="0">
                <a:solidFill>
                  <a:prstClr val="black">
                    <a:tint val="75000"/>
                  </a:prstClr>
                </a:solidFill>
              </a:rPr>
              <a:t>10/06/2025</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pPr defTabSz="609630"/>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pPr defTabSz="609630"/>
            <a:fld id="{B6F15528-21DE-4FAA-801E-634DDDAF4B2B}" type="slidenum">
              <a:rPr lang="en-US" smtClean="0">
                <a:solidFill>
                  <a:prstClr val="black">
                    <a:tint val="75000"/>
                  </a:prstClr>
                </a:solidFill>
              </a:rPr>
              <a:pPr defTabSz="609630"/>
              <a:t>‹Nº›</a:t>
            </a:fld>
            <a:endParaRPr lang="en-US">
              <a:solidFill>
                <a:prstClr val="black">
                  <a:tint val="75000"/>
                </a:prstClr>
              </a:solidFill>
            </a:endParaRPr>
          </a:p>
        </p:txBody>
      </p:sp>
    </p:spTree>
    <p:extLst>
      <p:ext uri="{BB962C8B-B14F-4D97-AF65-F5344CB8AC3E}">
        <p14:creationId xmlns:p14="http://schemas.microsoft.com/office/powerpoint/2010/main" val="32574435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304800" y="1066800"/>
            <a:ext cx="2692400" cy="3017309"/>
          </a:xfrm>
        </p:spPr>
        <p:txBody>
          <a:bodyPr/>
          <a:lstStyle>
            <a:lvl1pPr>
              <a:defRPr sz="1867"/>
            </a:lvl1pPr>
            <a:lvl2pPr>
              <a:defRPr sz="1600"/>
            </a:lvl2pPr>
            <a:lvl3pPr>
              <a:defRPr sz="1333"/>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3098800" y="1066800"/>
            <a:ext cx="2692400" cy="3017309"/>
          </a:xfrm>
        </p:spPr>
        <p:txBody>
          <a:bodyPr/>
          <a:lstStyle>
            <a:lvl1pPr>
              <a:defRPr sz="1867"/>
            </a:lvl1pPr>
            <a:lvl2pPr>
              <a:defRPr sz="1600"/>
            </a:lvl2pPr>
            <a:lvl3pPr>
              <a:defRPr sz="1333"/>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pPr defTabSz="609630"/>
            <a:fld id="{B0FFFC7C-A9B3-4658-B095-05B7774E10EA}" type="datetime1">
              <a:rPr lang="es-PE" smtClean="0">
                <a:solidFill>
                  <a:prstClr val="black">
                    <a:tint val="75000"/>
                  </a:prstClr>
                </a:solidFill>
              </a:rPr>
              <a:t>10/06/2025</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pPr defTabSz="609630"/>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pPr defTabSz="609630"/>
            <a:fld id="{B6F15528-21DE-4FAA-801E-634DDDAF4B2B}" type="slidenum">
              <a:rPr lang="en-US" smtClean="0">
                <a:solidFill>
                  <a:prstClr val="black">
                    <a:tint val="75000"/>
                  </a:prstClr>
                </a:solidFill>
              </a:rPr>
              <a:pPr defTabSz="609630"/>
              <a:t>‹Nº›</a:t>
            </a:fld>
            <a:endParaRPr lang="en-US">
              <a:solidFill>
                <a:prstClr val="black">
                  <a:tint val="75000"/>
                </a:prstClr>
              </a:solidFill>
            </a:endParaRPr>
          </a:p>
        </p:txBody>
      </p:sp>
    </p:spTree>
    <p:extLst>
      <p:ext uri="{BB962C8B-B14F-4D97-AF65-F5344CB8AC3E}">
        <p14:creationId xmlns:p14="http://schemas.microsoft.com/office/powerpoint/2010/main" val="427863596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304800" y="1023409"/>
            <a:ext cx="2693459" cy="426508"/>
          </a:xfrm>
        </p:spPr>
        <p:txBody>
          <a:bodyPr anchor="b"/>
          <a:lstStyle>
            <a:lvl1pPr marL="0" indent="0">
              <a:buNone/>
              <a:defRPr sz="1600" b="1"/>
            </a:lvl1pPr>
            <a:lvl2pPr marL="304815" indent="0">
              <a:buNone/>
              <a:defRPr sz="1333" b="1"/>
            </a:lvl2pPr>
            <a:lvl3pPr marL="609630" indent="0">
              <a:buNone/>
              <a:defRPr sz="1200" b="1"/>
            </a:lvl3pPr>
            <a:lvl4pPr marL="914446" indent="0">
              <a:buNone/>
              <a:defRPr sz="1067" b="1"/>
            </a:lvl4pPr>
            <a:lvl5pPr marL="1219261" indent="0">
              <a:buNone/>
              <a:defRPr sz="1067" b="1"/>
            </a:lvl5pPr>
            <a:lvl6pPr marL="1524076" indent="0">
              <a:buNone/>
              <a:defRPr sz="1067" b="1"/>
            </a:lvl6pPr>
            <a:lvl7pPr marL="1828891" indent="0">
              <a:buNone/>
              <a:defRPr sz="1067" b="1"/>
            </a:lvl7pPr>
            <a:lvl8pPr marL="2133707" indent="0">
              <a:buNone/>
              <a:defRPr sz="1067" b="1"/>
            </a:lvl8pPr>
            <a:lvl9pPr marL="2438522" indent="0">
              <a:buNone/>
              <a:defRPr sz="1067" b="1"/>
            </a:lvl9pPr>
          </a:lstStyle>
          <a:p>
            <a:pPr lvl="0"/>
            <a:r>
              <a:rPr lang="en-US"/>
              <a:t>Click to edit Master text styles</a:t>
            </a:r>
          </a:p>
        </p:txBody>
      </p:sp>
      <p:sp>
        <p:nvSpPr>
          <p:cNvPr id="4" name="Content Placeholder 3"/>
          <p:cNvSpPr>
            <a:spLocks noGrp="1"/>
          </p:cNvSpPr>
          <p:nvPr>
            <p:ph sz="half" idx="2"/>
          </p:nvPr>
        </p:nvSpPr>
        <p:spPr>
          <a:xfrm>
            <a:off x="304800" y="1449917"/>
            <a:ext cx="2693459" cy="2634192"/>
          </a:xfrm>
        </p:spPr>
        <p:txBody>
          <a:bodyPr/>
          <a:lstStyle>
            <a:lvl1pPr>
              <a:defRPr sz="1600"/>
            </a:lvl1pPr>
            <a:lvl2pPr>
              <a:defRPr sz="1333"/>
            </a:lvl2pPr>
            <a:lvl3pPr>
              <a:defRPr sz="1200"/>
            </a:lvl3pPr>
            <a:lvl4pPr>
              <a:defRPr sz="1067"/>
            </a:lvl4pPr>
            <a:lvl5pPr>
              <a:defRPr sz="1067"/>
            </a:lvl5pPr>
            <a:lvl6pPr>
              <a:defRPr sz="1067"/>
            </a:lvl6pPr>
            <a:lvl7pPr>
              <a:defRPr sz="1067"/>
            </a:lvl7pPr>
            <a:lvl8pPr>
              <a:defRPr sz="1067"/>
            </a:lvl8pPr>
            <a:lvl9pPr>
              <a:defRPr sz="106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3096684" y="1023409"/>
            <a:ext cx="2694517" cy="426508"/>
          </a:xfrm>
        </p:spPr>
        <p:txBody>
          <a:bodyPr anchor="b"/>
          <a:lstStyle>
            <a:lvl1pPr marL="0" indent="0">
              <a:buNone/>
              <a:defRPr sz="1600" b="1"/>
            </a:lvl1pPr>
            <a:lvl2pPr marL="304815" indent="0">
              <a:buNone/>
              <a:defRPr sz="1333" b="1"/>
            </a:lvl2pPr>
            <a:lvl3pPr marL="609630" indent="0">
              <a:buNone/>
              <a:defRPr sz="1200" b="1"/>
            </a:lvl3pPr>
            <a:lvl4pPr marL="914446" indent="0">
              <a:buNone/>
              <a:defRPr sz="1067" b="1"/>
            </a:lvl4pPr>
            <a:lvl5pPr marL="1219261" indent="0">
              <a:buNone/>
              <a:defRPr sz="1067" b="1"/>
            </a:lvl5pPr>
            <a:lvl6pPr marL="1524076" indent="0">
              <a:buNone/>
              <a:defRPr sz="1067" b="1"/>
            </a:lvl6pPr>
            <a:lvl7pPr marL="1828891" indent="0">
              <a:buNone/>
              <a:defRPr sz="1067" b="1"/>
            </a:lvl7pPr>
            <a:lvl8pPr marL="2133707" indent="0">
              <a:buNone/>
              <a:defRPr sz="1067" b="1"/>
            </a:lvl8pPr>
            <a:lvl9pPr marL="2438522" indent="0">
              <a:buNone/>
              <a:defRPr sz="1067" b="1"/>
            </a:lvl9pPr>
          </a:lstStyle>
          <a:p>
            <a:pPr lvl="0"/>
            <a:r>
              <a:rPr lang="en-US"/>
              <a:t>Click to edit Master text styles</a:t>
            </a:r>
          </a:p>
        </p:txBody>
      </p:sp>
      <p:sp>
        <p:nvSpPr>
          <p:cNvPr id="6" name="Content Placeholder 5"/>
          <p:cNvSpPr>
            <a:spLocks noGrp="1"/>
          </p:cNvSpPr>
          <p:nvPr>
            <p:ph sz="quarter" idx="4"/>
          </p:nvPr>
        </p:nvSpPr>
        <p:spPr>
          <a:xfrm>
            <a:off x="3096684" y="1449917"/>
            <a:ext cx="2694517" cy="2634192"/>
          </a:xfrm>
        </p:spPr>
        <p:txBody>
          <a:bodyPr/>
          <a:lstStyle>
            <a:lvl1pPr>
              <a:defRPr sz="1600"/>
            </a:lvl1pPr>
            <a:lvl2pPr>
              <a:defRPr sz="1333"/>
            </a:lvl2pPr>
            <a:lvl3pPr>
              <a:defRPr sz="1200"/>
            </a:lvl3pPr>
            <a:lvl4pPr>
              <a:defRPr sz="1067"/>
            </a:lvl4pPr>
            <a:lvl5pPr>
              <a:defRPr sz="1067"/>
            </a:lvl5pPr>
            <a:lvl6pPr>
              <a:defRPr sz="1067"/>
            </a:lvl6pPr>
            <a:lvl7pPr>
              <a:defRPr sz="1067"/>
            </a:lvl7pPr>
            <a:lvl8pPr>
              <a:defRPr sz="1067"/>
            </a:lvl8pPr>
            <a:lvl9pPr>
              <a:defRPr sz="106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pPr defTabSz="609630"/>
            <a:fld id="{C98357E6-B3D4-4061-8B35-CAE56D66540A}" type="datetime1">
              <a:rPr lang="es-PE" smtClean="0">
                <a:solidFill>
                  <a:prstClr val="black">
                    <a:tint val="75000"/>
                  </a:prstClr>
                </a:solidFill>
              </a:rPr>
              <a:t>10/06/2025</a:t>
            </a:fld>
            <a:endParaRPr lang="en-US">
              <a:solidFill>
                <a:prstClr val="black">
                  <a:tint val="75000"/>
                </a:prstClr>
              </a:solidFill>
            </a:endParaRPr>
          </a:p>
        </p:txBody>
      </p:sp>
      <p:sp>
        <p:nvSpPr>
          <p:cNvPr id="8" name="Footer Placeholder 7"/>
          <p:cNvSpPr>
            <a:spLocks noGrp="1"/>
          </p:cNvSpPr>
          <p:nvPr>
            <p:ph type="ftr" sz="quarter" idx="11"/>
          </p:nvPr>
        </p:nvSpPr>
        <p:spPr/>
        <p:txBody>
          <a:bodyPr/>
          <a:lstStyle/>
          <a:p>
            <a:pPr defTabSz="609630"/>
            <a:endParaRPr lang="en-US">
              <a:solidFill>
                <a:prstClr val="black">
                  <a:tint val="75000"/>
                </a:prstClr>
              </a:solidFill>
            </a:endParaRPr>
          </a:p>
        </p:txBody>
      </p:sp>
      <p:sp>
        <p:nvSpPr>
          <p:cNvPr id="9" name="Slide Number Placeholder 8"/>
          <p:cNvSpPr>
            <a:spLocks noGrp="1"/>
          </p:cNvSpPr>
          <p:nvPr>
            <p:ph type="sldNum" sz="quarter" idx="12"/>
          </p:nvPr>
        </p:nvSpPr>
        <p:spPr/>
        <p:txBody>
          <a:bodyPr/>
          <a:lstStyle/>
          <a:p>
            <a:pPr defTabSz="609630"/>
            <a:fld id="{B6F15528-21DE-4FAA-801E-634DDDAF4B2B}" type="slidenum">
              <a:rPr lang="en-US" smtClean="0">
                <a:solidFill>
                  <a:prstClr val="black">
                    <a:tint val="75000"/>
                  </a:prstClr>
                </a:solidFill>
              </a:rPr>
              <a:pPr defTabSz="609630"/>
              <a:t>‹Nº›</a:t>
            </a:fld>
            <a:endParaRPr lang="en-US">
              <a:solidFill>
                <a:prstClr val="black">
                  <a:tint val="75000"/>
                </a:prstClr>
              </a:solidFill>
            </a:endParaRPr>
          </a:p>
        </p:txBody>
      </p:sp>
    </p:spTree>
    <p:extLst>
      <p:ext uri="{BB962C8B-B14F-4D97-AF65-F5344CB8AC3E}">
        <p14:creationId xmlns:p14="http://schemas.microsoft.com/office/powerpoint/2010/main" val="30189607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pPr defTabSz="609630"/>
            <a:fld id="{A59504B0-6791-4FC7-ABF3-7E75AF957B30}" type="datetime1">
              <a:rPr lang="es-PE" smtClean="0">
                <a:solidFill>
                  <a:prstClr val="black">
                    <a:tint val="75000"/>
                  </a:prstClr>
                </a:solidFill>
              </a:rPr>
              <a:t>10/06/2025</a:t>
            </a:fld>
            <a:endParaRPr lang="en-US">
              <a:solidFill>
                <a:prstClr val="black">
                  <a:tint val="75000"/>
                </a:prstClr>
              </a:solidFill>
            </a:endParaRPr>
          </a:p>
        </p:txBody>
      </p:sp>
      <p:sp>
        <p:nvSpPr>
          <p:cNvPr id="4" name="Footer Placeholder 3"/>
          <p:cNvSpPr>
            <a:spLocks noGrp="1"/>
          </p:cNvSpPr>
          <p:nvPr>
            <p:ph type="ftr" sz="quarter" idx="11"/>
          </p:nvPr>
        </p:nvSpPr>
        <p:spPr/>
        <p:txBody>
          <a:bodyPr/>
          <a:lstStyle/>
          <a:p>
            <a:pPr defTabSz="609630"/>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pPr defTabSz="609630"/>
            <a:fld id="{B6F15528-21DE-4FAA-801E-634DDDAF4B2B}" type="slidenum">
              <a:rPr lang="en-US" smtClean="0">
                <a:solidFill>
                  <a:prstClr val="black">
                    <a:tint val="75000"/>
                  </a:prstClr>
                </a:solidFill>
              </a:rPr>
              <a:pPr defTabSz="609630"/>
              <a:t>‹Nº›</a:t>
            </a:fld>
            <a:endParaRPr lang="en-US">
              <a:solidFill>
                <a:prstClr val="black">
                  <a:tint val="75000"/>
                </a:prstClr>
              </a:solidFill>
            </a:endParaRPr>
          </a:p>
        </p:txBody>
      </p:sp>
    </p:spTree>
    <p:extLst>
      <p:ext uri="{BB962C8B-B14F-4D97-AF65-F5344CB8AC3E}">
        <p14:creationId xmlns:p14="http://schemas.microsoft.com/office/powerpoint/2010/main" val="216184141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defTabSz="609630"/>
            <a:fld id="{2F83DE5F-83A6-46F0-AA28-CD4963D01588}" type="datetime1">
              <a:rPr lang="es-PE" smtClean="0">
                <a:solidFill>
                  <a:prstClr val="black">
                    <a:tint val="75000"/>
                  </a:prstClr>
                </a:solidFill>
              </a:rPr>
              <a:t>10/06/2025</a:t>
            </a:fld>
            <a:endParaRPr lang="en-US">
              <a:solidFill>
                <a:prstClr val="black">
                  <a:tint val="75000"/>
                </a:prstClr>
              </a:solidFill>
            </a:endParaRPr>
          </a:p>
        </p:txBody>
      </p:sp>
      <p:sp>
        <p:nvSpPr>
          <p:cNvPr id="3" name="Footer Placeholder 2"/>
          <p:cNvSpPr>
            <a:spLocks noGrp="1"/>
          </p:cNvSpPr>
          <p:nvPr>
            <p:ph type="ftr" sz="quarter" idx="11"/>
          </p:nvPr>
        </p:nvSpPr>
        <p:spPr/>
        <p:txBody>
          <a:bodyPr/>
          <a:lstStyle/>
          <a:p>
            <a:pPr defTabSz="609630"/>
            <a:endParaRPr lang="en-US">
              <a:solidFill>
                <a:prstClr val="black">
                  <a:tint val="75000"/>
                </a:prstClr>
              </a:solidFill>
            </a:endParaRPr>
          </a:p>
        </p:txBody>
      </p:sp>
      <p:sp>
        <p:nvSpPr>
          <p:cNvPr id="4" name="Slide Number Placeholder 3"/>
          <p:cNvSpPr>
            <a:spLocks noGrp="1"/>
          </p:cNvSpPr>
          <p:nvPr>
            <p:ph type="sldNum" sz="quarter" idx="12"/>
          </p:nvPr>
        </p:nvSpPr>
        <p:spPr/>
        <p:txBody>
          <a:bodyPr/>
          <a:lstStyle/>
          <a:p>
            <a:pPr defTabSz="609630"/>
            <a:fld id="{B6F15528-21DE-4FAA-801E-634DDDAF4B2B}" type="slidenum">
              <a:rPr lang="en-US" smtClean="0">
                <a:solidFill>
                  <a:prstClr val="black">
                    <a:tint val="75000"/>
                  </a:prstClr>
                </a:solidFill>
              </a:rPr>
              <a:pPr defTabSz="609630"/>
              <a:t>‹Nº›</a:t>
            </a:fld>
            <a:endParaRPr lang="en-US">
              <a:solidFill>
                <a:prstClr val="black">
                  <a:tint val="75000"/>
                </a:prstClr>
              </a:solidFill>
            </a:endParaRPr>
          </a:p>
        </p:txBody>
      </p:sp>
    </p:spTree>
    <p:extLst>
      <p:ext uri="{BB962C8B-B14F-4D97-AF65-F5344CB8AC3E}">
        <p14:creationId xmlns:p14="http://schemas.microsoft.com/office/powerpoint/2010/main" val="308454918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4800" y="182033"/>
            <a:ext cx="2005542" cy="774700"/>
          </a:xfrm>
        </p:spPr>
        <p:txBody>
          <a:bodyPr anchor="b"/>
          <a:lstStyle>
            <a:lvl1pPr algn="l">
              <a:defRPr sz="1333" b="1"/>
            </a:lvl1pPr>
          </a:lstStyle>
          <a:p>
            <a:r>
              <a:rPr lang="en-US"/>
              <a:t>Click to edit Master title style</a:t>
            </a:r>
          </a:p>
        </p:txBody>
      </p:sp>
      <p:sp>
        <p:nvSpPr>
          <p:cNvPr id="3" name="Content Placeholder 2"/>
          <p:cNvSpPr>
            <a:spLocks noGrp="1"/>
          </p:cNvSpPr>
          <p:nvPr>
            <p:ph idx="1"/>
          </p:nvPr>
        </p:nvSpPr>
        <p:spPr>
          <a:xfrm>
            <a:off x="2383367" y="182034"/>
            <a:ext cx="3407833" cy="3902075"/>
          </a:xfrm>
        </p:spPr>
        <p:txBody>
          <a:bodyPr/>
          <a:lstStyle>
            <a:lvl1pPr>
              <a:defRPr sz="2133"/>
            </a:lvl1pPr>
            <a:lvl2pPr>
              <a:defRPr sz="1867"/>
            </a:lvl2pPr>
            <a:lvl3pPr>
              <a:defRPr sz="1600"/>
            </a:lvl3pPr>
            <a:lvl4pPr>
              <a:defRPr sz="1333"/>
            </a:lvl4pPr>
            <a:lvl5pPr>
              <a:defRPr sz="1333"/>
            </a:lvl5pPr>
            <a:lvl6pPr>
              <a:defRPr sz="1333"/>
            </a:lvl6pPr>
            <a:lvl7pPr>
              <a:defRPr sz="1333"/>
            </a:lvl7pPr>
            <a:lvl8pPr>
              <a:defRPr sz="1333"/>
            </a:lvl8pPr>
            <a:lvl9pPr>
              <a:defRPr sz="133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304800" y="956734"/>
            <a:ext cx="2005542" cy="3127375"/>
          </a:xfrm>
        </p:spPr>
        <p:txBody>
          <a:bodyPr/>
          <a:lstStyle>
            <a:lvl1pPr marL="0" indent="0">
              <a:buNone/>
              <a:defRPr sz="933"/>
            </a:lvl1pPr>
            <a:lvl2pPr marL="304815" indent="0">
              <a:buNone/>
              <a:defRPr sz="800"/>
            </a:lvl2pPr>
            <a:lvl3pPr marL="609630" indent="0">
              <a:buNone/>
              <a:defRPr sz="667"/>
            </a:lvl3pPr>
            <a:lvl4pPr marL="914446" indent="0">
              <a:buNone/>
              <a:defRPr sz="600"/>
            </a:lvl4pPr>
            <a:lvl5pPr marL="1219261" indent="0">
              <a:buNone/>
              <a:defRPr sz="600"/>
            </a:lvl5pPr>
            <a:lvl6pPr marL="1524076" indent="0">
              <a:buNone/>
              <a:defRPr sz="600"/>
            </a:lvl6pPr>
            <a:lvl7pPr marL="1828891" indent="0">
              <a:buNone/>
              <a:defRPr sz="600"/>
            </a:lvl7pPr>
            <a:lvl8pPr marL="2133707" indent="0">
              <a:buNone/>
              <a:defRPr sz="600"/>
            </a:lvl8pPr>
            <a:lvl9pPr marL="2438522" indent="0">
              <a:buNone/>
              <a:defRPr sz="600"/>
            </a:lvl9pPr>
          </a:lstStyle>
          <a:p>
            <a:pPr lvl="0"/>
            <a:r>
              <a:rPr lang="en-US"/>
              <a:t>Click to edit Master text styles</a:t>
            </a:r>
          </a:p>
        </p:txBody>
      </p:sp>
      <p:sp>
        <p:nvSpPr>
          <p:cNvPr id="5" name="Date Placeholder 4"/>
          <p:cNvSpPr>
            <a:spLocks noGrp="1"/>
          </p:cNvSpPr>
          <p:nvPr>
            <p:ph type="dt" sz="half" idx="10"/>
          </p:nvPr>
        </p:nvSpPr>
        <p:spPr/>
        <p:txBody>
          <a:bodyPr/>
          <a:lstStyle/>
          <a:p>
            <a:pPr defTabSz="609630"/>
            <a:fld id="{A09CCEA5-2D46-4A08-8A29-F9CB16A38BE6}" type="datetime1">
              <a:rPr lang="es-PE" smtClean="0">
                <a:solidFill>
                  <a:prstClr val="black">
                    <a:tint val="75000"/>
                  </a:prstClr>
                </a:solidFill>
              </a:rPr>
              <a:t>10/06/2025</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pPr defTabSz="609630"/>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pPr defTabSz="609630"/>
            <a:fld id="{B6F15528-21DE-4FAA-801E-634DDDAF4B2B}" type="slidenum">
              <a:rPr lang="en-US" smtClean="0">
                <a:solidFill>
                  <a:prstClr val="black">
                    <a:tint val="75000"/>
                  </a:prstClr>
                </a:solidFill>
              </a:rPr>
              <a:pPr defTabSz="609630"/>
              <a:t>‹Nº›</a:t>
            </a:fld>
            <a:endParaRPr lang="en-US">
              <a:solidFill>
                <a:prstClr val="black">
                  <a:tint val="75000"/>
                </a:prstClr>
              </a:solidFill>
            </a:endParaRPr>
          </a:p>
        </p:txBody>
      </p:sp>
    </p:spTree>
    <p:extLst>
      <p:ext uri="{BB962C8B-B14F-4D97-AF65-F5344CB8AC3E}">
        <p14:creationId xmlns:p14="http://schemas.microsoft.com/office/powerpoint/2010/main" val="278843122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94859" y="3200400"/>
            <a:ext cx="3657600" cy="377825"/>
          </a:xfrm>
        </p:spPr>
        <p:txBody>
          <a:bodyPr anchor="b"/>
          <a:lstStyle>
            <a:lvl1pPr algn="l">
              <a:defRPr sz="1333" b="1"/>
            </a:lvl1pPr>
          </a:lstStyle>
          <a:p>
            <a:r>
              <a:rPr lang="en-US"/>
              <a:t>Click to edit Master title style</a:t>
            </a:r>
          </a:p>
        </p:txBody>
      </p:sp>
      <p:sp>
        <p:nvSpPr>
          <p:cNvPr id="3" name="Picture Placeholder 2"/>
          <p:cNvSpPr>
            <a:spLocks noGrp="1"/>
          </p:cNvSpPr>
          <p:nvPr>
            <p:ph type="pic" idx="1"/>
          </p:nvPr>
        </p:nvSpPr>
        <p:spPr>
          <a:xfrm>
            <a:off x="1194859" y="408517"/>
            <a:ext cx="3657600" cy="2743200"/>
          </a:xfrm>
        </p:spPr>
        <p:txBody>
          <a:bodyPr/>
          <a:lstStyle>
            <a:lvl1pPr marL="0" indent="0">
              <a:buNone/>
              <a:defRPr sz="2133"/>
            </a:lvl1pPr>
            <a:lvl2pPr marL="304815" indent="0">
              <a:buNone/>
              <a:defRPr sz="1867"/>
            </a:lvl2pPr>
            <a:lvl3pPr marL="609630" indent="0">
              <a:buNone/>
              <a:defRPr sz="1600"/>
            </a:lvl3pPr>
            <a:lvl4pPr marL="914446" indent="0">
              <a:buNone/>
              <a:defRPr sz="1333"/>
            </a:lvl4pPr>
            <a:lvl5pPr marL="1219261" indent="0">
              <a:buNone/>
              <a:defRPr sz="1333"/>
            </a:lvl5pPr>
            <a:lvl6pPr marL="1524076" indent="0">
              <a:buNone/>
              <a:defRPr sz="1333"/>
            </a:lvl6pPr>
            <a:lvl7pPr marL="1828891" indent="0">
              <a:buNone/>
              <a:defRPr sz="1333"/>
            </a:lvl7pPr>
            <a:lvl8pPr marL="2133707" indent="0">
              <a:buNone/>
              <a:defRPr sz="1333"/>
            </a:lvl8pPr>
            <a:lvl9pPr marL="2438522" indent="0">
              <a:buNone/>
              <a:defRPr sz="1333"/>
            </a:lvl9pPr>
          </a:lstStyle>
          <a:p>
            <a:endParaRPr lang="en-US"/>
          </a:p>
        </p:txBody>
      </p:sp>
      <p:sp>
        <p:nvSpPr>
          <p:cNvPr id="4" name="Text Placeholder 3"/>
          <p:cNvSpPr>
            <a:spLocks noGrp="1"/>
          </p:cNvSpPr>
          <p:nvPr>
            <p:ph type="body" sz="half" idx="2"/>
          </p:nvPr>
        </p:nvSpPr>
        <p:spPr>
          <a:xfrm>
            <a:off x="1194859" y="3578225"/>
            <a:ext cx="3657600" cy="536575"/>
          </a:xfrm>
        </p:spPr>
        <p:txBody>
          <a:bodyPr/>
          <a:lstStyle>
            <a:lvl1pPr marL="0" indent="0">
              <a:buNone/>
              <a:defRPr sz="933"/>
            </a:lvl1pPr>
            <a:lvl2pPr marL="304815" indent="0">
              <a:buNone/>
              <a:defRPr sz="800"/>
            </a:lvl2pPr>
            <a:lvl3pPr marL="609630" indent="0">
              <a:buNone/>
              <a:defRPr sz="667"/>
            </a:lvl3pPr>
            <a:lvl4pPr marL="914446" indent="0">
              <a:buNone/>
              <a:defRPr sz="600"/>
            </a:lvl4pPr>
            <a:lvl5pPr marL="1219261" indent="0">
              <a:buNone/>
              <a:defRPr sz="600"/>
            </a:lvl5pPr>
            <a:lvl6pPr marL="1524076" indent="0">
              <a:buNone/>
              <a:defRPr sz="600"/>
            </a:lvl6pPr>
            <a:lvl7pPr marL="1828891" indent="0">
              <a:buNone/>
              <a:defRPr sz="600"/>
            </a:lvl7pPr>
            <a:lvl8pPr marL="2133707" indent="0">
              <a:buNone/>
              <a:defRPr sz="600"/>
            </a:lvl8pPr>
            <a:lvl9pPr marL="2438522" indent="0">
              <a:buNone/>
              <a:defRPr sz="600"/>
            </a:lvl9pPr>
          </a:lstStyle>
          <a:p>
            <a:pPr lvl="0"/>
            <a:r>
              <a:rPr lang="en-US"/>
              <a:t>Click to edit Master text styles</a:t>
            </a:r>
          </a:p>
        </p:txBody>
      </p:sp>
      <p:sp>
        <p:nvSpPr>
          <p:cNvPr id="5" name="Date Placeholder 4"/>
          <p:cNvSpPr>
            <a:spLocks noGrp="1"/>
          </p:cNvSpPr>
          <p:nvPr>
            <p:ph type="dt" sz="half" idx="10"/>
          </p:nvPr>
        </p:nvSpPr>
        <p:spPr/>
        <p:txBody>
          <a:bodyPr/>
          <a:lstStyle/>
          <a:p>
            <a:pPr defTabSz="609630"/>
            <a:fld id="{4861341F-A270-44A2-A4D2-A03FA24430FD}" type="datetime1">
              <a:rPr lang="es-PE" smtClean="0">
                <a:solidFill>
                  <a:prstClr val="black">
                    <a:tint val="75000"/>
                  </a:prstClr>
                </a:solidFill>
              </a:rPr>
              <a:t>10/06/2025</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pPr defTabSz="609630"/>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pPr defTabSz="609630"/>
            <a:fld id="{B6F15528-21DE-4FAA-801E-634DDDAF4B2B}" type="slidenum">
              <a:rPr lang="en-US" smtClean="0">
                <a:solidFill>
                  <a:prstClr val="black">
                    <a:tint val="75000"/>
                  </a:prstClr>
                </a:solidFill>
              </a:rPr>
              <a:pPr defTabSz="609630"/>
              <a:t>‹Nº›</a:t>
            </a:fld>
            <a:endParaRPr lang="en-US">
              <a:solidFill>
                <a:prstClr val="black">
                  <a:tint val="75000"/>
                </a:prstClr>
              </a:solidFill>
            </a:endParaRPr>
          </a:p>
        </p:txBody>
      </p:sp>
    </p:spTree>
    <p:extLst>
      <p:ext uri="{BB962C8B-B14F-4D97-AF65-F5344CB8AC3E}">
        <p14:creationId xmlns:p14="http://schemas.microsoft.com/office/powerpoint/2010/main" val="251081400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defTabSz="609630"/>
            <a:fld id="{0F231ADB-8132-4991-84B3-D37D40A3C3A1}" type="datetime1">
              <a:rPr lang="es-PE" smtClean="0">
                <a:solidFill>
                  <a:prstClr val="black">
                    <a:tint val="75000"/>
                  </a:prstClr>
                </a:solidFill>
              </a:rPr>
              <a:t>10/06/2025</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pPr defTabSz="609630"/>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pPr defTabSz="609630"/>
            <a:fld id="{B6F15528-21DE-4FAA-801E-634DDDAF4B2B}" type="slidenum">
              <a:rPr lang="en-US" smtClean="0">
                <a:solidFill>
                  <a:prstClr val="black">
                    <a:tint val="75000"/>
                  </a:prstClr>
                </a:solidFill>
              </a:rPr>
              <a:pPr defTabSz="609630"/>
              <a:t>‹Nº›</a:t>
            </a:fld>
            <a:endParaRPr lang="en-US">
              <a:solidFill>
                <a:prstClr val="black">
                  <a:tint val="75000"/>
                </a:prstClr>
              </a:solidFill>
            </a:endParaRPr>
          </a:p>
        </p:txBody>
      </p:sp>
    </p:spTree>
    <p:extLst>
      <p:ext uri="{BB962C8B-B14F-4D97-AF65-F5344CB8AC3E}">
        <p14:creationId xmlns:p14="http://schemas.microsoft.com/office/powerpoint/2010/main" val="384943577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419600" y="183092"/>
            <a:ext cx="1371600" cy="3901017"/>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304800" y="183092"/>
            <a:ext cx="4013200" cy="39010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defTabSz="609630"/>
            <a:fld id="{057FB1DD-81B4-4AC1-BBF1-2FEC8FFB6BE6}" type="datetime1">
              <a:rPr lang="es-PE" smtClean="0">
                <a:solidFill>
                  <a:prstClr val="black">
                    <a:tint val="75000"/>
                  </a:prstClr>
                </a:solidFill>
              </a:rPr>
              <a:t>10/06/2025</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pPr defTabSz="609630"/>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pPr defTabSz="609630"/>
            <a:fld id="{B6F15528-21DE-4FAA-801E-634DDDAF4B2B}" type="slidenum">
              <a:rPr lang="en-US" smtClean="0">
                <a:solidFill>
                  <a:prstClr val="black">
                    <a:tint val="75000"/>
                  </a:prstClr>
                </a:solidFill>
              </a:rPr>
              <a:pPr defTabSz="609630"/>
              <a:t>‹Nº›</a:t>
            </a:fld>
            <a:endParaRPr lang="en-US">
              <a:solidFill>
                <a:prstClr val="black">
                  <a:tint val="75000"/>
                </a:prstClr>
              </a:solidFill>
            </a:endParaRPr>
          </a:p>
        </p:txBody>
      </p:sp>
    </p:spTree>
    <p:extLst>
      <p:ext uri="{BB962C8B-B14F-4D97-AF65-F5344CB8AC3E}">
        <p14:creationId xmlns:p14="http://schemas.microsoft.com/office/powerpoint/2010/main" val="11326431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PE"/>
          </a:p>
        </p:txBody>
      </p:sp>
      <p:sp>
        <p:nvSpPr>
          <p:cNvPr id="3" name="Marcador de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fech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52328C8-5827-4102-B5A4-3B4509DEDE02}" type="datetime1">
              <a:rPr lang="es-PE" smtClean="0"/>
              <a:t>10/06/2025</a:t>
            </a:fld>
            <a:endParaRPr lang="es-PE"/>
          </a:p>
        </p:txBody>
      </p:sp>
      <p:sp>
        <p:nvSpPr>
          <p:cNvPr id="5" name="Marcador de pie de página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PE"/>
          </a:p>
        </p:txBody>
      </p:sp>
      <p:sp>
        <p:nvSpPr>
          <p:cNvPr id="6" name="Marcador de número de diapositiva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5127BEB-47AF-44ED-B554-0B1B2779EC32}" type="slidenum">
              <a:rPr lang="es-PE" smtClean="0"/>
              <a:t>‹Nº›</a:t>
            </a:fld>
            <a:endParaRPr lang="es-PE"/>
          </a:p>
        </p:txBody>
      </p:sp>
    </p:spTree>
    <p:extLst>
      <p:ext uri="{BB962C8B-B14F-4D97-AF65-F5344CB8AC3E}">
        <p14:creationId xmlns:p14="http://schemas.microsoft.com/office/powerpoint/2010/main" val="247976979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P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04800" y="183092"/>
            <a:ext cx="5486400" cy="762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304800" y="1066800"/>
            <a:ext cx="5486400" cy="301730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304800" y="4237567"/>
            <a:ext cx="1422400" cy="243417"/>
          </a:xfrm>
          <a:prstGeom prst="rect">
            <a:avLst/>
          </a:prstGeom>
        </p:spPr>
        <p:txBody>
          <a:bodyPr vert="horz" lIns="91440" tIns="45720" rIns="91440" bIns="45720" rtlCol="0" anchor="ctr"/>
          <a:lstStyle>
            <a:lvl1pPr algn="l">
              <a:defRPr sz="800">
                <a:solidFill>
                  <a:schemeClr val="tx1">
                    <a:tint val="75000"/>
                  </a:schemeClr>
                </a:solidFill>
              </a:defRPr>
            </a:lvl1pPr>
          </a:lstStyle>
          <a:p>
            <a:pPr defTabSz="609630"/>
            <a:fld id="{2F237A21-F2F8-46AA-87C8-2A0780D65DA1}" type="datetime1">
              <a:rPr lang="es-PE" smtClean="0">
                <a:solidFill>
                  <a:prstClr val="black">
                    <a:tint val="75000"/>
                  </a:prstClr>
                </a:solidFill>
              </a:rPr>
              <a:t>10/06/2025</a:t>
            </a:fld>
            <a:endParaRPr lang="en-US">
              <a:solidFill>
                <a:prstClr val="black">
                  <a:tint val="75000"/>
                </a:prstClr>
              </a:solidFill>
            </a:endParaRPr>
          </a:p>
        </p:txBody>
      </p:sp>
      <p:sp>
        <p:nvSpPr>
          <p:cNvPr id="5" name="Footer Placeholder 4"/>
          <p:cNvSpPr>
            <a:spLocks noGrp="1"/>
          </p:cNvSpPr>
          <p:nvPr>
            <p:ph type="ftr" sz="quarter" idx="3"/>
          </p:nvPr>
        </p:nvSpPr>
        <p:spPr>
          <a:xfrm>
            <a:off x="2082800" y="4237567"/>
            <a:ext cx="1930400" cy="243417"/>
          </a:xfrm>
          <a:prstGeom prst="rect">
            <a:avLst/>
          </a:prstGeom>
        </p:spPr>
        <p:txBody>
          <a:bodyPr vert="horz" lIns="91440" tIns="45720" rIns="91440" bIns="45720" rtlCol="0" anchor="ctr"/>
          <a:lstStyle>
            <a:lvl1pPr algn="ctr">
              <a:defRPr sz="800">
                <a:solidFill>
                  <a:schemeClr val="tx1">
                    <a:tint val="75000"/>
                  </a:schemeClr>
                </a:solidFill>
              </a:defRPr>
            </a:lvl1pPr>
          </a:lstStyle>
          <a:p>
            <a:pPr defTabSz="609630"/>
            <a:endParaRPr lang="en-US">
              <a:solidFill>
                <a:prstClr val="black">
                  <a:tint val="75000"/>
                </a:prstClr>
              </a:solidFill>
            </a:endParaRPr>
          </a:p>
        </p:txBody>
      </p:sp>
      <p:sp>
        <p:nvSpPr>
          <p:cNvPr id="6" name="Slide Number Placeholder 5"/>
          <p:cNvSpPr>
            <a:spLocks noGrp="1"/>
          </p:cNvSpPr>
          <p:nvPr>
            <p:ph type="sldNum" sz="quarter" idx="4"/>
          </p:nvPr>
        </p:nvSpPr>
        <p:spPr>
          <a:xfrm>
            <a:off x="4368800" y="4237567"/>
            <a:ext cx="1422400" cy="243417"/>
          </a:xfrm>
          <a:prstGeom prst="rect">
            <a:avLst/>
          </a:prstGeom>
        </p:spPr>
        <p:txBody>
          <a:bodyPr vert="horz" lIns="91440" tIns="45720" rIns="91440" bIns="45720" rtlCol="0" anchor="ctr"/>
          <a:lstStyle>
            <a:lvl1pPr algn="r">
              <a:defRPr sz="800">
                <a:solidFill>
                  <a:schemeClr val="tx1">
                    <a:tint val="75000"/>
                  </a:schemeClr>
                </a:solidFill>
              </a:defRPr>
            </a:lvl1pPr>
          </a:lstStyle>
          <a:p>
            <a:pPr defTabSz="609630"/>
            <a:fld id="{B6F15528-21DE-4FAA-801E-634DDDAF4B2B}" type="slidenum">
              <a:rPr lang="en-US" smtClean="0">
                <a:solidFill>
                  <a:prstClr val="black">
                    <a:tint val="75000"/>
                  </a:prstClr>
                </a:solidFill>
              </a:rPr>
              <a:pPr defTabSz="609630"/>
              <a:t>‹Nº›</a:t>
            </a:fld>
            <a:endParaRPr lang="en-US">
              <a:solidFill>
                <a:prstClr val="black">
                  <a:tint val="75000"/>
                </a:prstClr>
              </a:solidFill>
            </a:endParaRPr>
          </a:p>
        </p:txBody>
      </p:sp>
    </p:spTree>
    <p:extLst>
      <p:ext uri="{BB962C8B-B14F-4D97-AF65-F5344CB8AC3E}">
        <p14:creationId xmlns:p14="http://schemas.microsoft.com/office/powerpoint/2010/main" val="2800211021"/>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ftr="0" dt="0"/>
  <p:txStyles>
    <p:titleStyle>
      <a:lvl1pPr algn="ctr" defTabSz="609630" rtl="0" eaLnBrk="1" latinLnBrk="0" hangingPunct="1">
        <a:spcBef>
          <a:spcPct val="0"/>
        </a:spcBef>
        <a:buNone/>
        <a:defRPr sz="2933" kern="1200">
          <a:solidFill>
            <a:schemeClr val="tx1"/>
          </a:solidFill>
          <a:latin typeface="+mj-lt"/>
          <a:ea typeface="+mj-ea"/>
          <a:cs typeface="+mj-cs"/>
        </a:defRPr>
      </a:lvl1pPr>
    </p:titleStyle>
    <p:bodyStyle>
      <a:lvl1pPr marL="228611" indent="-228611" algn="l" defTabSz="609630" rtl="0" eaLnBrk="1" latinLnBrk="0" hangingPunct="1">
        <a:spcBef>
          <a:spcPct val="20000"/>
        </a:spcBef>
        <a:buFont typeface="Arial" pitchFamily="34" charset="0"/>
        <a:buChar char="•"/>
        <a:defRPr sz="2133" kern="1200">
          <a:solidFill>
            <a:schemeClr val="tx1"/>
          </a:solidFill>
          <a:latin typeface="+mn-lt"/>
          <a:ea typeface="+mn-ea"/>
          <a:cs typeface="+mn-cs"/>
        </a:defRPr>
      </a:lvl1pPr>
      <a:lvl2pPr marL="495325" indent="-190510" algn="l" defTabSz="609630" rtl="0" eaLnBrk="1" latinLnBrk="0" hangingPunct="1">
        <a:spcBef>
          <a:spcPct val="20000"/>
        </a:spcBef>
        <a:buFont typeface="Arial" pitchFamily="34" charset="0"/>
        <a:buChar char="–"/>
        <a:defRPr sz="1867" kern="1200">
          <a:solidFill>
            <a:schemeClr val="tx1"/>
          </a:solidFill>
          <a:latin typeface="+mn-lt"/>
          <a:ea typeface="+mn-ea"/>
          <a:cs typeface="+mn-cs"/>
        </a:defRPr>
      </a:lvl2pPr>
      <a:lvl3pPr marL="762038" indent="-152408" algn="l" defTabSz="609630" rtl="0" eaLnBrk="1" latinLnBrk="0" hangingPunct="1">
        <a:spcBef>
          <a:spcPct val="20000"/>
        </a:spcBef>
        <a:buFont typeface="Arial" pitchFamily="34" charset="0"/>
        <a:buChar char="•"/>
        <a:defRPr sz="1600" kern="1200">
          <a:solidFill>
            <a:schemeClr val="tx1"/>
          </a:solidFill>
          <a:latin typeface="+mn-lt"/>
          <a:ea typeface="+mn-ea"/>
          <a:cs typeface="+mn-cs"/>
        </a:defRPr>
      </a:lvl3pPr>
      <a:lvl4pPr marL="1066853"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4pPr>
      <a:lvl5pPr marL="137166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5pPr>
      <a:lvl6pPr marL="167648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6pPr>
      <a:lvl7pPr marL="198129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7pPr>
      <a:lvl8pPr marL="228611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8pPr>
      <a:lvl9pPr marL="2590930"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9pPr>
    </p:bodyStyle>
    <p:otherStyle>
      <a:defPPr>
        <a:defRPr lang="en-US"/>
      </a:defPPr>
      <a:lvl1pPr marL="0" algn="l" defTabSz="609630" rtl="0" eaLnBrk="1" latinLnBrk="0" hangingPunct="1">
        <a:defRPr sz="1200" kern="1200">
          <a:solidFill>
            <a:schemeClr val="tx1"/>
          </a:solidFill>
          <a:latin typeface="+mn-lt"/>
          <a:ea typeface="+mn-ea"/>
          <a:cs typeface="+mn-cs"/>
        </a:defRPr>
      </a:lvl1pPr>
      <a:lvl2pPr marL="304815" algn="l" defTabSz="609630" rtl="0" eaLnBrk="1" latinLnBrk="0" hangingPunct="1">
        <a:defRPr sz="1200" kern="1200">
          <a:solidFill>
            <a:schemeClr val="tx1"/>
          </a:solidFill>
          <a:latin typeface="+mn-lt"/>
          <a:ea typeface="+mn-ea"/>
          <a:cs typeface="+mn-cs"/>
        </a:defRPr>
      </a:lvl2pPr>
      <a:lvl3pPr marL="609630" algn="l" defTabSz="609630" rtl="0" eaLnBrk="1" latinLnBrk="0" hangingPunct="1">
        <a:defRPr sz="1200" kern="1200">
          <a:solidFill>
            <a:schemeClr val="tx1"/>
          </a:solidFill>
          <a:latin typeface="+mn-lt"/>
          <a:ea typeface="+mn-ea"/>
          <a:cs typeface="+mn-cs"/>
        </a:defRPr>
      </a:lvl3pPr>
      <a:lvl4pPr marL="914446" algn="l" defTabSz="609630" rtl="0" eaLnBrk="1" latinLnBrk="0" hangingPunct="1">
        <a:defRPr sz="1200" kern="1200">
          <a:solidFill>
            <a:schemeClr val="tx1"/>
          </a:solidFill>
          <a:latin typeface="+mn-lt"/>
          <a:ea typeface="+mn-ea"/>
          <a:cs typeface="+mn-cs"/>
        </a:defRPr>
      </a:lvl4pPr>
      <a:lvl5pPr marL="1219261" algn="l" defTabSz="609630" rtl="0" eaLnBrk="1" latinLnBrk="0" hangingPunct="1">
        <a:defRPr sz="1200" kern="1200">
          <a:solidFill>
            <a:schemeClr val="tx1"/>
          </a:solidFill>
          <a:latin typeface="+mn-lt"/>
          <a:ea typeface="+mn-ea"/>
          <a:cs typeface="+mn-cs"/>
        </a:defRPr>
      </a:lvl5pPr>
      <a:lvl6pPr marL="1524076" algn="l" defTabSz="609630" rtl="0" eaLnBrk="1" latinLnBrk="0" hangingPunct="1">
        <a:defRPr sz="1200" kern="1200">
          <a:solidFill>
            <a:schemeClr val="tx1"/>
          </a:solidFill>
          <a:latin typeface="+mn-lt"/>
          <a:ea typeface="+mn-ea"/>
          <a:cs typeface="+mn-cs"/>
        </a:defRPr>
      </a:lvl6pPr>
      <a:lvl7pPr marL="1828891" algn="l" defTabSz="609630" rtl="0" eaLnBrk="1" latinLnBrk="0" hangingPunct="1">
        <a:defRPr sz="1200" kern="1200">
          <a:solidFill>
            <a:schemeClr val="tx1"/>
          </a:solidFill>
          <a:latin typeface="+mn-lt"/>
          <a:ea typeface="+mn-ea"/>
          <a:cs typeface="+mn-cs"/>
        </a:defRPr>
      </a:lvl7pPr>
      <a:lvl8pPr marL="2133707" algn="l" defTabSz="609630" rtl="0" eaLnBrk="1" latinLnBrk="0" hangingPunct="1">
        <a:defRPr sz="1200" kern="1200">
          <a:solidFill>
            <a:schemeClr val="tx1"/>
          </a:solidFill>
          <a:latin typeface="+mn-lt"/>
          <a:ea typeface="+mn-ea"/>
          <a:cs typeface="+mn-cs"/>
        </a:defRPr>
      </a:lvl8pPr>
      <a:lvl9pPr marL="2438522" algn="l" defTabSz="609630" rtl="0" eaLnBrk="1" latinLnBrk="0" hangingPunct="1">
        <a:defRPr sz="12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Layout" Target="../slideLayouts/slideLayout18.xml"/><Relationship Id="rId5" Type="http://schemas.openxmlformats.org/officeDocument/2006/relationships/image" Target="../media/image7.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Layout" Target="../slideLayouts/slideLayout18.xml"/><Relationship Id="rId4" Type="http://schemas.openxmlformats.org/officeDocument/2006/relationships/image" Target="../media/image8.jpe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Layout" Target="../slideLayouts/slideLayout18.xml"/><Relationship Id="rId5" Type="http://schemas.openxmlformats.org/officeDocument/2006/relationships/image" Target="../media/image10.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Layout" Target="../slideLayouts/slideLayout18.xml"/><Relationship Id="rId5" Type="http://schemas.openxmlformats.org/officeDocument/2006/relationships/image" Target="../media/image12.png"/><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hyperlink" Target="https://doi.org/10.17268/agroind.sci.2022.01.12" TargetMode="External"/><Relationship Id="rId7"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Layout" Target="../slideLayouts/slideLayout18.xml"/><Relationship Id="rId6" Type="http://schemas.openxmlformats.org/officeDocument/2006/relationships/hyperlink" Target="https://doi.org/10.1016/j.atech.2025.100832" TargetMode="External"/><Relationship Id="rId5" Type="http://schemas.openxmlformats.org/officeDocument/2006/relationships/hyperlink" Target="https://doi.org/10.1016/j.indcrop.2020.112162" TargetMode="External"/><Relationship Id="rId4" Type="http://schemas.openxmlformats.org/officeDocument/2006/relationships/hyperlink" Target="https://doi.org/10.3389/fpls.2024.1341335"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upo 5">
            <a:extLst>
              <a:ext uri="{FF2B5EF4-FFF2-40B4-BE49-F238E27FC236}">
                <a16:creationId xmlns:a16="http://schemas.microsoft.com/office/drawing/2014/main" id="{1CCF4D3A-7576-4B68-B174-77B1F556F77A}"/>
              </a:ext>
            </a:extLst>
          </p:cNvPr>
          <p:cNvGrpSpPr/>
          <p:nvPr/>
        </p:nvGrpSpPr>
        <p:grpSpPr>
          <a:xfrm>
            <a:off x="0" y="6457565"/>
            <a:ext cx="12192000" cy="431847"/>
            <a:chOff x="0" y="6309373"/>
            <a:chExt cx="12192000" cy="431847"/>
          </a:xfrm>
        </p:grpSpPr>
        <p:pic>
          <p:nvPicPr>
            <p:cNvPr id="7" name="Imagen 6">
              <a:extLst>
                <a:ext uri="{FF2B5EF4-FFF2-40B4-BE49-F238E27FC236}">
                  <a16:creationId xmlns:a16="http://schemas.microsoft.com/office/drawing/2014/main" id="{0016073D-BF98-4ED4-B5AC-4163EF84E65E}"/>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r="15884"/>
            <a:stretch/>
          </p:blipFill>
          <p:spPr>
            <a:xfrm>
              <a:off x="0" y="6309887"/>
              <a:ext cx="10255348" cy="431333"/>
            </a:xfrm>
            <a:prstGeom prst="rect">
              <a:avLst/>
            </a:prstGeom>
          </p:spPr>
        </p:pic>
        <p:pic>
          <p:nvPicPr>
            <p:cNvPr id="8" name="Imagen 7">
              <a:extLst>
                <a:ext uri="{FF2B5EF4-FFF2-40B4-BE49-F238E27FC236}">
                  <a16:creationId xmlns:a16="http://schemas.microsoft.com/office/drawing/2014/main" id="{689E5482-B04A-4681-A4D8-FCD4F0F80B6C}"/>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84115"/>
            <a:stretch/>
          </p:blipFill>
          <p:spPr>
            <a:xfrm>
              <a:off x="10255348" y="6309373"/>
              <a:ext cx="1936652" cy="431333"/>
            </a:xfrm>
            <a:prstGeom prst="rect">
              <a:avLst/>
            </a:prstGeom>
          </p:spPr>
        </p:pic>
      </p:grpSp>
      <p:pic>
        <p:nvPicPr>
          <p:cNvPr id="10" name="Imagen 9">
            <a:extLst>
              <a:ext uri="{FF2B5EF4-FFF2-40B4-BE49-F238E27FC236}">
                <a16:creationId xmlns:a16="http://schemas.microsoft.com/office/drawing/2014/main" id="{393292AB-8B53-4C8E-813C-2572932E5181}"/>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47550" r="5771"/>
          <a:stretch/>
        </p:blipFill>
        <p:spPr>
          <a:xfrm>
            <a:off x="0" y="1892179"/>
            <a:ext cx="12192000" cy="2588841"/>
          </a:xfrm>
          <a:prstGeom prst="rect">
            <a:avLst/>
          </a:prstGeom>
        </p:spPr>
      </p:pic>
      <p:sp>
        <p:nvSpPr>
          <p:cNvPr id="9" name="Subtítulo 2">
            <a:extLst>
              <a:ext uri="{FF2B5EF4-FFF2-40B4-BE49-F238E27FC236}">
                <a16:creationId xmlns:a16="http://schemas.microsoft.com/office/drawing/2014/main" id="{FE57E6CF-B661-4492-BC5F-CC999126F28D}"/>
              </a:ext>
            </a:extLst>
          </p:cNvPr>
          <p:cNvSpPr txBox="1">
            <a:spLocks/>
          </p:cNvSpPr>
          <p:nvPr/>
        </p:nvSpPr>
        <p:spPr>
          <a:xfrm>
            <a:off x="1073958" y="412409"/>
            <a:ext cx="10429739" cy="1112599"/>
          </a:xfrm>
          <a:prstGeom prst="rect">
            <a:avLst/>
          </a:prstGeom>
          <a:noFill/>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endParaRPr lang="es-PE"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r>
              <a:rPr lang="es-PE"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FACULTAD DE INGENIERÍA Y CIENCIAS AGRARIAS</a:t>
            </a:r>
          </a:p>
          <a:p>
            <a:r>
              <a:rPr lang="es-PE"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ESCUELA PROFESIONAL DE INGENIERÍA AGRÓNOMA</a:t>
            </a:r>
          </a:p>
        </p:txBody>
      </p:sp>
      <p:sp>
        <p:nvSpPr>
          <p:cNvPr id="13" name="Rectángulo 12">
            <a:extLst>
              <a:ext uri="{FF2B5EF4-FFF2-40B4-BE49-F238E27FC236}">
                <a16:creationId xmlns:a16="http://schemas.microsoft.com/office/drawing/2014/main" id="{35027311-7354-4740-A44A-5A121F09C7EA}"/>
              </a:ext>
            </a:extLst>
          </p:cNvPr>
          <p:cNvSpPr/>
          <p:nvPr/>
        </p:nvSpPr>
        <p:spPr>
          <a:xfrm>
            <a:off x="284920" y="1849172"/>
            <a:ext cx="11622157" cy="168088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sz="3200" b="1" dirty="0">
              <a:solidFill>
                <a:schemeClr val="bg1"/>
              </a:solidFill>
              <a:latin typeface="Times New Roman" panose="02020603050405020304" pitchFamily="18" charset="0"/>
              <a:cs typeface="Times New Roman" panose="02020603050405020304" pitchFamily="18" charset="0"/>
            </a:endParaRPr>
          </a:p>
          <a:p>
            <a:pPr algn="ctr"/>
            <a:endParaRPr lang="es-MX" sz="3200" b="1" dirty="0">
              <a:solidFill>
                <a:schemeClr val="bg1"/>
              </a:solidFill>
              <a:latin typeface="Times New Roman" panose="02020603050405020304" pitchFamily="18" charset="0"/>
              <a:cs typeface="Times New Roman" panose="02020603050405020304" pitchFamily="18" charset="0"/>
            </a:endParaRPr>
          </a:p>
          <a:p>
            <a:pPr algn="ctr"/>
            <a:r>
              <a:rPr lang="es-PE" sz="3200" b="1" dirty="0">
                <a:solidFill>
                  <a:schemeClr val="bg1"/>
                </a:solidFill>
                <a:latin typeface="Times New Roman" panose="02020603050405020304" pitchFamily="18" charset="0"/>
                <a:cs typeface="Times New Roman" panose="02020603050405020304" pitchFamily="18" charset="0"/>
              </a:rPr>
              <a:t>Caracterización morfológica automatizada de </a:t>
            </a:r>
            <a:r>
              <a:rPr lang="es-PE" sz="3200" b="1" dirty="0" err="1">
                <a:solidFill>
                  <a:schemeClr val="bg1"/>
                </a:solidFill>
                <a:latin typeface="Times New Roman" panose="02020603050405020304" pitchFamily="18" charset="0"/>
                <a:cs typeface="Times New Roman" panose="02020603050405020304" pitchFamily="18" charset="0"/>
              </a:rPr>
              <a:t>Mashua</a:t>
            </a:r>
            <a:r>
              <a:rPr lang="es-PE" sz="3200" b="1" dirty="0">
                <a:solidFill>
                  <a:schemeClr val="bg1"/>
                </a:solidFill>
                <a:latin typeface="Times New Roman" panose="02020603050405020304" pitchFamily="18" charset="0"/>
                <a:cs typeface="Times New Roman" panose="02020603050405020304" pitchFamily="18" charset="0"/>
              </a:rPr>
              <a:t> (</a:t>
            </a:r>
            <a:r>
              <a:rPr lang="es-PE" sz="3200" b="1" i="1" dirty="0" err="1">
                <a:solidFill>
                  <a:schemeClr val="bg1"/>
                </a:solidFill>
                <a:latin typeface="Times New Roman" panose="02020603050405020304" pitchFamily="18" charset="0"/>
                <a:cs typeface="Times New Roman" panose="02020603050405020304" pitchFamily="18" charset="0"/>
              </a:rPr>
              <a:t>Tropaeolum</a:t>
            </a:r>
            <a:r>
              <a:rPr lang="es-PE" sz="3200" b="1" i="1" dirty="0">
                <a:solidFill>
                  <a:schemeClr val="bg1"/>
                </a:solidFill>
                <a:latin typeface="Times New Roman" panose="02020603050405020304" pitchFamily="18" charset="0"/>
                <a:cs typeface="Times New Roman" panose="02020603050405020304" pitchFamily="18" charset="0"/>
              </a:rPr>
              <a:t> </a:t>
            </a:r>
            <a:r>
              <a:rPr lang="es-PE" sz="3200" b="1" i="1" dirty="0" err="1">
                <a:solidFill>
                  <a:schemeClr val="bg1"/>
                </a:solidFill>
                <a:latin typeface="Times New Roman" panose="02020603050405020304" pitchFamily="18" charset="0"/>
                <a:cs typeface="Times New Roman" panose="02020603050405020304" pitchFamily="18" charset="0"/>
              </a:rPr>
              <a:t>tuberosum</a:t>
            </a:r>
            <a:r>
              <a:rPr lang="es-PE" sz="3200" b="1" dirty="0">
                <a:solidFill>
                  <a:schemeClr val="bg1"/>
                </a:solidFill>
                <a:latin typeface="Times New Roman" panose="02020603050405020304" pitchFamily="18" charset="0"/>
                <a:cs typeface="Times New Roman" panose="02020603050405020304" pitchFamily="18" charset="0"/>
              </a:rPr>
              <a:t>) mediante modelos de inteligencia artificial y análisis de imágenes.</a:t>
            </a:r>
          </a:p>
        </p:txBody>
      </p:sp>
      <p:sp>
        <p:nvSpPr>
          <p:cNvPr id="19" name="Rectángulo 18">
            <a:extLst>
              <a:ext uri="{FF2B5EF4-FFF2-40B4-BE49-F238E27FC236}">
                <a16:creationId xmlns:a16="http://schemas.microsoft.com/office/drawing/2014/main" id="{1BA32B2F-4C83-4104-A85E-5BB3ECF8E3DB}"/>
              </a:ext>
            </a:extLst>
          </p:cNvPr>
          <p:cNvSpPr/>
          <p:nvPr/>
        </p:nvSpPr>
        <p:spPr>
          <a:xfrm>
            <a:off x="11263457" y="5751596"/>
            <a:ext cx="768379" cy="369332"/>
          </a:xfrm>
          <a:prstGeom prst="rect">
            <a:avLst/>
          </a:prstGeom>
          <a:solidFill>
            <a:schemeClr val="bg1"/>
          </a:solidFill>
          <a:ln>
            <a:noFill/>
          </a:ln>
        </p:spPr>
        <p:txBody>
          <a:bodyPr wrap="square">
            <a:spAutoFit/>
          </a:bodyPr>
          <a:lstStyle/>
          <a:p>
            <a:r>
              <a:rPr lang="es-PE" b="1" dirty="0">
                <a:latin typeface="Times New Roman" panose="02020603050405020304" pitchFamily="18" charset="0"/>
                <a:cs typeface="Times New Roman" panose="02020603050405020304" pitchFamily="18" charset="0"/>
              </a:rPr>
              <a:t>2025</a:t>
            </a:r>
          </a:p>
        </p:txBody>
      </p:sp>
      <p:grpSp>
        <p:nvGrpSpPr>
          <p:cNvPr id="12" name="Group 11">
            <a:extLst>
              <a:ext uri="{FF2B5EF4-FFF2-40B4-BE49-F238E27FC236}">
                <a16:creationId xmlns:a16="http://schemas.microsoft.com/office/drawing/2014/main" id="{C16B7E47-6894-4BD5-B1B1-7970F7EE5506}"/>
              </a:ext>
            </a:extLst>
          </p:cNvPr>
          <p:cNvGrpSpPr/>
          <p:nvPr/>
        </p:nvGrpSpPr>
        <p:grpSpPr>
          <a:xfrm>
            <a:off x="-6031" y="68726"/>
            <a:ext cx="2929528" cy="859121"/>
            <a:chOff x="0" y="0"/>
            <a:chExt cx="4361354" cy="1282270"/>
          </a:xfrm>
        </p:grpSpPr>
        <p:sp>
          <p:nvSpPr>
            <p:cNvPr id="14" name="Freeform 12">
              <a:extLst>
                <a:ext uri="{FF2B5EF4-FFF2-40B4-BE49-F238E27FC236}">
                  <a16:creationId xmlns:a16="http://schemas.microsoft.com/office/drawing/2014/main" id="{405DCE1F-C857-4A07-9FC1-642969AC143D}"/>
                </a:ext>
              </a:extLst>
            </p:cNvPr>
            <p:cNvSpPr/>
            <p:nvPr/>
          </p:nvSpPr>
          <p:spPr>
            <a:xfrm>
              <a:off x="0" y="0"/>
              <a:ext cx="4361307" cy="1282319"/>
            </a:xfrm>
            <a:custGeom>
              <a:avLst/>
              <a:gdLst/>
              <a:ahLst/>
              <a:cxnLst/>
              <a:rect l="l" t="t" r="r" b="b"/>
              <a:pathLst>
                <a:path w="4361307" h="1282319">
                  <a:moveTo>
                    <a:pt x="0" y="0"/>
                  </a:moveTo>
                  <a:lnTo>
                    <a:pt x="4361307" y="0"/>
                  </a:lnTo>
                  <a:lnTo>
                    <a:pt x="4361307" y="1282319"/>
                  </a:lnTo>
                  <a:lnTo>
                    <a:pt x="0" y="1282319"/>
                  </a:lnTo>
                  <a:lnTo>
                    <a:pt x="0" y="0"/>
                  </a:lnTo>
                  <a:close/>
                </a:path>
              </a:pathLst>
            </a:custGeom>
            <a:blipFill>
              <a:blip r:embed="rId5"/>
              <a:stretch>
                <a:fillRect t="-205" r="-1" b="-202"/>
              </a:stretch>
            </a:blipFill>
          </p:spPr>
          <p:txBody>
            <a:bodyPr/>
            <a:lstStyle/>
            <a:p>
              <a:endParaRPr lang="es-PE"/>
            </a:p>
          </p:txBody>
        </p:sp>
      </p:grpSp>
      <p:pic>
        <p:nvPicPr>
          <p:cNvPr id="17" name="Imagen 16">
            <a:extLst>
              <a:ext uri="{FF2B5EF4-FFF2-40B4-BE49-F238E27FC236}">
                <a16:creationId xmlns:a16="http://schemas.microsoft.com/office/drawing/2014/main" id="{CE550DD8-EDF9-4B6F-922B-628CC14D60FE}"/>
              </a:ext>
            </a:extLst>
          </p:cNvPr>
          <p:cNvPicPr>
            <a:picLocks noChangeAspect="1"/>
          </p:cNvPicPr>
          <p:nvPr/>
        </p:nvPicPr>
        <p:blipFill>
          <a:blip r:embed="rId6"/>
          <a:stretch>
            <a:fillRect/>
          </a:stretch>
        </p:blipFill>
        <p:spPr>
          <a:xfrm>
            <a:off x="10904189" y="69844"/>
            <a:ext cx="1199017" cy="1203124"/>
          </a:xfrm>
          <a:prstGeom prst="rect">
            <a:avLst/>
          </a:prstGeom>
        </p:spPr>
      </p:pic>
      <p:sp>
        <p:nvSpPr>
          <p:cNvPr id="2" name="CuadroTexto 1">
            <a:extLst>
              <a:ext uri="{FF2B5EF4-FFF2-40B4-BE49-F238E27FC236}">
                <a16:creationId xmlns:a16="http://schemas.microsoft.com/office/drawing/2014/main" id="{893752D0-8350-48A2-A471-8B2253CBF1F1}"/>
              </a:ext>
            </a:extLst>
          </p:cNvPr>
          <p:cNvSpPr txBox="1"/>
          <p:nvPr/>
        </p:nvSpPr>
        <p:spPr>
          <a:xfrm>
            <a:off x="2160494" y="4620431"/>
            <a:ext cx="3697942" cy="960328"/>
          </a:xfrm>
          <a:prstGeom prst="rect">
            <a:avLst/>
          </a:prstGeom>
          <a:noFill/>
        </p:spPr>
        <p:txBody>
          <a:bodyPr wrap="square" rtlCol="0">
            <a:spAutoFit/>
          </a:bodyPr>
          <a:lstStyle/>
          <a:p>
            <a:pPr algn="just">
              <a:lnSpc>
                <a:spcPct val="150000"/>
              </a:lnSpc>
            </a:pPr>
            <a:r>
              <a:rPr lang="es-PE" sz="2000" b="1" dirty="0">
                <a:latin typeface="Times New Roman" panose="02020603050405020304" pitchFamily="18" charset="0"/>
                <a:cs typeface="Times New Roman" panose="02020603050405020304" pitchFamily="18" charset="0"/>
              </a:rPr>
              <a:t>ESTUDIANTE: </a:t>
            </a:r>
          </a:p>
          <a:p>
            <a:pPr>
              <a:lnSpc>
                <a:spcPct val="150000"/>
              </a:lnSpc>
            </a:pPr>
            <a:r>
              <a:rPr lang="es-PE" sz="2000" dirty="0">
                <a:latin typeface="Times New Roman" panose="02020603050405020304" pitchFamily="18" charset="0"/>
                <a:cs typeface="Times New Roman" panose="02020603050405020304" pitchFamily="18" charset="0"/>
              </a:rPr>
              <a:t>Diaz Saucedo Yoel</a:t>
            </a:r>
          </a:p>
        </p:txBody>
      </p:sp>
      <p:sp>
        <p:nvSpPr>
          <p:cNvPr id="4" name="CuadroTexto 3">
            <a:extLst>
              <a:ext uri="{FF2B5EF4-FFF2-40B4-BE49-F238E27FC236}">
                <a16:creationId xmlns:a16="http://schemas.microsoft.com/office/drawing/2014/main" id="{00910000-0101-4CB6-8D2C-77130D596891}"/>
              </a:ext>
            </a:extLst>
          </p:cNvPr>
          <p:cNvSpPr txBox="1"/>
          <p:nvPr/>
        </p:nvSpPr>
        <p:spPr>
          <a:xfrm>
            <a:off x="6666482" y="4508134"/>
            <a:ext cx="3254188" cy="960328"/>
          </a:xfrm>
          <a:prstGeom prst="rect">
            <a:avLst/>
          </a:prstGeom>
          <a:noFill/>
        </p:spPr>
        <p:txBody>
          <a:bodyPr wrap="square" rtlCol="0">
            <a:spAutoFit/>
          </a:bodyPr>
          <a:lstStyle/>
          <a:p>
            <a:pPr algn="ctr">
              <a:lnSpc>
                <a:spcPct val="150000"/>
              </a:lnSpc>
            </a:pPr>
            <a:r>
              <a:rPr lang="es-PE" sz="2000" b="1" dirty="0">
                <a:latin typeface="Times New Roman" panose="02020603050405020304" pitchFamily="18" charset="0"/>
                <a:cs typeface="Times New Roman" panose="02020603050405020304" pitchFamily="18" charset="0"/>
              </a:rPr>
              <a:t>DOCENTE: </a:t>
            </a:r>
            <a:r>
              <a:rPr lang="es-PE" sz="2000" dirty="0">
                <a:latin typeface="Times New Roman" panose="02020603050405020304" pitchFamily="18" charset="0"/>
                <a:cs typeface="Times New Roman" panose="02020603050405020304" pitchFamily="18" charset="0"/>
              </a:rPr>
              <a:t>Lozano Isla, Flavio </a:t>
            </a:r>
          </a:p>
        </p:txBody>
      </p:sp>
      <p:sp>
        <p:nvSpPr>
          <p:cNvPr id="11" name="Marcador de número de diapositiva 10">
            <a:extLst>
              <a:ext uri="{FF2B5EF4-FFF2-40B4-BE49-F238E27FC236}">
                <a16:creationId xmlns:a16="http://schemas.microsoft.com/office/drawing/2014/main" id="{A1F826A5-CDCC-46DB-9BCD-A3DBA4A0713E}"/>
              </a:ext>
            </a:extLst>
          </p:cNvPr>
          <p:cNvSpPr>
            <a:spLocks noGrp="1"/>
          </p:cNvSpPr>
          <p:nvPr>
            <p:ph type="sldNum" sz="quarter" idx="12"/>
          </p:nvPr>
        </p:nvSpPr>
        <p:spPr>
          <a:xfrm>
            <a:off x="4724399" y="6445591"/>
            <a:ext cx="2743200" cy="365125"/>
          </a:xfrm>
        </p:spPr>
        <p:txBody>
          <a:bodyPr/>
          <a:lstStyle/>
          <a:p>
            <a:pPr algn="ctr"/>
            <a:fld id="{05127BEB-47AF-44ED-B554-0B1B2779EC32}" type="slidenum">
              <a:rPr lang="es-PE" sz="2000" smtClean="0">
                <a:solidFill>
                  <a:schemeClr val="bg1"/>
                </a:solidFill>
                <a:latin typeface="Times New Roman" panose="02020603050405020304" pitchFamily="18" charset="0"/>
                <a:cs typeface="Times New Roman" panose="02020603050405020304" pitchFamily="18" charset="0"/>
              </a:rPr>
              <a:pPr algn="ctr"/>
              <a:t>1</a:t>
            </a:fld>
            <a:endParaRPr lang="es-PE" sz="2000"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979227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 y="6349791"/>
            <a:ext cx="12192000" cy="557485"/>
            <a:chOff x="0" y="0"/>
            <a:chExt cx="24384000" cy="1114970"/>
          </a:xfrm>
        </p:grpSpPr>
        <p:sp>
          <p:nvSpPr>
            <p:cNvPr id="3" name="Freeform 3"/>
            <p:cNvSpPr/>
            <p:nvPr/>
          </p:nvSpPr>
          <p:spPr>
            <a:xfrm>
              <a:off x="0" y="0"/>
              <a:ext cx="24384000" cy="1114933"/>
            </a:xfrm>
            <a:custGeom>
              <a:avLst/>
              <a:gdLst/>
              <a:ahLst/>
              <a:cxnLst/>
              <a:rect l="l" t="t" r="r" b="b"/>
              <a:pathLst>
                <a:path w="24384000" h="1114933">
                  <a:moveTo>
                    <a:pt x="0" y="0"/>
                  </a:moveTo>
                  <a:lnTo>
                    <a:pt x="24384000" y="0"/>
                  </a:lnTo>
                  <a:lnTo>
                    <a:pt x="24384000" y="1114933"/>
                  </a:lnTo>
                  <a:lnTo>
                    <a:pt x="0" y="1114933"/>
                  </a:lnTo>
                  <a:lnTo>
                    <a:pt x="0" y="0"/>
                  </a:lnTo>
                  <a:close/>
                </a:path>
              </a:pathLst>
            </a:custGeom>
            <a:blipFill>
              <a:blip r:embed="rId2"/>
              <a:stretch>
                <a:fillRect l="-30644" t="-3"/>
              </a:stretch>
            </a:blipFill>
          </p:spPr>
          <p:txBody>
            <a:bodyPr/>
            <a:lstStyle/>
            <a:p>
              <a:endParaRPr lang="es-PE" dirty="0"/>
            </a:p>
          </p:txBody>
        </p:sp>
      </p:grpSp>
      <p:grpSp>
        <p:nvGrpSpPr>
          <p:cNvPr id="4" name="Group 4"/>
          <p:cNvGrpSpPr/>
          <p:nvPr/>
        </p:nvGrpSpPr>
        <p:grpSpPr>
          <a:xfrm>
            <a:off x="294226" y="85799"/>
            <a:ext cx="2180677" cy="641135"/>
            <a:chOff x="0" y="0"/>
            <a:chExt cx="4361354" cy="1282270"/>
          </a:xfrm>
        </p:grpSpPr>
        <p:sp>
          <p:nvSpPr>
            <p:cNvPr id="5" name="Freeform 5"/>
            <p:cNvSpPr/>
            <p:nvPr/>
          </p:nvSpPr>
          <p:spPr>
            <a:xfrm>
              <a:off x="0" y="0"/>
              <a:ext cx="4361307" cy="1282319"/>
            </a:xfrm>
            <a:custGeom>
              <a:avLst/>
              <a:gdLst/>
              <a:ahLst/>
              <a:cxnLst/>
              <a:rect l="l" t="t" r="r" b="b"/>
              <a:pathLst>
                <a:path w="4361307" h="1282319">
                  <a:moveTo>
                    <a:pt x="0" y="0"/>
                  </a:moveTo>
                  <a:lnTo>
                    <a:pt x="4361307" y="0"/>
                  </a:lnTo>
                  <a:lnTo>
                    <a:pt x="4361307" y="1282319"/>
                  </a:lnTo>
                  <a:lnTo>
                    <a:pt x="0" y="1282319"/>
                  </a:lnTo>
                  <a:lnTo>
                    <a:pt x="0" y="0"/>
                  </a:lnTo>
                  <a:close/>
                </a:path>
              </a:pathLst>
            </a:custGeom>
            <a:blipFill>
              <a:blip r:embed="rId3"/>
              <a:stretch>
                <a:fillRect t="-205" r="-1" b="-202"/>
              </a:stretch>
            </a:blipFill>
          </p:spPr>
          <p:txBody>
            <a:bodyPr/>
            <a:lstStyle/>
            <a:p>
              <a:endParaRPr lang="es-PE"/>
            </a:p>
          </p:txBody>
        </p:sp>
      </p:grpSp>
      <p:sp>
        <p:nvSpPr>
          <p:cNvPr id="7" name="TextBox 7"/>
          <p:cNvSpPr txBox="1"/>
          <p:nvPr/>
        </p:nvSpPr>
        <p:spPr>
          <a:xfrm>
            <a:off x="4542225" y="215745"/>
            <a:ext cx="3251140" cy="367858"/>
          </a:xfrm>
          <a:prstGeom prst="rect">
            <a:avLst/>
          </a:prstGeom>
        </p:spPr>
        <p:txBody>
          <a:bodyPr wrap="square" lIns="0" tIns="0" rIns="0" bIns="0" rtlCol="0" anchor="t">
            <a:spAutoFit/>
          </a:bodyPr>
          <a:lstStyle/>
          <a:p>
            <a:pPr algn="ctr" defTabSz="609630">
              <a:lnSpc>
                <a:spcPts val="3173"/>
              </a:lnSpc>
            </a:pPr>
            <a:r>
              <a:rPr lang="en-US" b="1" dirty="0">
                <a:solidFill>
                  <a:srgbClr val="000000"/>
                </a:solidFill>
                <a:latin typeface="Times New Roman" panose="02020603050405020304" pitchFamily="18" charset="0"/>
                <a:ea typeface="Times New Roman Bold"/>
                <a:cs typeface="Times New Roman" panose="02020603050405020304" pitchFamily="18" charset="0"/>
                <a:sym typeface="Times New Roman"/>
              </a:rPr>
              <a:t>1. </a:t>
            </a:r>
            <a:r>
              <a:rPr lang="en-US" b="1" dirty="0">
                <a:solidFill>
                  <a:srgbClr val="000000"/>
                </a:solidFill>
                <a:latin typeface="Times New Roman" panose="02020603050405020304" pitchFamily="18" charset="0"/>
                <a:ea typeface="Times New Roman Bold"/>
                <a:cs typeface="Times New Roman" panose="02020603050405020304" pitchFamily="18" charset="0"/>
                <a:sym typeface="Times New Roman Bold"/>
              </a:rPr>
              <a:t>TITULO</a:t>
            </a:r>
            <a:endParaRPr lang="en-US" dirty="0">
              <a:solidFill>
                <a:srgbClr val="000000"/>
              </a:solidFill>
              <a:latin typeface="Times New Roman" panose="02020603050405020304" pitchFamily="18" charset="0"/>
              <a:ea typeface="Times New Roman"/>
              <a:cs typeface="Times New Roman" panose="02020603050405020304" pitchFamily="18" charset="0"/>
              <a:sym typeface="Times New Roman"/>
            </a:endParaRPr>
          </a:p>
        </p:txBody>
      </p:sp>
      <p:sp>
        <p:nvSpPr>
          <p:cNvPr id="12" name="CuadroTexto 11">
            <a:extLst>
              <a:ext uri="{FF2B5EF4-FFF2-40B4-BE49-F238E27FC236}">
                <a16:creationId xmlns:a16="http://schemas.microsoft.com/office/drawing/2014/main" id="{876AA9F5-0116-4311-AD35-E7EF3DE703C8}"/>
              </a:ext>
            </a:extLst>
          </p:cNvPr>
          <p:cNvSpPr txBox="1"/>
          <p:nvPr/>
        </p:nvSpPr>
        <p:spPr>
          <a:xfrm>
            <a:off x="368784" y="654789"/>
            <a:ext cx="11454429" cy="1439881"/>
          </a:xfrm>
          <a:prstGeom prst="rect">
            <a:avLst/>
          </a:prstGeom>
          <a:noFill/>
        </p:spPr>
        <p:txBody>
          <a:bodyPr wrap="square">
            <a:spAutoFit/>
          </a:bodyPr>
          <a:lstStyle/>
          <a:p>
            <a:pPr marL="457200" algn="ctr">
              <a:lnSpc>
                <a:spcPct val="150000"/>
              </a:lnSpc>
              <a:spcAft>
                <a:spcPts val="800"/>
              </a:spcAft>
            </a:pPr>
            <a:r>
              <a:rPr lang="es-PE"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Caracterización morfológica automatizada de </a:t>
            </a:r>
            <a:r>
              <a:rPr lang="es-PE" sz="1800"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Mashua</a:t>
            </a:r>
            <a:r>
              <a:rPr lang="es-PE"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s-PE" sz="1800" i="1"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Tropaeolum</a:t>
            </a:r>
            <a:r>
              <a:rPr lang="es-PE" sz="1800" i="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s-PE" sz="1800" i="1"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tuberosum</a:t>
            </a:r>
            <a:r>
              <a:rPr lang="es-PE"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mediante modelos de inteligencia artificial y análisis de imágenes.</a:t>
            </a:r>
          </a:p>
          <a:p>
            <a:pPr marL="457200" algn="ctr">
              <a:lnSpc>
                <a:spcPct val="150000"/>
              </a:lnSpc>
              <a:spcAft>
                <a:spcPts val="800"/>
              </a:spcAft>
            </a:pPr>
            <a:endParaRPr lang="es-PE" sz="2000"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13" name="Marcador de número de diapositiva 12">
            <a:extLst>
              <a:ext uri="{FF2B5EF4-FFF2-40B4-BE49-F238E27FC236}">
                <a16:creationId xmlns:a16="http://schemas.microsoft.com/office/drawing/2014/main" id="{9CC03D2A-21F7-4546-97B2-8E76AE2CAA21}"/>
              </a:ext>
            </a:extLst>
          </p:cNvPr>
          <p:cNvSpPr>
            <a:spLocks noGrp="1"/>
          </p:cNvSpPr>
          <p:nvPr>
            <p:ph type="sldNum" sz="quarter" idx="12"/>
          </p:nvPr>
        </p:nvSpPr>
        <p:spPr/>
        <p:txBody>
          <a:bodyPr/>
          <a:lstStyle/>
          <a:p>
            <a:pPr defTabSz="609630"/>
            <a:fld id="{B6F15528-21DE-4FAA-801E-634DDDAF4B2B}" type="slidenum">
              <a:rPr lang="en-US" smtClean="0">
                <a:solidFill>
                  <a:prstClr val="black">
                    <a:tint val="75000"/>
                  </a:prstClr>
                </a:solidFill>
              </a:rPr>
              <a:pPr defTabSz="609630"/>
              <a:t>2</a:t>
            </a:fld>
            <a:endParaRPr lang="en-US">
              <a:solidFill>
                <a:prstClr val="black">
                  <a:tint val="75000"/>
                </a:prstClr>
              </a:solidFill>
            </a:endParaRPr>
          </a:p>
        </p:txBody>
      </p:sp>
      <p:sp>
        <p:nvSpPr>
          <p:cNvPr id="14" name="CuadroTexto 13">
            <a:extLst>
              <a:ext uri="{FF2B5EF4-FFF2-40B4-BE49-F238E27FC236}">
                <a16:creationId xmlns:a16="http://schemas.microsoft.com/office/drawing/2014/main" id="{D32295D3-63FE-468C-B7DC-46D5587BF77A}"/>
              </a:ext>
            </a:extLst>
          </p:cNvPr>
          <p:cNvSpPr txBox="1"/>
          <p:nvPr/>
        </p:nvSpPr>
        <p:spPr>
          <a:xfrm>
            <a:off x="5463988" y="6457890"/>
            <a:ext cx="1264023" cy="400110"/>
          </a:xfrm>
          <a:prstGeom prst="rect">
            <a:avLst/>
          </a:prstGeom>
          <a:noFill/>
        </p:spPr>
        <p:txBody>
          <a:bodyPr wrap="square" rtlCol="0">
            <a:spAutoFit/>
          </a:bodyPr>
          <a:lstStyle/>
          <a:p>
            <a:pPr algn="ctr"/>
            <a:r>
              <a:rPr lang="es-PE" sz="2000" dirty="0">
                <a:solidFill>
                  <a:schemeClr val="bg1"/>
                </a:solidFill>
                <a:latin typeface="Times New Roman" panose="02020603050405020304" pitchFamily="18" charset="0"/>
                <a:cs typeface="Times New Roman" panose="02020603050405020304" pitchFamily="18" charset="0"/>
              </a:rPr>
              <a:t>2</a:t>
            </a:r>
          </a:p>
        </p:txBody>
      </p:sp>
      <p:sp>
        <p:nvSpPr>
          <p:cNvPr id="8" name="CuadroTexto 7">
            <a:extLst>
              <a:ext uri="{FF2B5EF4-FFF2-40B4-BE49-F238E27FC236}">
                <a16:creationId xmlns:a16="http://schemas.microsoft.com/office/drawing/2014/main" id="{E7E73FF2-F259-39A4-AFD6-CDEFCF497E1E}"/>
              </a:ext>
            </a:extLst>
          </p:cNvPr>
          <p:cNvSpPr txBox="1"/>
          <p:nvPr/>
        </p:nvSpPr>
        <p:spPr>
          <a:xfrm>
            <a:off x="729245" y="1682286"/>
            <a:ext cx="8106397" cy="369332"/>
          </a:xfrm>
          <a:prstGeom prst="rect">
            <a:avLst/>
          </a:prstGeom>
          <a:noFill/>
        </p:spPr>
        <p:txBody>
          <a:bodyPr wrap="square">
            <a:spAutoFit/>
          </a:bodyPr>
          <a:lstStyle/>
          <a:p>
            <a:r>
              <a:rPr lang="es-PE" b="1" i="0" u="none" strike="noStrike" dirty="0">
                <a:solidFill>
                  <a:srgbClr val="000000"/>
                </a:solidFill>
                <a:effectLst/>
                <a:latin typeface="Times New Roman" panose="02020603050405020304" pitchFamily="18" charset="0"/>
              </a:rPr>
              <a:t>2. Formulación del problema</a:t>
            </a:r>
            <a:endParaRPr lang="es-PE" dirty="0"/>
          </a:p>
        </p:txBody>
      </p:sp>
      <p:sp>
        <p:nvSpPr>
          <p:cNvPr id="16" name="CuadroTexto 22">
            <a:extLst>
              <a:ext uri="{FF2B5EF4-FFF2-40B4-BE49-F238E27FC236}">
                <a16:creationId xmlns:a16="http://schemas.microsoft.com/office/drawing/2014/main" id="{367AC916-0A7B-4E9D-ADAB-9886DDD480DF}"/>
              </a:ext>
            </a:extLst>
          </p:cNvPr>
          <p:cNvSpPr txBox="1"/>
          <p:nvPr/>
        </p:nvSpPr>
        <p:spPr>
          <a:xfrm>
            <a:off x="962328" y="4602263"/>
            <a:ext cx="6096000" cy="400110"/>
          </a:xfrm>
          <a:prstGeom prst="rect">
            <a:avLst/>
          </a:prstGeom>
          <a:noFill/>
        </p:spPr>
        <p:txBody>
          <a:bodyPr wrap="square">
            <a:spAutoFit/>
          </a:bodyPr>
          <a:lstStyle>
            <a:defPPr>
              <a:defRPr lang="es-P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spcBef>
                <a:spcPts val="1200"/>
              </a:spcBef>
              <a:spcAft>
                <a:spcPts val="1200"/>
              </a:spcAft>
            </a:pPr>
            <a:r>
              <a:rPr lang="es-PE" sz="20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2.1 Formulación del problema</a:t>
            </a:r>
            <a:endParaRPr lang="es-PE" sz="2000" b="1" dirty="0">
              <a:solidFill>
                <a:srgbClr val="000000"/>
              </a:solidFill>
              <a:latin typeface="Times New Roman" panose="02020603050405020304" pitchFamily="18" charset="0"/>
              <a:ea typeface="Calibri" panose="020F0502020204030204" pitchFamily="34" charset="0"/>
              <a:cs typeface="Times New Roman" panose="02020603050405020304" pitchFamily="18" charset="0"/>
            </a:endParaRPr>
          </a:p>
        </p:txBody>
      </p:sp>
      <p:sp>
        <p:nvSpPr>
          <p:cNvPr id="18" name="CuadroTexto 24">
            <a:extLst>
              <a:ext uri="{FF2B5EF4-FFF2-40B4-BE49-F238E27FC236}">
                <a16:creationId xmlns:a16="http://schemas.microsoft.com/office/drawing/2014/main" id="{849C47AD-CC9D-4933-92B3-4C433665D772}"/>
              </a:ext>
            </a:extLst>
          </p:cNvPr>
          <p:cNvSpPr txBox="1"/>
          <p:nvPr/>
        </p:nvSpPr>
        <p:spPr>
          <a:xfrm>
            <a:off x="1106272" y="5243627"/>
            <a:ext cx="10123045" cy="584775"/>
          </a:xfrm>
          <a:prstGeom prst="rect">
            <a:avLst/>
          </a:prstGeom>
          <a:noFill/>
        </p:spPr>
        <p:txBody>
          <a:bodyPr wrap="square">
            <a:spAutoFit/>
          </a:bodyPr>
          <a:lstStyle>
            <a:defPPr>
              <a:defRPr lang="es-P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spcBef>
                <a:spcPts val="1200"/>
              </a:spcBef>
              <a:spcAft>
                <a:spcPts val="1200"/>
              </a:spcAft>
            </a:pPr>
            <a:r>
              <a:rPr lang="es-PE" sz="16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¿Cómo puede automatizarse la caracterización morfológica de la </a:t>
            </a:r>
            <a:r>
              <a:rPr lang="es-PE" sz="1600" dirty="0" err="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mashua</a:t>
            </a:r>
            <a:r>
              <a:rPr lang="es-PE" sz="16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s-PE" sz="1600" i="1" dirty="0" err="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Tropaeolum</a:t>
            </a:r>
            <a:r>
              <a:rPr lang="es-PE" sz="1600" i="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s-PE" sz="1600" i="1" dirty="0" err="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tuberosum</a:t>
            </a:r>
            <a:r>
              <a:rPr lang="es-PE" sz="16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mediante el uso de modelos de inteligencia artificial y análisis de imágenes?</a:t>
            </a:r>
            <a:endParaRPr lang="es-PE"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19" name="CuadroTexto 18">
            <a:extLst>
              <a:ext uri="{FF2B5EF4-FFF2-40B4-BE49-F238E27FC236}">
                <a16:creationId xmlns:a16="http://schemas.microsoft.com/office/drawing/2014/main" id="{510FD437-130F-44DF-AFDD-B2BA22663A9D}"/>
              </a:ext>
            </a:extLst>
          </p:cNvPr>
          <p:cNvSpPr txBox="1"/>
          <p:nvPr/>
        </p:nvSpPr>
        <p:spPr>
          <a:xfrm>
            <a:off x="1106273" y="2292872"/>
            <a:ext cx="10500073" cy="2031325"/>
          </a:xfrm>
          <a:prstGeom prst="rect">
            <a:avLst/>
          </a:prstGeom>
          <a:noFill/>
        </p:spPr>
        <p:txBody>
          <a:bodyPr wrap="square">
            <a:spAutoFit/>
          </a:bodyPr>
          <a:lstStyle/>
          <a:p>
            <a:pPr algn="just"/>
            <a:r>
              <a:rPr lang="es-MX" dirty="0">
                <a:latin typeface="Times New Roman" panose="02020603050405020304" pitchFamily="18" charset="0"/>
                <a:cs typeface="Times New Roman" panose="02020603050405020304" pitchFamily="18" charset="0"/>
              </a:rPr>
              <a:t>La </a:t>
            </a:r>
            <a:r>
              <a:rPr lang="es-MX" dirty="0" err="1">
                <a:latin typeface="Times New Roman" panose="02020603050405020304" pitchFamily="18" charset="0"/>
                <a:cs typeface="Times New Roman" panose="02020603050405020304" pitchFamily="18" charset="0"/>
              </a:rPr>
              <a:t>mashua</a:t>
            </a:r>
            <a:r>
              <a:rPr lang="es-MX" dirty="0">
                <a:latin typeface="Times New Roman" panose="02020603050405020304" pitchFamily="18" charset="0"/>
                <a:cs typeface="Times New Roman" panose="02020603050405020304" pitchFamily="18" charset="0"/>
              </a:rPr>
              <a:t> (</a:t>
            </a:r>
            <a:r>
              <a:rPr lang="es-MX" i="1" dirty="0" err="1">
                <a:latin typeface="Times New Roman" panose="02020603050405020304" pitchFamily="18" charset="0"/>
                <a:cs typeface="Times New Roman" panose="02020603050405020304" pitchFamily="18" charset="0"/>
              </a:rPr>
              <a:t>Tropaeolum</a:t>
            </a:r>
            <a:r>
              <a:rPr lang="es-MX" i="1" dirty="0">
                <a:latin typeface="Times New Roman" panose="02020603050405020304" pitchFamily="18" charset="0"/>
                <a:cs typeface="Times New Roman" panose="02020603050405020304" pitchFamily="18" charset="0"/>
              </a:rPr>
              <a:t> </a:t>
            </a:r>
            <a:r>
              <a:rPr lang="es-MX" i="1" dirty="0" err="1">
                <a:latin typeface="Times New Roman" panose="02020603050405020304" pitchFamily="18" charset="0"/>
                <a:cs typeface="Times New Roman" panose="02020603050405020304" pitchFamily="18" charset="0"/>
              </a:rPr>
              <a:t>tuberosum</a:t>
            </a:r>
            <a:r>
              <a:rPr lang="es-MX" dirty="0">
                <a:latin typeface="Times New Roman" panose="02020603050405020304" pitchFamily="18" charset="0"/>
                <a:cs typeface="Times New Roman" panose="02020603050405020304" pitchFamily="18" charset="0"/>
              </a:rPr>
              <a:t>) es un tubérculo andino con alto valor nutricional y agronómico, cuya diversidad morfológica ha sido poco explorada por el escaso interés comercial y la limitada conservación. Aunque la inteligencia artificial (IA) y el análisis de imágenes ofrecen herramientas prometedoras para caracterizar morfologías con mayor precisión y eficiencia, su aplicación en </a:t>
            </a:r>
            <a:r>
              <a:rPr lang="es-MX" dirty="0" err="1">
                <a:latin typeface="Times New Roman" panose="02020603050405020304" pitchFamily="18" charset="0"/>
                <a:cs typeface="Times New Roman" panose="02020603050405020304" pitchFamily="18" charset="0"/>
              </a:rPr>
              <a:t>mashua</a:t>
            </a:r>
            <a:r>
              <a:rPr lang="es-MX" dirty="0">
                <a:latin typeface="Times New Roman" panose="02020603050405020304" pitchFamily="18" charset="0"/>
                <a:cs typeface="Times New Roman" panose="02020603050405020304" pitchFamily="18" charset="0"/>
              </a:rPr>
              <a:t> es aún incipiente. Los métodos tradicionales son lentos, destructivos y dependientes del juicio humano, lo que limita su eficacia. En este contexto, la falta de un sistema automatizado para la caracterización morfológica de </a:t>
            </a:r>
            <a:r>
              <a:rPr lang="es-MX" dirty="0" err="1">
                <a:latin typeface="Times New Roman" panose="02020603050405020304" pitchFamily="18" charset="0"/>
                <a:cs typeface="Times New Roman" panose="02020603050405020304" pitchFamily="18" charset="0"/>
              </a:rPr>
              <a:t>mashua</a:t>
            </a:r>
            <a:r>
              <a:rPr lang="es-MX" dirty="0">
                <a:latin typeface="Times New Roman" panose="02020603050405020304" pitchFamily="18" charset="0"/>
                <a:cs typeface="Times New Roman" panose="02020603050405020304" pitchFamily="18" charset="0"/>
              </a:rPr>
              <a:t> representa un vacío tecnológico clave por atender.</a:t>
            </a:r>
            <a:endParaRPr lang="es-PE"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718863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8"/>
          <p:cNvGrpSpPr/>
          <p:nvPr/>
        </p:nvGrpSpPr>
        <p:grpSpPr>
          <a:xfrm>
            <a:off x="0" y="6340856"/>
            <a:ext cx="12192000" cy="557485"/>
            <a:chOff x="0" y="0"/>
            <a:chExt cx="24384000" cy="1114970"/>
          </a:xfrm>
        </p:grpSpPr>
        <p:sp>
          <p:nvSpPr>
            <p:cNvPr id="9" name="Freeform 9"/>
            <p:cNvSpPr/>
            <p:nvPr/>
          </p:nvSpPr>
          <p:spPr>
            <a:xfrm>
              <a:off x="0" y="0"/>
              <a:ext cx="24384000" cy="1114933"/>
            </a:xfrm>
            <a:custGeom>
              <a:avLst/>
              <a:gdLst/>
              <a:ahLst/>
              <a:cxnLst/>
              <a:rect l="l" t="t" r="r" b="b"/>
              <a:pathLst>
                <a:path w="24384000" h="1114933">
                  <a:moveTo>
                    <a:pt x="0" y="0"/>
                  </a:moveTo>
                  <a:lnTo>
                    <a:pt x="24384000" y="0"/>
                  </a:lnTo>
                  <a:lnTo>
                    <a:pt x="24384000" y="1114933"/>
                  </a:lnTo>
                  <a:lnTo>
                    <a:pt x="0" y="1114933"/>
                  </a:lnTo>
                  <a:lnTo>
                    <a:pt x="0" y="0"/>
                  </a:lnTo>
                  <a:close/>
                </a:path>
              </a:pathLst>
            </a:custGeom>
            <a:blipFill>
              <a:blip r:embed="rId2"/>
              <a:stretch>
                <a:fillRect l="-30644" t="-3"/>
              </a:stretch>
            </a:blipFill>
          </p:spPr>
          <p:txBody>
            <a:bodyPr/>
            <a:lstStyle/>
            <a:p>
              <a:endParaRPr lang="es-PE"/>
            </a:p>
          </p:txBody>
        </p:sp>
      </p:grpSp>
      <p:grpSp>
        <p:nvGrpSpPr>
          <p:cNvPr id="11" name="Group 11"/>
          <p:cNvGrpSpPr/>
          <p:nvPr/>
        </p:nvGrpSpPr>
        <p:grpSpPr>
          <a:xfrm>
            <a:off x="9662344" y="123169"/>
            <a:ext cx="2180677" cy="641135"/>
            <a:chOff x="0" y="0"/>
            <a:chExt cx="4361354" cy="1282270"/>
          </a:xfrm>
        </p:grpSpPr>
        <p:sp>
          <p:nvSpPr>
            <p:cNvPr id="12" name="Freeform 12"/>
            <p:cNvSpPr/>
            <p:nvPr/>
          </p:nvSpPr>
          <p:spPr>
            <a:xfrm>
              <a:off x="0" y="0"/>
              <a:ext cx="4361307" cy="1282319"/>
            </a:xfrm>
            <a:custGeom>
              <a:avLst/>
              <a:gdLst/>
              <a:ahLst/>
              <a:cxnLst/>
              <a:rect l="l" t="t" r="r" b="b"/>
              <a:pathLst>
                <a:path w="4361307" h="1282319">
                  <a:moveTo>
                    <a:pt x="0" y="0"/>
                  </a:moveTo>
                  <a:lnTo>
                    <a:pt x="4361307" y="0"/>
                  </a:lnTo>
                  <a:lnTo>
                    <a:pt x="4361307" y="1282319"/>
                  </a:lnTo>
                  <a:lnTo>
                    <a:pt x="0" y="1282319"/>
                  </a:lnTo>
                  <a:lnTo>
                    <a:pt x="0" y="0"/>
                  </a:lnTo>
                  <a:close/>
                </a:path>
              </a:pathLst>
            </a:custGeom>
            <a:blipFill>
              <a:blip r:embed="rId3"/>
              <a:stretch>
                <a:fillRect t="-205" r="-1" b="-202"/>
              </a:stretch>
            </a:blipFill>
          </p:spPr>
          <p:txBody>
            <a:bodyPr/>
            <a:lstStyle/>
            <a:p>
              <a:endParaRPr lang="es-PE"/>
            </a:p>
          </p:txBody>
        </p:sp>
      </p:grpSp>
      <p:sp>
        <p:nvSpPr>
          <p:cNvPr id="24" name="CuadroTexto 23">
            <a:extLst>
              <a:ext uri="{FF2B5EF4-FFF2-40B4-BE49-F238E27FC236}">
                <a16:creationId xmlns:a16="http://schemas.microsoft.com/office/drawing/2014/main" id="{6888C567-3D68-4D70-9D56-AF0A60081177}"/>
              </a:ext>
            </a:extLst>
          </p:cNvPr>
          <p:cNvSpPr txBox="1"/>
          <p:nvPr/>
        </p:nvSpPr>
        <p:spPr>
          <a:xfrm>
            <a:off x="5463988" y="6457890"/>
            <a:ext cx="1264023" cy="400110"/>
          </a:xfrm>
          <a:prstGeom prst="rect">
            <a:avLst/>
          </a:prstGeom>
          <a:noFill/>
        </p:spPr>
        <p:txBody>
          <a:bodyPr wrap="square" rtlCol="0">
            <a:spAutoFit/>
          </a:bodyPr>
          <a:lstStyle/>
          <a:p>
            <a:pPr algn="ctr"/>
            <a:r>
              <a:rPr lang="es-PE" sz="2000" dirty="0">
                <a:solidFill>
                  <a:schemeClr val="bg1"/>
                </a:solidFill>
                <a:latin typeface="Times New Roman" panose="02020603050405020304" pitchFamily="18" charset="0"/>
                <a:cs typeface="Times New Roman" panose="02020603050405020304" pitchFamily="18" charset="0"/>
              </a:rPr>
              <a:t>3</a:t>
            </a:r>
          </a:p>
        </p:txBody>
      </p:sp>
      <p:sp>
        <p:nvSpPr>
          <p:cNvPr id="14" name="CuadroTexto 13">
            <a:extLst>
              <a:ext uri="{FF2B5EF4-FFF2-40B4-BE49-F238E27FC236}">
                <a16:creationId xmlns:a16="http://schemas.microsoft.com/office/drawing/2014/main" id="{0E0664A5-2196-47A3-B4F3-EDC117174D24}"/>
              </a:ext>
            </a:extLst>
          </p:cNvPr>
          <p:cNvSpPr txBox="1"/>
          <p:nvPr/>
        </p:nvSpPr>
        <p:spPr>
          <a:xfrm>
            <a:off x="874171" y="3225936"/>
            <a:ext cx="10443658" cy="3443507"/>
          </a:xfrm>
          <a:prstGeom prst="rect">
            <a:avLst/>
          </a:prstGeom>
          <a:noFill/>
        </p:spPr>
        <p:txBody>
          <a:bodyPr wrap="square">
            <a:spAutoFit/>
          </a:bodyPr>
          <a:lstStyle/>
          <a:p>
            <a:pPr marL="342900" lvl="0" indent="-342900" algn="just">
              <a:lnSpc>
                <a:spcPct val="150000"/>
              </a:lnSpc>
              <a:buFont typeface="Wingdings" panose="05000000000000000000" pitchFamily="2" charset="2"/>
              <a:buChar char=""/>
            </a:pPr>
            <a:r>
              <a:rPr lang="es-PE"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Desarrollar un sistema de procesamiento de imágenes que permita la extracción precisa de características morfológicas relevantes de </a:t>
            </a:r>
            <a:r>
              <a:rPr lang="es-PE" sz="1800"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mashua</a:t>
            </a:r>
            <a:r>
              <a:rPr lang="es-PE"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t>
            </a:r>
          </a:p>
          <a:p>
            <a:pPr marL="342900" lvl="0" indent="-342900" algn="just">
              <a:lnSpc>
                <a:spcPct val="150000"/>
              </a:lnSpc>
              <a:buFont typeface="Wingdings" panose="05000000000000000000" pitchFamily="2" charset="2"/>
              <a:buChar char=""/>
            </a:pPr>
            <a:r>
              <a:rPr lang="es-PE"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Diseñar y entrenar modelos de inteligencia artificial basados en algoritmos de detección y segmentación, como YOLOv5, para la clasificación automatizada de tubérculos de </a:t>
            </a:r>
            <a:r>
              <a:rPr lang="es-PE" sz="1800" i="1"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Tropaeolum</a:t>
            </a:r>
            <a:r>
              <a:rPr lang="es-PE" sz="1800" i="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s-PE" sz="1800" i="1"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tuberosum</a:t>
            </a:r>
            <a:r>
              <a:rPr lang="es-PE"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según sus características morfológicas.</a:t>
            </a:r>
          </a:p>
          <a:p>
            <a:pPr marL="342900" lvl="0" indent="-342900" algn="just">
              <a:lnSpc>
                <a:spcPct val="150000"/>
              </a:lnSpc>
              <a:spcAft>
                <a:spcPts val="600"/>
              </a:spcAft>
              <a:buFont typeface="Wingdings" panose="05000000000000000000" pitchFamily="2" charset="2"/>
              <a:buChar char=""/>
            </a:pPr>
            <a:r>
              <a:rPr lang="es-PE"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Evaluar la eficacia y la precisión del sistema propuesto mediante métricas de validación y pruebas con imágenes de distintas variedades de </a:t>
            </a:r>
            <a:r>
              <a:rPr lang="es-PE" sz="1800"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mashua</a:t>
            </a:r>
            <a:r>
              <a:rPr lang="es-PE"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t>
            </a:r>
          </a:p>
          <a:p>
            <a:pPr marL="285750" indent="-285750" algn="just">
              <a:lnSpc>
                <a:spcPct val="150000"/>
              </a:lnSpc>
              <a:spcAft>
                <a:spcPts val="800"/>
              </a:spcAft>
              <a:buFont typeface="Wingdings" panose="05000000000000000000" pitchFamily="2" charset="2"/>
              <a:buChar char="ü"/>
            </a:pPr>
            <a:endParaRPr lang="es-PE" dirty="0">
              <a:latin typeface="Times New Roman" panose="02020603050405020304" pitchFamily="18" charset="0"/>
              <a:cs typeface="Times New Roman" panose="02020603050405020304" pitchFamily="18" charset="0"/>
            </a:endParaRPr>
          </a:p>
        </p:txBody>
      </p:sp>
      <p:sp>
        <p:nvSpPr>
          <p:cNvPr id="16" name="CuadroTexto 15">
            <a:extLst>
              <a:ext uri="{FF2B5EF4-FFF2-40B4-BE49-F238E27FC236}">
                <a16:creationId xmlns:a16="http://schemas.microsoft.com/office/drawing/2014/main" id="{119ABC7A-B2CB-4B36-9F4F-0BE4918924FF}"/>
              </a:ext>
            </a:extLst>
          </p:cNvPr>
          <p:cNvSpPr txBox="1"/>
          <p:nvPr/>
        </p:nvSpPr>
        <p:spPr>
          <a:xfrm>
            <a:off x="704850" y="283574"/>
            <a:ext cx="6096000" cy="661207"/>
          </a:xfrm>
          <a:prstGeom prst="rect">
            <a:avLst/>
          </a:prstGeom>
          <a:noFill/>
        </p:spPr>
        <p:txBody>
          <a:bodyPr wrap="square">
            <a:spAutoFit/>
          </a:bodyPr>
          <a:lstStyle/>
          <a:p>
            <a:pPr algn="just">
              <a:lnSpc>
                <a:spcPct val="150000"/>
              </a:lnSpc>
              <a:spcAft>
                <a:spcPts val="800"/>
              </a:spcAft>
            </a:pPr>
            <a:r>
              <a:rPr lang="es-PE" sz="2800" b="1"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3. </a:t>
            </a:r>
            <a:r>
              <a:rPr lang="es-PE" sz="28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Objetivos</a:t>
            </a:r>
            <a:endParaRPr lang="es-PE" sz="2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18" name="CuadroTexto 17">
            <a:extLst>
              <a:ext uri="{FF2B5EF4-FFF2-40B4-BE49-F238E27FC236}">
                <a16:creationId xmlns:a16="http://schemas.microsoft.com/office/drawing/2014/main" id="{66BC21CE-BCEF-46CB-A0FF-E17F951988FE}"/>
              </a:ext>
            </a:extLst>
          </p:cNvPr>
          <p:cNvSpPr txBox="1"/>
          <p:nvPr/>
        </p:nvSpPr>
        <p:spPr>
          <a:xfrm>
            <a:off x="874171" y="888688"/>
            <a:ext cx="6096000" cy="579967"/>
          </a:xfrm>
          <a:prstGeom prst="rect">
            <a:avLst/>
          </a:prstGeom>
          <a:noFill/>
        </p:spPr>
        <p:txBody>
          <a:bodyPr wrap="square">
            <a:spAutoFit/>
          </a:bodyPr>
          <a:lstStyle/>
          <a:p>
            <a:pPr algn="just">
              <a:lnSpc>
                <a:spcPct val="150000"/>
              </a:lnSpc>
              <a:spcAft>
                <a:spcPts val="800"/>
              </a:spcAft>
            </a:pPr>
            <a:r>
              <a:rPr lang="es-PE" sz="24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3.1 Objetivo general</a:t>
            </a:r>
            <a:endParaRPr lang="es-PE" sz="24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19" name="CuadroTexto 18">
            <a:extLst>
              <a:ext uri="{FF2B5EF4-FFF2-40B4-BE49-F238E27FC236}">
                <a16:creationId xmlns:a16="http://schemas.microsoft.com/office/drawing/2014/main" id="{F6530B77-FE12-4AC3-B02D-B814B05A869F}"/>
              </a:ext>
            </a:extLst>
          </p:cNvPr>
          <p:cNvSpPr txBox="1"/>
          <p:nvPr/>
        </p:nvSpPr>
        <p:spPr>
          <a:xfrm>
            <a:off x="874171" y="2645969"/>
            <a:ext cx="6096000" cy="579967"/>
          </a:xfrm>
          <a:prstGeom prst="rect">
            <a:avLst/>
          </a:prstGeom>
          <a:noFill/>
        </p:spPr>
        <p:txBody>
          <a:bodyPr wrap="square">
            <a:spAutoFit/>
          </a:bodyPr>
          <a:lstStyle/>
          <a:p>
            <a:pPr algn="just">
              <a:lnSpc>
                <a:spcPct val="150000"/>
              </a:lnSpc>
              <a:spcAft>
                <a:spcPts val="800"/>
              </a:spcAft>
            </a:pPr>
            <a:r>
              <a:rPr lang="es-PE" sz="24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3.2 Objetivos específicos</a:t>
            </a:r>
            <a:endParaRPr lang="es-PE" sz="24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21" name="CuadroTexto 20">
            <a:extLst>
              <a:ext uri="{FF2B5EF4-FFF2-40B4-BE49-F238E27FC236}">
                <a16:creationId xmlns:a16="http://schemas.microsoft.com/office/drawing/2014/main" id="{3577498F-DFB0-415B-BF4A-365ABD5F991B}"/>
              </a:ext>
            </a:extLst>
          </p:cNvPr>
          <p:cNvSpPr txBox="1"/>
          <p:nvPr/>
        </p:nvSpPr>
        <p:spPr>
          <a:xfrm>
            <a:off x="977033" y="1440823"/>
            <a:ext cx="10443658" cy="1289071"/>
          </a:xfrm>
          <a:prstGeom prst="rect">
            <a:avLst/>
          </a:prstGeom>
          <a:noFill/>
        </p:spPr>
        <p:txBody>
          <a:bodyPr wrap="square">
            <a:spAutoFit/>
          </a:bodyPr>
          <a:lstStyle/>
          <a:p>
            <a:pPr algn="just">
              <a:lnSpc>
                <a:spcPct val="150000"/>
              </a:lnSpc>
              <a:spcAft>
                <a:spcPts val="800"/>
              </a:spcAft>
            </a:pPr>
            <a:r>
              <a:rPr lang="es-PE"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Desarrollar un sistema automatizado para la caracterización morfológica de </a:t>
            </a:r>
            <a:r>
              <a:rPr lang="es-PE" sz="1800" dirty="0" err="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Mashua</a:t>
            </a:r>
            <a:r>
              <a:rPr lang="es-PE"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s-PE" sz="1800" i="1" dirty="0" err="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Tropaeolum</a:t>
            </a:r>
            <a:r>
              <a:rPr lang="es-PE" sz="1800" i="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s-PE" sz="1800" i="1" dirty="0" err="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tuberosum</a:t>
            </a:r>
            <a:r>
              <a:rPr lang="es-PE"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mediante la aplicación de modelos de inteligencia artificial y técnicas de análisis de imágenes digitales, con el fin de contribuir a su evaluación, conservación y mejoramiento genético.</a:t>
            </a:r>
            <a:endParaRPr lang="es-PE"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9270187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8"/>
          <p:cNvGrpSpPr/>
          <p:nvPr/>
        </p:nvGrpSpPr>
        <p:grpSpPr>
          <a:xfrm>
            <a:off x="0" y="6340856"/>
            <a:ext cx="12192000" cy="557485"/>
            <a:chOff x="0" y="0"/>
            <a:chExt cx="24384000" cy="1114970"/>
          </a:xfrm>
        </p:grpSpPr>
        <p:sp>
          <p:nvSpPr>
            <p:cNvPr id="9" name="Freeform 9"/>
            <p:cNvSpPr/>
            <p:nvPr/>
          </p:nvSpPr>
          <p:spPr>
            <a:xfrm>
              <a:off x="0" y="0"/>
              <a:ext cx="24384000" cy="1114933"/>
            </a:xfrm>
            <a:custGeom>
              <a:avLst/>
              <a:gdLst/>
              <a:ahLst/>
              <a:cxnLst/>
              <a:rect l="l" t="t" r="r" b="b"/>
              <a:pathLst>
                <a:path w="24384000" h="1114933">
                  <a:moveTo>
                    <a:pt x="0" y="0"/>
                  </a:moveTo>
                  <a:lnTo>
                    <a:pt x="24384000" y="0"/>
                  </a:lnTo>
                  <a:lnTo>
                    <a:pt x="24384000" y="1114933"/>
                  </a:lnTo>
                  <a:lnTo>
                    <a:pt x="0" y="1114933"/>
                  </a:lnTo>
                  <a:lnTo>
                    <a:pt x="0" y="0"/>
                  </a:lnTo>
                  <a:close/>
                </a:path>
              </a:pathLst>
            </a:custGeom>
            <a:blipFill>
              <a:blip r:embed="rId2"/>
              <a:stretch>
                <a:fillRect l="-30644" t="-3"/>
              </a:stretch>
            </a:blipFill>
          </p:spPr>
          <p:txBody>
            <a:bodyPr/>
            <a:lstStyle/>
            <a:p>
              <a:endParaRPr lang="es-PE"/>
            </a:p>
          </p:txBody>
        </p:sp>
      </p:grpSp>
      <p:grpSp>
        <p:nvGrpSpPr>
          <p:cNvPr id="11" name="Group 11"/>
          <p:cNvGrpSpPr/>
          <p:nvPr/>
        </p:nvGrpSpPr>
        <p:grpSpPr>
          <a:xfrm>
            <a:off x="97003" y="70427"/>
            <a:ext cx="2180677" cy="641135"/>
            <a:chOff x="0" y="0"/>
            <a:chExt cx="4361354" cy="1282270"/>
          </a:xfrm>
        </p:grpSpPr>
        <p:sp>
          <p:nvSpPr>
            <p:cNvPr id="12" name="Freeform 12"/>
            <p:cNvSpPr/>
            <p:nvPr/>
          </p:nvSpPr>
          <p:spPr>
            <a:xfrm>
              <a:off x="0" y="0"/>
              <a:ext cx="4361307" cy="1282319"/>
            </a:xfrm>
            <a:custGeom>
              <a:avLst/>
              <a:gdLst/>
              <a:ahLst/>
              <a:cxnLst/>
              <a:rect l="l" t="t" r="r" b="b"/>
              <a:pathLst>
                <a:path w="4361307" h="1282319">
                  <a:moveTo>
                    <a:pt x="0" y="0"/>
                  </a:moveTo>
                  <a:lnTo>
                    <a:pt x="4361307" y="0"/>
                  </a:lnTo>
                  <a:lnTo>
                    <a:pt x="4361307" y="1282319"/>
                  </a:lnTo>
                  <a:lnTo>
                    <a:pt x="0" y="1282319"/>
                  </a:lnTo>
                  <a:lnTo>
                    <a:pt x="0" y="0"/>
                  </a:lnTo>
                  <a:close/>
                </a:path>
              </a:pathLst>
            </a:custGeom>
            <a:blipFill>
              <a:blip r:embed="rId3"/>
              <a:stretch>
                <a:fillRect t="-205" r="-1" b="-202"/>
              </a:stretch>
            </a:blipFill>
          </p:spPr>
          <p:txBody>
            <a:bodyPr/>
            <a:lstStyle/>
            <a:p>
              <a:endParaRPr lang="es-PE"/>
            </a:p>
          </p:txBody>
        </p:sp>
      </p:grpSp>
      <p:sp>
        <p:nvSpPr>
          <p:cNvPr id="24" name="CuadroTexto 23">
            <a:extLst>
              <a:ext uri="{FF2B5EF4-FFF2-40B4-BE49-F238E27FC236}">
                <a16:creationId xmlns:a16="http://schemas.microsoft.com/office/drawing/2014/main" id="{6888C567-3D68-4D70-9D56-AF0A60081177}"/>
              </a:ext>
            </a:extLst>
          </p:cNvPr>
          <p:cNvSpPr txBox="1"/>
          <p:nvPr/>
        </p:nvSpPr>
        <p:spPr>
          <a:xfrm>
            <a:off x="5463988" y="6457890"/>
            <a:ext cx="1264023" cy="400110"/>
          </a:xfrm>
          <a:prstGeom prst="rect">
            <a:avLst/>
          </a:prstGeom>
          <a:noFill/>
        </p:spPr>
        <p:txBody>
          <a:bodyPr wrap="square" rtlCol="0">
            <a:spAutoFit/>
          </a:bodyPr>
          <a:lstStyle/>
          <a:p>
            <a:pPr algn="ctr"/>
            <a:r>
              <a:rPr lang="es-PE" sz="2000" dirty="0">
                <a:solidFill>
                  <a:schemeClr val="bg1"/>
                </a:solidFill>
                <a:latin typeface="Times New Roman" panose="02020603050405020304" pitchFamily="18" charset="0"/>
                <a:cs typeface="Times New Roman" panose="02020603050405020304" pitchFamily="18" charset="0"/>
              </a:rPr>
              <a:t>4</a:t>
            </a:r>
          </a:p>
        </p:txBody>
      </p:sp>
      <p:sp>
        <p:nvSpPr>
          <p:cNvPr id="13" name="CuadroTexto 12">
            <a:extLst>
              <a:ext uri="{FF2B5EF4-FFF2-40B4-BE49-F238E27FC236}">
                <a16:creationId xmlns:a16="http://schemas.microsoft.com/office/drawing/2014/main" id="{BFBC3E87-FC9B-4CBA-BDEF-B5B24660CE82}"/>
              </a:ext>
            </a:extLst>
          </p:cNvPr>
          <p:cNvSpPr txBox="1"/>
          <p:nvPr/>
        </p:nvSpPr>
        <p:spPr>
          <a:xfrm>
            <a:off x="97003" y="770104"/>
            <a:ext cx="6096000" cy="2031325"/>
          </a:xfrm>
          <a:prstGeom prst="rect">
            <a:avLst/>
          </a:prstGeom>
          <a:noFill/>
        </p:spPr>
        <p:txBody>
          <a:bodyPr wrap="square">
            <a:spAutoFit/>
          </a:bodyPr>
          <a:lstStyle/>
          <a:p>
            <a:pPr algn="just"/>
            <a:r>
              <a:rPr lang="es-MX" b="1" dirty="0" err="1">
                <a:latin typeface="Times New Roman" panose="02020603050405020304" pitchFamily="18" charset="0"/>
                <a:cs typeface="Times New Roman" panose="02020603050405020304" pitchFamily="18" charset="0"/>
              </a:rPr>
              <a:t>Mirano</a:t>
            </a:r>
            <a:r>
              <a:rPr lang="es-MX" b="1" dirty="0">
                <a:latin typeface="Times New Roman" panose="02020603050405020304" pitchFamily="18" charset="0"/>
                <a:cs typeface="Times New Roman" panose="02020603050405020304" pitchFamily="18" charset="0"/>
              </a:rPr>
              <a:t> Papel, (2018),</a:t>
            </a:r>
            <a:r>
              <a:rPr lang="es-MX" dirty="0">
                <a:latin typeface="Times New Roman" panose="02020603050405020304" pitchFamily="18" charset="0"/>
                <a:cs typeface="Times New Roman" panose="02020603050405020304" pitchFamily="18" charset="0"/>
              </a:rPr>
              <a:t> caracterizaron morfológicamente 113 accesiones de </a:t>
            </a:r>
            <a:r>
              <a:rPr lang="es-MX" dirty="0" err="1">
                <a:latin typeface="Times New Roman" panose="02020603050405020304" pitchFamily="18" charset="0"/>
                <a:cs typeface="Times New Roman" panose="02020603050405020304" pitchFamily="18" charset="0"/>
              </a:rPr>
              <a:t>mashua</a:t>
            </a:r>
            <a:r>
              <a:rPr lang="es-MX" dirty="0">
                <a:latin typeface="Times New Roman" panose="02020603050405020304" pitchFamily="18" charset="0"/>
                <a:cs typeface="Times New Roman" panose="02020603050405020304" pitchFamily="18" charset="0"/>
              </a:rPr>
              <a:t> en el Centro Agronómico </a:t>
            </a:r>
            <a:r>
              <a:rPr lang="es-MX" dirty="0" err="1">
                <a:latin typeface="Times New Roman" panose="02020603050405020304" pitchFamily="18" charset="0"/>
                <a:cs typeface="Times New Roman" panose="02020603050405020304" pitchFamily="18" charset="0"/>
              </a:rPr>
              <a:t>K’ayra</a:t>
            </a:r>
            <a:r>
              <a:rPr lang="es-MX" dirty="0">
                <a:latin typeface="Times New Roman" panose="02020603050405020304" pitchFamily="18" charset="0"/>
                <a:cs typeface="Times New Roman" panose="02020603050405020304" pitchFamily="18" charset="0"/>
              </a:rPr>
              <a:t> (Cusco) usando descriptores del IPGRI, destacando gran diversidad en tipo de planta, enroscamiento, cobertura del suelo y color del tallo. El estudio resalta la necesidad de continuar con investigaciones para seleccionar variedades adaptadas a distintas zonas y condiciones agroclimáticas.</a:t>
            </a:r>
          </a:p>
        </p:txBody>
      </p:sp>
      <p:sp>
        <p:nvSpPr>
          <p:cNvPr id="14" name="CuadroTexto 13">
            <a:extLst>
              <a:ext uri="{FF2B5EF4-FFF2-40B4-BE49-F238E27FC236}">
                <a16:creationId xmlns:a16="http://schemas.microsoft.com/office/drawing/2014/main" id="{4C629755-E7C5-4603-9241-F31684374976}"/>
              </a:ext>
            </a:extLst>
          </p:cNvPr>
          <p:cNvSpPr txBox="1"/>
          <p:nvPr/>
        </p:nvSpPr>
        <p:spPr>
          <a:xfrm>
            <a:off x="4946275" y="206329"/>
            <a:ext cx="2299448" cy="369332"/>
          </a:xfrm>
          <a:prstGeom prst="rect">
            <a:avLst/>
          </a:prstGeom>
          <a:noFill/>
        </p:spPr>
        <p:txBody>
          <a:bodyPr wrap="square">
            <a:spAutoFit/>
          </a:bodyPr>
          <a:lstStyle/>
          <a:p>
            <a:r>
              <a:rPr lang="es-PE" sz="1800" b="1" dirty="0">
                <a:solidFill>
                  <a:srgbClr val="000000"/>
                </a:solidFill>
                <a:effectLst/>
                <a:latin typeface="Times New Roman" panose="02020603050405020304" pitchFamily="18" charset="0"/>
                <a:ea typeface="Calibri" panose="020F0502020204030204" pitchFamily="34" charset="0"/>
              </a:rPr>
              <a:t>4. ANTECEDENTES</a:t>
            </a:r>
            <a:endParaRPr lang="es-PE" dirty="0"/>
          </a:p>
        </p:txBody>
      </p:sp>
      <p:pic>
        <p:nvPicPr>
          <p:cNvPr id="7" name="Imagen 6">
            <a:extLst>
              <a:ext uri="{FF2B5EF4-FFF2-40B4-BE49-F238E27FC236}">
                <a16:creationId xmlns:a16="http://schemas.microsoft.com/office/drawing/2014/main" id="{8FAC8CC8-A5F5-438C-A601-E5D372A1A9A9}"/>
              </a:ext>
            </a:extLst>
          </p:cNvPr>
          <p:cNvPicPr>
            <a:picLocks noChangeAspect="1"/>
          </p:cNvPicPr>
          <p:nvPr/>
        </p:nvPicPr>
        <p:blipFill>
          <a:blip r:embed="rId4"/>
          <a:stretch>
            <a:fillRect/>
          </a:stretch>
        </p:blipFill>
        <p:spPr>
          <a:xfrm>
            <a:off x="149555" y="2896589"/>
            <a:ext cx="6043448" cy="3290589"/>
          </a:xfrm>
          <a:prstGeom prst="rect">
            <a:avLst/>
          </a:prstGeom>
        </p:spPr>
      </p:pic>
      <p:cxnSp>
        <p:nvCxnSpPr>
          <p:cNvPr id="16" name="Conector recto 15">
            <a:extLst>
              <a:ext uri="{FF2B5EF4-FFF2-40B4-BE49-F238E27FC236}">
                <a16:creationId xmlns:a16="http://schemas.microsoft.com/office/drawing/2014/main" id="{8A788268-1A30-4A90-A431-BADE3EB1A3D4}"/>
              </a:ext>
            </a:extLst>
          </p:cNvPr>
          <p:cNvCxnSpPr/>
          <p:nvPr/>
        </p:nvCxnSpPr>
        <p:spPr>
          <a:xfrm>
            <a:off x="6300580" y="711587"/>
            <a:ext cx="0" cy="553826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2" name="CuadroTexto 21">
            <a:extLst>
              <a:ext uri="{FF2B5EF4-FFF2-40B4-BE49-F238E27FC236}">
                <a16:creationId xmlns:a16="http://schemas.microsoft.com/office/drawing/2014/main" id="{0F092213-AE04-4401-BBC2-411B2EB6CD20}"/>
              </a:ext>
            </a:extLst>
          </p:cNvPr>
          <p:cNvSpPr txBox="1"/>
          <p:nvPr/>
        </p:nvSpPr>
        <p:spPr>
          <a:xfrm>
            <a:off x="6623311" y="4115088"/>
            <a:ext cx="5339748" cy="1754326"/>
          </a:xfrm>
          <a:prstGeom prst="rect">
            <a:avLst/>
          </a:prstGeom>
          <a:noFill/>
        </p:spPr>
        <p:txBody>
          <a:bodyPr wrap="square">
            <a:spAutoFit/>
          </a:bodyPr>
          <a:lstStyle/>
          <a:p>
            <a:pPr algn="just"/>
            <a:r>
              <a:rPr lang="es-MX" b="1" dirty="0">
                <a:latin typeface="Times New Roman" panose="02020603050405020304" pitchFamily="18" charset="0"/>
                <a:cs typeface="Times New Roman" panose="02020603050405020304" pitchFamily="18" charset="0"/>
              </a:rPr>
              <a:t>Sharma et al. (2025), </a:t>
            </a:r>
            <a:r>
              <a:rPr lang="es-MX" dirty="0">
                <a:latin typeface="Times New Roman" panose="02020603050405020304" pitchFamily="18" charset="0"/>
                <a:cs typeface="Times New Roman" panose="02020603050405020304" pitchFamily="18" charset="0"/>
              </a:rPr>
              <a:t>desarrollaron un sistema de estimación de masa y clasificación de tubérculos de papa usando imágenes 2D desde ángulos superior y lateral. Utilizaron modelos de regresión y clasificación aleatoria, alcanzando alta precisión (R² = 0,99 para masa y 100 % en clasificación de tamaño).</a:t>
            </a:r>
            <a:endParaRPr lang="es-PE" dirty="0">
              <a:latin typeface="Times New Roman" panose="02020603050405020304" pitchFamily="18" charset="0"/>
              <a:cs typeface="Times New Roman" panose="02020603050405020304" pitchFamily="18" charset="0"/>
            </a:endParaRPr>
          </a:p>
        </p:txBody>
      </p:sp>
      <p:pic>
        <p:nvPicPr>
          <p:cNvPr id="20" name="Imagen 19">
            <a:extLst>
              <a:ext uri="{FF2B5EF4-FFF2-40B4-BE49-F238E27FC236}">
                <a16:creationId xmlns:a16="http://schemas.microsoft.com/office/drawing/2014/main" id="{9F65FEDA-0998-4CF0-8BC4-D4B77313E3D2}"/>
              </a:ext>
            </a:extLst>
          </p:cNvPr>
          <p:cNvPicPr>
            <a:picLocks noChangeAspect="1"/>
          </p:cNvPicPr>
          <p:nvPr/>
        </p:nvPicPr>
        <p:blipFill>
          <a:blip r:embed="rId5"/>
          <a:stretch>
            <a:fillRect/>
          </a:stretch>
        </p:blipFill>
        <p:spPr>
          <a:xfrm>
            <a:off x="6478639" y="1141838"/>
            <a:ext cx="5484420" cy="2571329"/>
          </a:xfrm>
          <a:prstGeom prst="rect">
            <a:avLst/>
          </a:prstGeom>
        </p:spPr>
      </p:pic>
    </p:spTree>
    <p:extLst>
      <p:ext uri="{BB962C8B-B14F-4D97-AF65-F5344CB8AC3E}">
        <p14:creationId xmlns:p14="http://schemas.microsoft.com/office/powerpoint/2010/main" val="7963947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8"/>
          <p:cNvGrpSpPr/>
          <p:nvPr/>
        </p:nvGrpSpPr>
        <p:grpSpPr>
          <a:xfrm>
            <a:off x="0" y="6354711"/>
            <a:ext cx="12192000" cy="557485"/>
            <a:chOff x="0" y="0"/>
            <a:chExt cx="24384000" cy="1114970"/>
          </a:xfrm>
        </p:grpSpPr>
        <p:sp>
          <p:nvSpPr>
            <p:cNvPr id="9" name="Freeform 9"/>
            <p:cNvSpPr/>
            <p:nvPr/>
          </p:nvSpPr>
          <p:spPr>
            <a:xfrm>
              <a:off x="0" y="0"/>
              <a:ext cx="24384000" cy="1114933"/>
            </a:xfrm>
            <a:custGeom>
              <a:avLst/>
              <a:gdLst/>
              <a:ahLst/>
              <a:cxnLst/>
              <a:rect l="l" t="t" r="r" b="b"/>
              <a:pathLst>
                <a:path w="24384000" h="1114933">
                  <a:moveTo>
                    <a:pt x="0" y="0"/>
                  </a:moveTo>
                  <a:lnTo>
                    <a:pt x="24384000" y="0"/>
                  </a:lnTo>
                  <a:lnTo>
                    <a:pt x="24384000" y="1114933"/>
                  </a:lnTo>
                  <a:lnTo>
                    <a:pt x="0" y="1114933"/>
                  </a:lnTo>
                  <a:lnTo>
                    <a:pt x="0" y="0"/>
                  </a:lnTo>
                  <a:close/>
                </a:path>
              </a:pathLst>
            </a:custGeom>
            <a:blipFill>
              <a:blip r:embed="rId2"/>
              <a:stretch>
                <a:fillRect l="-30644" t="-3"/>
              </a:stretch>
            </a:blipFill>
          </p:spPr>
          <p:txBody>
            <a:bodyPr/>
            <a:lstStyle/>
            <a:p>
              <a:endParaRPr lang="es-PE"/>
            </a:p>
          </p:txBody>
        </p:sp>
      </p:grpSp>
      <p:grpSp>
        <p:nvGrpSpPr>
          <p:cNvPr id="11" name="Group 11"/>
          <p:cNvGrpSpPr/>
          <p:nvPr/>
        </p:nvGrpSpPr>
        <p:grpSpPr>
          <a:xfrm>
            <a:off x="294226" y="294227"/>
            <a:ext cx="2180677" cy="641135"/>
            <a:chOff x="0" y="0"/>
            <a:chExt cx="4361354" cy="1282270"/>
          </a:xfrm>
        </p:grpSpPr>
        <p:sp>
          <p:nvSpPr>
            <p:cNvPr id="12" name="Freeform 12"/>
            <p:cNvSpPr/>
            <p:nvPr/>
          </p:nvSpPr>
          <p:spPr>
            <a:xfrm>
              <a:off x="0" y="0"/>
              <a:ext cx="4361307" cy="1282319"/>
            </a:xfrm>
            <a:custGeom>
              <a:avLst/>
              <a:gdLst/>
              <a:ahLst/>
              <a:cxnLst/>
              <a:rect l="l" t="t" r="r" b="b"/>
              <a:pathLst>
                <a:path w="4361307" h="1282319">
                  <a:moveTo>
                    <a:pt x="0" y="0"/>
                  </a:moveTo>
                  <a:lnTo>
                    <a:pt x="4361307" y="0"/>
                  </a:lnTo>
                  <a:lnTo>
                    <a:pt x="4361307" y="1282319"/>
                  </a:lnTo>
                  <a:lnTo>
                    <a:pt x="0" y="1282319"/>
                  </a:lnTo>
                  <a:lnTo>
                    <a:pt x="0" y="0"/>
                  </a:lnTo>
                  <a:close/>
                </a:path>
              </a:pathLst>
            </a:custGeom>
            <a:blipFill>
              <a:blip r:embed="rId3"/>
              <a:stretch>
                <a:fillRect t="-205" r="-1" b="-202"/>
              </a:stretch>
            </a:blipFill>
          </p:spPr>
          <p:txBody>
            <a:bodyPr/>
            <a:lstStyle/>
            <a:p>
              <a:endParaRPr lang="es-PE"/>
            </a:p>
          </p:txBody>
        </p:sp>
      </p:grpSp>
      <p:sp>
        <p:nvSpPr>
          <p:cNvPr id="24" name="CuadroTexto 23">
            <a:extLst>
              <a:ext uri="{FF2B5EF4-FFF2-40B4-BE49-F238E27FC236}">
                <a16:creationId xmlns:a16="http://schemas.microsoft.com/office/drawing/2014/main" id="{6888C567-3D68-4D70-9D56-AF0A60081177}"/>
              </a:ext>
            </a:extLst>
          </p:cNvPr>
          <p:cNvSpPr txBox="1"/>
          <p:nvPr/>
        </p:nvSpPr>
        <p:spPr>
          <a:xfrm>
            <a:off x="5463988" y="6457890"/>
            <a:ext cx="1264023" cy="400110"/>
          </a:xfrm>
          <a:prstGeom prst="rect">
            <a:avLst/>
          </a:prstGeom>
          <a:noFill/>
        </p:spPr>
        <p:txBody>
          <a:bodyPr wrap="square" rtlCol="0">
            <a:spAutoFit/>
          </a:bodyPr>
          <a:lstStyle/>
          <a:p>
            <a:pPr algn="ctr"/>
            <a:r>
              <a:rPr lang="es-PE" sz="2000" dirty="0">
                <a:solidFill>
                  <a:schemeClr val="bg1"/>
                </a:solidFill>
                <a:latin typeface="Times New Roman" panose="02020603050405020304" pitchFamily="18" charset="0"/>
                <a:cs typeface="Times New Roman" panose="02020603050405020304" pitchFamily="18" charset="0"/>
              </a:rPr>
              <a:t>5</a:t>
            </a:r>
          </a:p>
        </p:txBody>
      </p:sp>
      <p:sp>
        <p:nvSpPr>
          <p:cNvPr id="16" name="CuadroTexto 15">
            <a:extLst>
              <a:ext uri="{FF2B5EF4-FFF2-40B4-BE49-F238E27FC236}">
                <a16:creationId xmlns:a16="http://schemas.microsoft.com/office/drawing/2014/main" id="{733A0B44-FDB3-4912-A157-34959C6C7B59}"/>
              </a:ext>
            </a:extLst>
          </p:cNvPr>
          <p:cNvSpPr txBox="1"/>
          <p:nvPr/>
        </p:nvSpPr>
        <p:spPr>
          <a:xfrm>
            <a:off x="1066799" y="1796852"/>
            <a:ext cx="10058400" cy="2951064"/>
          </a:xfrm>
          <a:prstGeom prst="rect">
            <a:avLst/>
          </a:prstGeom>
          <a:noFill/>
        </p:spPr>
        <p:txBody>
          <a:bodyPr wrap="square">
            <a:spAutoFit/>
          </a:bodyPr>
          <a:lstStyle/>
          <a:p>
            <a:pPr algn="just">
              <a:lnSpc>
                <a:spcPct val="150000"/>
              </a:lnSpc>
              <a:spcAft>
                <a:spcPts val="600"/>
              </a:spcAft>
            </a:pPr>
            <a:r>
              <a:rPr lang="es-PE"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Una caracterización morfológica más precisa, rápida y repetible que las técnicas tradicionales será posible con el desarrollo de un sistema automatizado basado en inteligencia artificial que utilice modelos de detección como YOLO entrenados con imágenes digitales de tubérculos de </a:t>
            </a:r>
            <a:r>
              <a:rPr lang="es-PE" sz="1800"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mashua</a:t>
            </a:r>
            <a:r>
              <a:rPr lang="es-PE"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s-PE" sz="1800" i="1"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Tropaeolum</a:t>
            </a:r>
            <a:r>
              <a:rPr lang="es-PE" sz="1800" i="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s-PE" sz="1800" i="1"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tuberosum</a:t>
            </a:r>
            <a:r>
              <a:rPr lang="es-PE"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Este método ayudará a clasificar eficazmente las accesiones, identificar rasgos de interés agronómico y apoyar iniciativas de conservación y mejora genética, al facilitar la identificación de variaciones fenotípicas complejas y revelar patrones morfológicos sutiles que con frecuencia se pasan por alto en los análisis tradicionales.</a:t>
            </a:r>
          </a:p>
        </p:txBody>
      </p:sp>
      <p:sp>
        <p:nvSpPr>
          <p:cNvPr id="19" name="CuadroTexto 18">
            <a:extLst>
              <a:ext uri="{FF2B5EF4-FFF2-40B4-BE49-F238E27FC236}">
                <a16:creationId xmlns:a16="http://schemas.microsoft.com/office/drawing/2014/main" id="{FC17EFB5-529D-4EB2-907D-B5F355DF5B9C}"/>
              </a:ext>
            </a:extLst>
          </p:cNvPr>
          <p:cNvSpPr txBox="1"/>
          <p:nvPr/>
        </p:nvSpPr>
        <p:spPr>
          <a:xfrm>
            <a:off x="5091952" y="1058152"/>
            <a:ext cx="1721224" cy="458074"/>
          </a:xfrm>
          <a:prstGeom prst="rect">
            <a:avLst/>
          </a:prstGeom>
          <a:noFill/>
        </p:spPr>
        <p:txBody>
          <a:bodyPr wrap="square">
            <a:spAutoFit/>
          </a:bodyPr>
          <a:lstStyle/>
          <a:p>
            <a:pPr algn="just">
              <a:lnSpc>
                <a:spcPct val="150000"/>
              </a:lnSpc>
              <a:spcAft>
                <a:spcPts val="600"/>
              </a:spcAft>
            </a:pPr>
            <a:r>
              <a:rPr lang="es-PE" sz="18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5. HIPÓTESIS </a:t>
            </a:r>
            <a:endParaRPr lang="es-PE"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5478012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8"/>
          <p:cNvGrpSpPr/>
          <p:nvPr/>
        </p:nvGrpSpPr>
        <p:grpSpPr>
          <a:xfrm>
            <a:off x="0" y="6340856"/>
            <a:ext cx="12192000" cy="557485"/>
            <a:chOff x="0" y="0"/>
            <a:chExt cx="24384000" cy="1114970"/>
          </a:xfrm>
        </p:grpSpPr>
        <p:sp>
          <p:nvSpPr>
            <p:cNvPr id="9" name="Freeform 9"/>
            <p:cNvSpPr/>
            <p:nvPr/>
          </p:nvSpPr>
          <p:spPr>
            <a:xfrm>
              <a:off x="0" y="0"/>
              <a:ext cx="24384000" cy="1114933"/>
            </a:xfrm>
            <a:custGeom>
              <a:avLst/>
              <a:gdLst/>
              <a:ahLst/>
              <a:cxnLst/>
              <a:rect l="l" t="t" r="r" b="b"/>
              <a:pathLst>
                <a:path w="24384000" h="1114933">
                  <a:moveTo>
                    <a:pt x="0" y="0"/>
                  </a:moveTo>
                  <a:lnTo>
                    <a:pt x="24384000" y="0"/>
                  </a:lnTo>
                  <a:lnTo>
                    <a:pt x="24384000" y="1114933"/>
                  </a:lnTo>
                  <a:lnTo>
                    <a:pt x="0" y="1114933"/>
                  </a:lnTo>
                  <a:lnTo>
                    <a:pt x="0" y="0"/>
                  </a:lnTo>
                  <a:close/>
                </a:path>
              </a:pathLst>
            </a:custGeom>
            <a:blipFill>
              <a:blip r:embed="rId2"/>
              <a:stretch>
                <a:fillRect l="-30644" t="-3"/>
              </a:stretch>
            </a:blipFill>
          </p:spPr>
          <p:txBody>
            <a:bodyPr/>
            <a:lstStyle/>
            <a:p>
              <a:endParaRPr lang="es-PE"/>
            </a:p>
          </p:txBody>
        </p:sp>
      </p:grpSp>
      <p:grpSp>
        <p:nvGrpSpPr>
          <p:cNvPr id="11" name="Group 11"/>
          <p:cNvGrpSpPr/>
          <p:nvPr/>
        </p:nvGrpSpPr>
        <p:grpSpPr>
          <a:xfrm>
            <a:off x="249403" y="131455"/>
            <a:ext cx="2180677" cy="641135"/>
            <a:chOff x="0" y="0"/>
            <a:chExt cx="4361354" cy="1282270"/>
          </a:xfrm>
        </p:grpSpPr>
        <p:sp>
          <p:nvSpPr>
            <p:cNvPr id="12" name="Freeform 12"/>
            <p:cNvSpPr/>
            <p:nvPr/>
          </p:nvSpPr>
          <p:spPr>
            <a:xfrm>
              <a:off x="0" y="0"/>
              <a:ext cx="4361307" cy="1282319"/>
            </a:xfrm>
            <a:custGeom>
              <a:avLst/>
              <a:gdLst/>
              <a:ahLst/>
              <a:cxnLst/>
              <a:rect l="l" t="t" r="r" b="b"/>
              <a:pathLst>
                <a:path w="4361307" h="1282319">
                  <a:moveTo>
                    <a:pt x="0" y="0"/>
                  </a:moveTo>
                  <a:lnTo>
                    <a:pt x="4361307" y="0"/>
                  </a:lnTo>
                  <a:lnTo>
                    <a:pt x="4361307" y="1282319"/>
                  </a:lnTo>
                  <a:lnTo>
                    <a:pt x="0" y="1282319"/>
                  </a:lnTo>
                  <a:lnTo>
                    <a:pt x="0" y="0"/>
                  </a:lnTo>
                  <a:close/>
                </a:path>
              </a:pathLst>
            </a:custGeom>
            <a:blipFill>
              <a:blip r:embed="rId3"/>
              <a:stretch>
                <a:fillRect t="-205" r="-1" b="-202"/>
              </a:stretch>
            </a:blipFill>
          </p:spPr>
          <p:txBody>
            <a:bodyPr/>
            <a:lstStyle/>
            <a:p>
              <a:endParaRPr lang="es-PE"/>
            </a:p>
          </p:txBody>
        </p:sp>
      </p:grpSp>
      <p:sp>
        <p:nvSpPr>
          <p:cNvPr id="24" name="CuadroTexto 23">
            <a:extLst>
              <a:ext uri="{FF2B5EF4-FFF2-40B4-BE49-F238E27FC236}">
                <a16:creationId xmlns:a16="http://schemas.microsoft.com/office/drawing/2014/main" id="{6888C567-3D68-4D70-9D56-AF0A60081177}"/>
              </a:ext>
            </a:extLst>
          </p:cNvPr>
          <p:cNvSpPr txBox="1"/>
          <p:nvPr/>
        </p:nvSpPr>
        <p:spPr>
          <a:xfrm>
            <a:off x="5463988" y="6457890"/>
            <a:ext cx="1264023" cy="400110"/>
          </a:xfrm>
          <a:prstGeom prst="rect">
            <a:avLst/>
          </a:prstGeom>
          <a:noFill/>
        </p:spPr>
        <p:txBody>
          <a:bodyPr wrap="square" rtlCol="0">
            <a:spAutoFit/>
          </a:bodyPr>
          <a:lstStyle/>
          <a:p>
            <a:pPr algn="ctr"/>
            <a:r>
              <a:rPr lang="es-PE" sz="2000" dirty="0">
                <a:solidFill>
                  <a:schemeClr val="bg1"/>
                </a:solidFill>
                <a:latin typeface="Times New Roman" panose="02020603050405020304" pitchFamily="18" charset="0"/>
                <a:cs typeface="Times New Roman" panose="02020603050405020304" pitchFamily="18" charset="0"/>
              </a:rPr>
              <a:t>6</a:t>
            </a:r>
          </a:p>
        </p:txBody>
      </p:sp>
      <p:sp>
        <p:nvSpPr>
          <p:cNvPr id="13" name="CuadroTexto 12">
            <a:extLst>
              <a:ext uri="{FF2B5EF4-FFF2-40B4-BE49-F238E27FC236}">
                <a16:creationId xmlns:a16="http://schemas.microsoft.com/office/drawing/2014/main" id="{475D2344-F4D9-4A15-BF6C-40EF2B58EC20}"/>
              </a:ext>
            </a:extLst>
          </p:cNvPr>
          <p:cNvSpPr txBox="1"/>
          <p:nvPr/>
        </p:nvSpPr>
        <p:spPr>
          <a:xfrm>
            <a:off x="4675093" y="156733"/>
            <a:ext cx="2052917" cy="458074"/>
          </a:xfrm>
          <a:prstGeom prst="rect">
            <a:avLst/>
          </a:prstGeom>
          <a:noFill/>
        </p:spPr>
        <p:txBody>
          <a:bodyPr wrap="square">
            <a:spAutoFit/>
          </a:bodyPr>
          <a:lstStyle/>
          <a:p>
            <a:pPr algn="just">
              <a:lnSpc>
                <a:spcPct val="150000"/>
              </a:lnSpc>
              <a:spcAft>
                <a:spcPts val="600"/>
              </a:spcAft>
            </a:pPr>
            <a:r>
              <a:rPr lang="es-PE" sz="18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6. Metodología</a:t>
            </a:r>
            <a:endParaRPr lang="es-PE"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14" name="CuadroTexto 13">
            <a:extLst>
              <a:ext uri="{FF2B5EF4-FFF2-40B4-BE49-F238E27FC236}">
                <a16:creationId xmlns:a16="http://schemas.microsoft.com/office/drawing/2014/main" id="{79C613C6-F968-43B1-8AF6-DAFDD9960EE2}"/>
              </a:ext>
            </a:extLst>
          </p:cNvPr>
          <p:cNvSpPr txBox="1"/>
          <p:nvPr/>
        </p:nvSpPr>
        <p:spPr>
          <a:xfrm>
            <a:off x="577730" y="935387"/>
            <a:ext cx="4119282" cy="1754326"/>
          </a:xfrm>
          <a:prstGeom prst="rect">
            <a:avLst/>
          </a:prstGeom>
          <a:noFill/>
        </p:spPr>
        <p:txBody>
          <a:bodyPr wrap="square">
            <a:spAutoFit/>
          </a:bodyPr>
          <a:lstStyle/>
          <a:p>
            <a:pPr algn="just"/>
            <a:r>
              <a:rPr lang="es-MX" b="1" dirty="0">
                <a:latin typeface="Times New Roman" panose="02020603050405020304" pitchFamily="18" charset="0"/>
                <a:cs typeface="Times New Roman" panose="02020603050405020304" pitchFamily="18" charset="0"/>
              </a:rPr>
              <a:t>Entorno de trabajo: </a:t>
            </a:r>
            <a:r>
              <a:rPr lang="es-MX" dirty="0">
                <a:latin typeface="Times New Roman" panose="02020603050405020304" pitchFamily="18" charset="0"/>
                <a:cs typeface="Times New Roman" panose="02020603050405020304" pitchFamily="18" charset="0"/>
              </a:rPr>
              <a:t>Las actividades de procesamiento de datos, entrenamiento de modelos y análisis de resultados se realizarán en entornos computacionales basados en Python, utilizando recursos locales y servicios en la nube. </a:t>
            </a:r>
          </a:p>
        </p:txBody>
      </p:sp>
      <p:sp>
        <p:nvSpPr>
          <p:cNvPr id="16" name="CuadroTexto 15">
            <a:extLst>
              <a:ext uri="{FF2B5EF4-FFF2-40B4-BE49-F238E27FC236}">
                <a16:creationId xmlns:a16="http://schemas.microsoft.com/office/drawing/2014/main" id="{73155039-C0A9-4543-ACFE-99609217E6CC}"/>
              </a:ext>
            </a:extLst>
          </p:cNvPr>
          <p:cNvSpPr txBox="1"/>
          <p:nvPr/>
        </p:nvSpPr>
        <p:spPr>
          <a:xfrm>
            <a:off x="5667303" y="772590"/>
            <a:ext cx="6096000" cy="1294393"/>
          </a:xfrm>
          <a:prstGeom prst="rect">
            <a:avLst/>
          </a:prstGeom>
          <a:noFill/>
        </p:spPr>
        <p:txBody>
          <a:bodyPr wrap="square">
            <a:spAutoFit/>
          </a:bodyPr>
          <a:lstStyle/>
          <a:p>
            <a:pPr algn="just">
              <a:lnSpc>
                <a:spcPct val="150000"/>
              </a:lnSpc>
              <a:spcAft>
                <a:spcPts val="600"/>
              </a:spcAft>
            </a:pPr>
            <a:r>
              <a:rPr lang="es-PE" b="1"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M</a:t>
            </a:r>
            <a:r>
              <a:rPr lang="es-PE" sz="18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uestra</a:t>
            </a:r>
            <a:r>
              <a:rPr lang="es-PE" b="1"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 </a:t>
            </a:r>
            <a:r>
              <a:rPr lang="es-PE" sz="1800" dirty="0">
                <a:solidFill>
                  <a:srgbClr val="000000"/>
                </a:solidFill>
                <a:effectLst/>
                <a:latin typeface="Times New Roman" panose="02020603050405020304" pitchFamily="18" charset="0"/>
                <a:ea typeface="Calibri" panose="020F0502020204030204" pitchFamily="34" charset="0"/>
              </a:rPr>
              <a:t>La unidad de análisis en esta investigación está constituida por un conjunto de 159 imágenes digitales de tubérculos de </a:t>
            </a:r>
            <a:r>
              <a:rPr lang="es-PE" sz="1800" dirty="0" err="1">
                <a:solidFill>
                  <a:srgbClr val="000000"/>
                </a:solidFill>
                <a:effectLst/>
                <a:latin typeface="Times New Roman" panose="02020603050405020304" pitchFamily="18" charset="0"/>
                <a:ea typeface="Calibri" panose="020F0502020204030204" pitchFamily="34" charset="0"/>
              </a:rPr>
              <a:t>mashua</a:t>
            </a:r>
            <a:endParaRPr lang="es-PE" dirty="0"/>
          </a:p>
        </p:txBody>
      </p:sp>
      <p:sp>
        <p:nvSpPr>
          <p:cNvPr id="20" name="CuadroTexto 19">
            <a:extLst>
              <a:ext uri="{FF2B5EF4-FFF2-40B4-BE49-F238E27FC236}">
                <a16:creationId xmlns:a16="http://schemas.microsoft.com/office/drawing/2014/main" id="{46702A65-2FEB-4BD3-A50E-063CE2BBB36A}"/>
              </a:ext>
            </a:extLst>
          </p:cNvPr>
          <p:cNvSpPr txBox="1"/>
          <p:nvPr/>
        </p:nvSpPr>
        <p:spPr>
          <a:xfrm>
            <a:off x="632011" y="2928243"/>
            <a:ext cx="6096000" cy="458074"/>
          </a:xfrm>
          <a:prstGeom prst="rect">
            <a:avLst/>
          </a:prstGeom>
          <a:noFill/>
        </p:spPr>
        <p:txBody>
          <a:bodyPr wrap="square">
            <a:spAutoFit/>
          </a:bodyPr>
          <a:lstStyle/>
          <a:p>
            <a:pPr algn="just">
              <a:lnSpc>
                <a:spcPct val="150000"/>
              </a:lnSpc>
              <a:spcAft>
                <a:spcPts val="600"/>
              </a:spcAft>
            </a:pPr>
            <a:r>
              <a:rPr lang="es-PE" sz="18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Variables de estudio</a:t>
            </a:r>
            <a:endParaRPr lang="es-PE"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22" name="CuadroTexto 21">
            <a:extLst>
              <a:ext uri="{FF2B5EF4-FFF2-40B4-BE49-F238E27FC236}">
                <a16:creationId xmlns:a16="http://schemas.microsoft.com/office/drawing/2014/main" id="{9E82C3F2-745F-4A3E-B630-00694D099377}"/>
              </a:ext>
            </a:extLst>
          </p:cNvPr>
          <p:cNvSpPr txBox="1"/>
          <p:nvPr/>
        </p:nvSpPr>
        <p:spPr>
          <a:xfrm>
            <a:off x="428697" y="3825555"/>
            <a:ext cx="4531660" cy="1786836"/>
          </a:xfrm>
          <a:prstGeom prst="rect">
            <a:avLst/>
          </a:prstGeom>
          <a:noFill/>
        </p:spPr>
        <p:txBody>
          <a:bodyPr wrap="square">
            <a:spAutoFit/>
          </a:bodyPr>
          <a:lstStyle/>
          <a:p>
            <a:pPr marL="342900" indent="-342900" algn="just">
              <a:lnSpc>
                <a:spcPct val="150000"/>
              </a:lnSpc>
              <a:spcAft>
                <a:spcPts val="600"/>
              </a:spcAft>
              <a:buFont typeface="+mj-lt"/>
              <a:buAutoNum type="alphaLcPeriod"/>
            </a:pPr>
            <a:r>
              <a:rPr lang="es-PE"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Variables morfológicas (según descriptores específicos de </a:t>
            </a:r>
            <a:r>
              <a:rPr lang="es-PE" sz="1800"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mashua</a:t>
            </a:r>
            <a:r>
              <a:rPr lang="es-PE"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t>
            </a:r>
          </a:p>
          <a:p>
            <a:pPr marL="342900" indent="-342900" algn="just">
              <a:lnSpc>
                <a:spcPct val="150000"/>
              </a:lnSpc>
              <a:spcAft>
                <a:spcPts val="600"/>
              </a:spcAft>
              <a:buFont typeface="+mj-lt"/>
              <a:buAutoNum type="alphaLcPeriod"/>
            </a:pPr>
            <a:r>
              <a:rPr lang="es-PE" sz="1800" dirty="0">
                <a:solidFill>
                  <a:srgbClr val="000000"/>
                </a:solidFill>
                <a:effectLst/>
                <a:latin typeface="Times New Roman" panose="02020603050405020304" pitchFamily="18" charset="0"/>
                <a:ea typeface="Calibri" panose="020F0502020204030204" pitchFamily="34" charset="0"/>
              </a:rPr>
              <a:t>Variables de desempeño de los modelos de inteligencia artificial</a:t>
            </a:r>
            <a:endParaRPr lang="es-PE" dirty="0"/>
          </a:p>
        </p:txBody>
      </p:sp>
      <p:pic>
        <p:nvPicPr>
          <p:cNvPr id="1026" name="Picture 2">
            <a:extLst>
              <a:ext uri="{FF2B5EF4-FFF2-40B4-BE49-F238E27FC236}">
                <a16:creationId xmlns:a16="http://schemas.microsoft.com/office/drawing/2014/main" id="{55E52E42-0D00-4325-925B-3D466072DBFA}"/>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781016" y="2346944"/>
            <a:ext cx="5982287" cy="337118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788235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8"/>
          <p:cNvGrpSpPr/>
          <p:nvPr/>
        </p:nvGrpSpPr>
        <p:grpSpPr>
          <a:xfrm>
            <a:off x="0" y="6340856"/>
            <a:ext cx="12192000" cy="557485"/>
            <a:chOff x="0" y="0"/>
            <a:chExt cx="24384000" cy="1114970"/>
          </a:xfrm>
        </p:grpSpPr>
        <p:sp>
          <p:nvSpPr>
            <p:cNvPr id="9" name="Freeform 9"/>
            <p:cNvSpPr/>
            <p:nvPr/>
          </p:nvSpPr>
          <p:spPr>
            <a:xfrm>
              <a:off x="0" y="0"/>
              <a:ext cx="24384000" cy="1114933"/>
            </a:xfrm>
            <a:custGeom>
              <a:avLst/>
              <a:gdLst/>
              <a:ahLst/>
              <a:cxnLst/>
              <a:rect l="l" t="t" r="r" b="b"/>
              <a:pathLst>
                <a:path w="24384000" h="1114933">
                  <a:moveTo>
                    <a:pt x="0" y="0"/>
                  </a:moveTo>
                  <a:lnTo>
                    <a:pt x="24384000" y="0"/>
                  </a:lnTo>
                  <a:lnTo>
                    <a:pt x="24384000" y="1114933"/>
                  </a:lnTo>
                  <a:lnTo>
                    <a:pt x="0" y="1114933"/>
                  </a:lnTo>
                  <a:lnTo>
                    <a:pt x="0" y="0"/>
                  </a:lnTo>
                  <a:close/>
                </a:path>
              </a:pathLst>
            </a:custGeom>
            <a:blipFill>
              <a:blip r:embed="rId2"/>
              <a:stretch>
                <a:fillRect l="-30644" t="-3"/>
              </a:stretch>
            </a:blipFill>
          </p:spPr>
          <p:txBody>
            <a:bodyPr/>
            <a:lstStyle/>
            <a:p>
              <a:endParaRPr lang="es-PE"/>
            </a:p>
          </p:txBody>
        </p:sp>
      </p:grpSp>
      <p:grpSp>
        <p:nvGrpSpPr>
          <p:cNvPr id="11" name="Group 11"/>
          <p:cNvGrpSpPr/>
          <p:nvPr/>
        </p:nvGrpSpPr>
        <p:grpSpPr>
          <a:xfrm>
            <a:off x="213544" y="55769"/>
            <a:ext cx="2180677" cy="641135"/>
            <a:chOff x="0" y="0"/>
            <a:chExt cx="4361354" cy="1282270"/>
          </a:xfrm>
        </p:grpSpPr>
        <p:sp>
          <p:nvSpPr>
            <p:cNvPr id="12" name="Freeform 12"/>
            <p:cNvSpPr/>
            <p:nvPr/>
          </p:nvSpPr>
          <p:spPr>
            <a:xfrm>
              <a:off x="0" y="0"/>
              <a:ext cx="4361307" cy="1282319"/>
            </a:xfrm>
            <a:custGeom>
              <a:avLst/>
              <a:gdLst/>
              <a:ahLst/>
              <a:cxnLst/>
              <a:rect l="l" t="t" r="r" b="b"/>
              <a:pathLst>
                <a:path w="4361307" h="1282319">
                  <a:moveTo>
                    <a:pt x="0" y="0"/>
                  </a:moveTo>
                  <a:lnTo>
                    <a:pt x="4361307" y="0"/>
                  </a:lnTo>
                  <a:lnTo>
                    <a:pt x="4361307" y="1282319"/>
                  </a:lnTo>
                  <a:lnTo>
                    <a:pt x="0" y="1282319"/>
                  </a:lnTo>
                  <a:lnTo>
                    <a:pt x="0" y="0"/>
                  </a:lnTo>
                  <a:close/>
                </a:path>
              </a:pathLst>
            </a:custGeom>
            <a:blipFill>
              <a:blip r:embed="rId3"/>
              <a:stretch>
                <a:fillRect t="-205" r="-1" b="-202"/>
              </a:stretch>
            </a:blipFill>
          </p:spPr>
          <p:txBody>
            <a:bodyPr/>
            <a:lstStyle/>
            <a:p>
              <a:endParaRPr lang="es-PE"/>
            </a:p>
          </p:txBody>
        </p:sp>
      </p:grpSp>
      <p:sp>
        <p:nvSpPr>
          <p:cNvPr id="24" name="CuadroTexto 23">
            <a:extLst>
              <a:ext uri="{FF2B5EF4-FFF2-40B4-BE49-F238E27FC236}">
                <a16:creationId xmlns:a16="http://schemas.microsoft.com/office/drawing/2014/main" id="{6888C567-3D68-4D70-9D56-AF0A60081177}"/>
              </a:ext>
            </a:extLst>
          </p:cNvPr>
          <p:cNvSpPr txBox="1"/>
          <p:nvPr/>
        </p:nvSpPr>
        <p:spPr>
          <a:xfrm>
            <a:off x="5463988" y="6457890"/>
            <a:ext cx="1264023" cy="400110"/>
          </a:xfrm>
          <a:prstGeom prst="rect">
            <a:avLst/>
          </a:prstGeom>
          <a:noFill/>
        </p:spPr>
        <p:txBody>
          <a:bodyPr wrap="square" rtlCol="0">
            <a:spAutoFit/>
          </a:bodyPr>
          <a:lstStyle/>
          <a:p>
            <a:pPr algn="ctr"/>
            <a:r>
              <a:rPr lang="es-PE" sz="2000" dirty="0">
                <a:solidFill>
                  <a:schemeClr val="bg1"/>
                </a:solidFill>
                <a:latin typeface="Times New Roman" panose="02020603050405020304" pitchFamily="18" charset="0"/>
                <a:cs typeface="Times New Roman" panose="02020603050405020304" pitchFamily="18" charset="0"/>
              </a:rPr>
              <a:t>7</a:t>
            </a:r>
          </a:p>
        </p:txBody>
      </p:sp>
      <p:sp>
        <p:nvSpPr>
          <p:cNvPr id="10" name="CuadroTexto 9">
            <a:extLst>
              <a:ext uri="{FF2B5EF4-FFF2-40B4-BE49-F238E27FC236}">
                <a16:creationId xmlns:a16="http://schemas.microsoft.com/office/drawing/2014/main" id="{E026B823-01DF-4964-BA32-D28BA91CD293}"/>
              </a:ext>
            </a:extLst>
          </p:cNvPr>
          <p:cNvSpPr txBox="1"/>
          <p:nvPr/>
        </p:nvSpPr>
        <p:spPr>
          <a:xfrm>
            <a:off x="5047128" y="124162"/>
            <a:ext cx="1649506" cy="458074"/>
          </a:xfrm>
          <a:prstGeom prst="rect">
            <a:avLst/>
          </a:prstGeom>
          <a:noFill/>
        </p:spPr>
        <p:txBody>
          <a:bodyPr wrap="square">
            <a:spAutoFit/>
          </a:bodyPr>
          <a:lstStyle/>
          <a:p>
            <a:pPr algn="just">
              <a:lnSpc>
                <a:spcPct val="150000"/>
              </a:lnSpc>
              <a:spcAft>
                <a:spcPts val="600"/>
              </a:spcAft>
            </a:pPr>
            <a:r>
              <a:rPr lang="es-PE" sz="18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Métodos</a:t>
            </a:r>
            <a:endParaRPr lang="es-PE"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13" name="CuadroTexto 12">
            <a:extLst>
              <a:ext uri="{FF2B5EF4-FFF2-40B4-BE49-F238E27FC236}">
                <a16:creationId xmlns:a16="http://schemas.microsoft.com/office/drawing/2014/main" id="{9CEFB286-AB68-4D82-AD01-EC36EECD8F61}"/>
              </a:ext>
            </a:extLst>
          </p:cNvPr>
          <p:cNvSpPr txBox="1"/>
          <p:nvPr/>
        </p:nvSpPr>
        <p:spPr>
          <a:xfrm>
            <a:off x="627529" y="841793"/>
            <a:ext cx="4078941" cy="369332"/>
          </a:xfrm>
          <a:prstGeom prst="rect">
            <a:avLst/>
          </a:prstGeom>
          <a:noFill/>
        </p:spPr>
        <p:txBody>
          <a:bodyPr wrap="square">
            <a:spAutoFit/>
          </a:bodyPr>
          <a:lstStyle/>
          <a:p>
            <a:r>
              <a:rPr lang="es-PE" b="1" dirty="0">
                <a:solidFill>
                  <a:srgbClr val="000000"/>
                </a:solidFill>
                <a:latin typeface="Times New Roman" panose="02020603050405020304" pitchFamily="18" charset="0"/>
                <a:ea typeface="Calibri" panose="020F0502020204030204" pitchFamily="34" charset="0"/>
              </a:rPr>
              <a:t>1. A</a:t>
            </a:r>
            <a:r>
              <a:rPr lang="es-PE" sz="1800" b="1" dirty="0">
                <a:solidFill>
                  <a:srgbClr val="000000"/>
                </a:solidFill>
                <a:effectLst/>
                <a:latin typeface="Times New Roman" panose="02020603050405020304" pitchFamily="18" charset="0"/>
                <a:ea typeface="Calibri" panose="020F0502020204030204" pitchFamily="34" charset="0"/>
              </a:rPr>
              <a:t>notación de imágenes</a:t>
            </a:r>
            <a:endParaRPr lang="es-PE" dirty="0"/>
          </a:p>
        </p:txBody>
      </p:sp>
      <p:pic>
        <p:nvPicPr>
          <p:cNvPr id="7" name="Imagen 6">
            <a:extLst>
              <a:ext uri="{FF2B5EF4-FFF2-40B4-BE49-F238E27FC236}">
                <a16:creationId xmlns:a16="http://schemas.microsoft.com/office/drawing/2014/main" id="{DC85E0E3-19E8-4E93-89B2-2EFD1F57D559}"/>
              </a:ext>
            </a:extLst>
          </p:cNvPr>
          <p:cNvPicPr>
            <a:picLocks noChangeAspect="1"/>
          </p:cNvPicPr>
          <p:nvPr/>
        </p:nvPicPr>
        <p:blipFill rotWithShape="1">
          <a:blip r:embed="rId4"/>
          <a:srcRect r="33824"/>
          <a:stretch/>
        </p:blipFill>
        <p:spPr>
          <a:xfrm>
            <a:off x="528919" y="1329985"/>
            <a:ext cx="2616970" cy="641160"/>
          </a:xfrm>
          <a:prstGeom prst="rect">
            <a:avLst/>
          </a:prstGeom>
        </p:spPr>
      </p:pic>
      <p:sp>
        <p:nvSpPr>
          <p:cNvPr id="17" name="CuadroTexto 16">
            <a:extLst>
              <a:ext uri="{FF2B5EF4-FFF2-40B4-BE49-F238E27FC236}">
                <a16:creationId xmlns:a16="http://schemas.microsoft.com/office/drawing/2014/main" id="{2EDB789F-4446-4961-A9A7-F107669F49B1}"/>
              </a:ext>
            </a:extLst>
          </p:cNvPr>
          <p:cNvSpPr txBox="1"/>
          <p:nvPr/>
        </p:nvSpPr>
        <p:spPr>
          <a:xfrm>
            <a:off x="528919" y="2473264"/>
            <a:ext cx="4419600" cy="646331"/>
          </a:xfrm>
          <a:prstGeom prst="rect">
            <a:avLst/>
          </a:prstGeom>
          <a:noFill/>
        </p:spPr>
        <p:txBody>
          <a:bodyPr wrap="square">
            <a:spAutoFit/>
          </a:bodyPr>
          <a:lstStyle/>
          <a:p>
            <a:r>
              <a:rPr lang="es-PE" sz="1800" b="1" dirty="0">
                <a:solidFill>
                  <a:srgbClr val="000000"/>
                </a:solidFill>
                <a:effectLst/>
                <a:latin typeface="Times New Roman" panose="02020603050405020304" pitchFamily="18" charset="0"/>
                <a:ea typeface="Calibri" panose="020F0502020204030204" pitchFamily="34" charset="0"/>
              </a:rPr>
              <a:t>2. Registro y estructuración de datos  fenotípicos</a:t>
            </a:r>
            <a:endParaRPr lang="es-PE" dirty="0"/>
          </a:p>
        </p:txBody>
      </p:sp>
      <p:sp>
        <p:nvSpPr>
          <p:cNvPr id="20" name="CuadroTexto 19">
            <a:extLst>
              <a:ext uri="{FF2B5EF4-FFF2-40B4-BE49-F238E27FC236}">
                <a16:creationId xmlns:a16="http://schemas.microsoft.com/office/drawing/2014/main" id="{83590E31-A57F-4C6F-9694-9F3A9A82C823}"/>
              </a:ext>
            </a:extLst>
          </p:cNvPr>
          <p:cNvSpPr txBox="1"/>
          <p:nvPr/>
        </p:nvSpPr>
        <p:spPr>
          <a:xfrm>
            <a:off x="401803" y="3416723"/>
            <a:ext cx="4215021" cy="2031325"/>
          </a:xfrm>
          <a:prstGeom prst="rect">
            <a:avLst/>
          </a:prstGeom>
          <a:noFill/>
        </p:spPr>
        <p:txBody>
          <a:bodyPr wrap="square">
            <a:spAutoFit/>
          </a:bodyPr>
          <a:lstStyle/>
          <a:p>
            <a:pPr algn="just"/>
            <a:r>
              <a:rPr lang="es-MX" dirty="0">
                <a:latin typeface="Times New Roman" panose="02020603050405020304" pitchFamily="18" charset="0"/>
                <a:cs typeface="Times New Roman" panose="02020603050405020304" pitchFamily="18" charset="0"/>
              </a:rPr>
              <a:t>Las variables morfológicas se evaluarán manualmente en cada imagen según descriptores de </a:t>
            </a:r>
            <a:r>
              <a:rPr lang="es-MX" dirty="0" err="1">
                <a:latin typeface="Times New Roman" panose="02020603050405020304" pitchFamily="18" charset="0"/>
                <a:cs typeface="Times New Roman" panose="02020603050405020304" pitchFamily="18" charset="0"/>
              </a:rPr>
              <a:t>mashua</a:t>
            </a:r>
            <a:r>
              <a:rPr lang="es-MX" dirty="0">
                <a:latin typeface="Times New Roman" panose="02020603050405020304" pitchFamily="18" charset="0"/>
                <a:cs typeface="Times New Roman" panose="02020603050405020304" pitchFamily="18" charset="0"/>
              </a:rPr>
              <a:t> y se registrarán en una hoja de cálculo, vinculadas con un código único por imagen. Esto permitirá comparar los resultados manuales con los generados por inteligencia artificial.</a:t>
            </a:r>
            <a:endParaRPr lang="es-PE" dirty="0">
              <a:latin typeface="Times New Roman" panose="02020603050405020304" pitchFamily="18" charset="0"/>
              <a:cs typeface="Times New Roman" panose="02020603050405020304" pitchFamily="18" charset="0"/>
            </a:endParaRPr>
          </a:p>
        </p:txBody>
      </p:sp>
      <p:cxnSp>
        <p:nvCxnSpPr>
          <p:cNvPr id="21" name="Conector recto 20">
            <a:extLst>
              <a:ext uri="{FF2B5EF4-FFF2-40B4-BE49-F238E27FC236}">
                <a16:creationId xmlns:a16="http://schemas.microsoft.com/office/drawing/2014/main" id="{DF9643BD-2DFA-4F5D-BCEC-50ED77328DBA}"/>
              </a:ext>
            </a:extLst>
          </p:cNvPr>
          <p:cNvCxnSpPr/>
          <p:nvPr/>
        </p:nvCxnSpPr>
        <p:spPr>
          <a:xfrm>
            <a:off x="4769223" y="851202"/>
            <a:ext cx="0" cy="515559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25" name="CuadroTexto 24">
            <a:extLst>
              <a:ext uri="{FF2B5EF4-FFF2-40B4-BE49-F238E27FC236}">
                <a16:creationId xmlns:a16="http://schemas.microsoft.com/office/drawing/2014/main" id="{9D423FC2-7FFE-4ABD-82C0-C5CE62DA3CA6}"/>
              </a:ext>
            </a:extLst>
          </p:cNvPr>
          <p:cNvSpPr txBox="1"/>
          <p:nvPr/>
        </p:nvSpPr>
        <p:spPr>
          <a:xfrm>
            <a:off x="5244353" y="777872"/>
            <a:ext cx="6096000" cy="369332"/>
          </a:xfrm>
          <a:prstGeom prst="rect">
            <a:avLst/>
          </a:prstGeom>
          <a:noFill/>
        </p:spPr>
        <p:txBody>
          <a:bodyPr wrap="square">
            <a:spAutoFit/>
          </a:bodyPr>
          <a:lstStyle/>
          <a:p>
            <a:r>
              <a:rPr lang="es-PE" sz="1800" b="1" dirty="0">
                <a:solidFill>
                  <a:srgbClr val="000000"/>
                </a:solidFill>
                <a:effectLst/>
                <a:latin typeface="Times New Roman" panose="02020603050405020304" pitchFamily="18" charset="0"/>
                <a:ea typeface="Calibri" panose="020F0502020204030204" pitchFamily="34" charset="0"/>
              </a:rPr>
              <a:t>3. Entrenamiento de modelos de inteligencia artificial</a:t>
            </a:r>
            <a:endParaRPr lang="es-PE" dirty="0"/>
          </a:p>
        </p:txBody>
      </p:sp>
      <p:sp>
        <p:nvSpPr>
          <p:cNvPr id="26" name="CuadroTexto 25">
            <a:extLst>
              <a:ext uri="{FF2B5EF4-FFF2-40B4-BE49-F238E27FC236}">
                <a16:creationId xmlns:a16="http://schemas.microsoft.com/office/drawing/2014/main" id="{6639A435-2582-4731-952D-94CC3276369A}"/>
              </a:ext>
            </a:extLst>
          </p:cNvPr>
          <p:cNvSpPr txBox="1"/>
          <p:nvPr/>
        </p:nvSpPr>
        <p:spPr>
          <a:xfrm>
            <a:off x="5694197" y="3383008"/>
            <a:ext cx="6096000" cy="369332"/>
          </a:xfrm>
          <a:prstGeom prst="rect">
            <a:avLst/>
          </a:prstGeom>
          <a:noFill/>
        </p:spPr>
        <p:txBody>
          <a:bodyPr wrap="square">
            <a:spAutoFit/>
          </a:bodyPr>
          <a:lstStyle/>
          <a:p>
            <a:r>
              <a:rPr lang="es-PE" sz="1800" b="1" dirty="0">
                <a:solidFill>
                  <a:srgbClr val="000000"/>
                </a:solidFill>
                <a:effectLst/>
                <a:latin typeface="Times New Roman" panose="02020603050405020304" pitchFamily="18" charset="0"/>
                <a:ea typeface="Calibri" panose="020F0502020204030204" pitchFamily="34" charset="0"/>
              </a:rPr>
              <a:t>4. Evaluación de desempeño del modelo</a:t>
            </a:r>
            <a:endParaRPr lang="es-PE" dirty="0"/>
          </a:p>
        </p:txBody>
      </p:sp>
      <p:sp>
        <p:nvSpPr>
          <p:cNvPr id="31" name="CuadroTexto 30">
            <a:extLst>
              <a:ext uri="{FF2B5EF4-FFF2-40B4-BE49-F238E27FC236}">
                <a16:creationId xmlns:a16="http://schemas.microsoft.com/office/drawing/2014/main" id="{21F81547-14C9-4F8D-B110-BCF2A7717C7C}"/>
              </a:ext>
            </a:extLst>
          </p:cNvPr>
          <p:cNvSpPr txBox="1"/>
          <p:nvPr/>
        </p:nvSpPr>
        <p:spPr>
          <a:xfrm>
            <a:off x="4877146" y="1178006"/>
            <a:ext cx="6682842" cy="923330"/>
          </a:xfrm>
          <a:prstGeom prst="rect">
            <a:avLst/>
          </a:prstGeom>
          <a:noFill/>
        </p:spPr>
        <p:txBody>
          <a:bodyPr wrap="square">
            <a:spAutoFit/>
          </a:bodyPr>
          <a:lstStyle/>
          <a:p>
            <a:pPr algn="just"/>
            <a:r>
              <a:rPr lang="es-MX" dirty="0">
                <a:latin typeface="Times New Roman" panose="02020603050405020304" pitchFamily="18" charset="0"/>
                <a:cs typeface="Times New Roman" panose="02020603050405020304" pitchFamily="18" charset="0"/>
              </a:rPr>
              <a:t>Se entrenarán modelos YOLOv5 y YOLOv10 en </a:t>
            </a:r>
            <a:r>
              <a:rPr lang="es-MX" dirty="0" err="1">
                <a:latin typeface="Times New Roman" panose="02020603050405020304" pitchFamily="18" charset="0"/>
                <a:cs typeface="Times New Roman" panose="02020603050405020304" pitchFamily="18" charset="0"/>
              </a:rPr>
              <a:t>PyTorch</a:t>
            </a:r>
            <a:r>
              <a:rPr lang="es-MX" dirty="0">
                <a:latin typeface="Times New Roman" panose="02020603050405020304" pitchFamily="18" charset="0"/>
                <a:cs typeface="Times New Roman" panose="02020603050405020304" pitchFamily="18" charset="0"/>
              </a:rPr>
              <a:t> utilizando 159 imágenes, divididas en conjuntos de entrenamiento (70 %), validación (20 %) y prueba (10 %). </a:t>
            </a:r>
            <a:endParaRPr lang="es-PE" dirty="0">
              <a:latin typeface="Times New Roman" panose="02020603050405020304" pitchFamily="18" charset="0"/>
              <a:cs typeface="Times New Roman" panose="02020603050405020304" pitchFamily="18" charset="0"/>
            </a:endParaRPr>
          </a:p>
        </p:txBody>
      </p:sp>
      <p:sp>
        <p:nvSpPr>
          <p:cNvPr id="33" name="CuadroTexto 32">
            <a:extLst>
              <a:ext uri="{FF2B5EF4-FFF2-40B4-BE49-F238E27FC236}">
                <a16:creationId xmlns:a16="http://schemas.microsoft.com/office/drawing/2014/main" id="{6C8E51EA-B030-4311-AF04-DC8A56AD8A5C}"/>
              </a:ext>
            </a:extLst>
          </p:cNvPr>
          <p:cNvSpPr txBox="1"/>
          <p:nvPr/>
        </p:nvSpPr>
        <p:spPr>
          <a:xfrm>
            <a:off x="5463988" y="3853063"/>
            <a:ext cx="6096000" cy="1754326"/>
          </a:xfrm>
          <a:prstGeom prst="rect">
            <a:avLst/>
          </a:prstGeom>
          <a:noFill/>
        </p:spPr>
        <p:txBody>
          <a:bodyPr wrap="square">
            <a:spAutoFit/>
          </a:bodyPr>
          <a:lstStyle/>
          <a:p>
            <a:pPr algn="just"/>
            <a:r>
              <a:rPr lang="es-MX" dirty="0">
                <a:latin typeface="Times New Roman" panose="02020603050405020304" pitchFamily="18" charset="0"/>
                <a:cs typeface="Times New Roman" panose="02020603050405020304" pitchFamily="18" charset="0"/>
              </a:rPr>
              <a:t>El rendimiento de los modelos se evaluará con diferentes configuraciones e </a:t>
            </a:r>
            <a:r>
              <a:rPr lang="es-MX" dirty="0" err="1">
                <a:latin typeface="Times New Roman" panose="02020603050405020304" pitchFamily="18" charset="0"/>
                <a:cs typeface="Times New Roman" panose="02020603050405020304" pitchFamily="18" charset="0"/>
              </a:rPr>
              <a:t>hiperparámetros</a:t>
            </a:r>
            <a:r>
              <a:rPr lang="es-MX" dirty="0">
                <a:latin typeface="Times New Roman" panose="02020603050405020304" pitchFamily="18" charset="0"/>
                <a:cs typeface="Times New Roman" panose="02020603050405020304" pitchFamily="18" charset="0"/>
              </a:rPr>
              <a:t>, usando al menos cinco réplicas por configuración. Se analizarán métricas como precisión, </a:t>
            </a:r>
            <a:r>
              <a:rPr lang="es-ES" sz="1800" dirty="0">
                <a:effectLst/>
                <a:latin typeface="Times New Roman" panose="02020603050405020304" pitchFamily="18" charset="0"/>
                <a:ea typeface="Times New Roman" panose="02020603050405020304" pitchFamily="18" charset="0"/>
                <a:cs typeface="Times New Roman" panose="02020603050405020304" pitchFamily="18" charset="0"/>
              </a:rPr>
              <a:t>precisión media (</a:t>
            </a:r>
            <a:r>
              <a:rPr lang="es-ES" sz="1800" dirty="0" err="1">
                <a:effectLst/>
                <a:latin typeface="Times New Roman" panose="02020603050405020304" pitchFamily="18" charset="0"/>
                <a:ea typeface="Times New Roman" panose="02020603050405020304" pitchFamily="18" charset="0"/>
                <a:cs typeface="Times New Roman" panose="02020603050405020304" pitchFamily="18" charset="0"/>
              </a:rPr>
              <a:t>mAP</a:t>
            </a:r>
            <a:r>
              <a:rPr lang="es-ES"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s-MX"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s-MX" dirty="0">
                <a:latin typeface="Times New Roman" panose="02020603050405020304" pitchFamily="18" charset="0"/>
                <a:cs typeface="Times New Roman" panose="02020603050405020304" pitchFamily="18" charset="0"/>
              </a:rPr>
              <a:t>mediante ANOVA y prueba de Tukey en R, con un nivel de significancia del 5 %, para identificar las configuraciones más efectivas.</a:t>
            </a:r>
            <a:endParaRPr lang="es-PE" dirty="0">
              <a:latin typeface="Times New Roman" panose="02020603050405020304" pitchFamily="18" charset="0"/>
              <a:cs typeface="Times New Roman" panose="02020603050405020304" pitchFamily="18" charset="0"/>
            </a:endParaRPr>
          </a:p>
        </p:txBody>
      </p:sp>
      <p:pic>
        <p:nvPicPr>
          <p:cNvPr id="36" name="Imagen 35">
            <a:extLst>
              <a:ext uri="{FF2B5EF4-FFF2-40B4-BE49-F238E27FC236}">
                <a16:creationId xmlns:a16="http://schemas.microsoft.com/office/drawing/2014/main" id="{2B9F5ABA-B4F8-4B49-8C21-FC58D83B91DA}"/>
              </a:ext>
            </a:extLst>
          </p:cNvPr>
          <p:cNvPicPr>
            <a:picLocks noChangeAspect="1"/>
          </p:cNvPicPr>
          <p:nvPr/>
        </p:nvPicPr>
        <p:blipFill>
          <a:blip r:embed="rId5"/>
          <a:stretch>
            <a:fillRect/>
          </a:stretch>
        </p:blipFill>
        <p:spPr>
          <a:xfrm>
            <a:off x="9273242" y="1971145"/>
            <a:ext cx="2389839" cy="1347333"/>
          </a:xfrm>
          <a:prstGeom prst="rect">
            <a:avLst/>
          </a:prstGeom>
        </p:spPr>
      </p:pic>
      <p:sp>
        <p:nvSpPr>
          <p:cNvPr id="38" name="CuadroTexto 37">
            <a:extLst>
              <a:ext uri="{FF2B5EF4-FFF2-40B4-BE49-F238E27FC236}">
                <a16:creationId xmlns:a16="http://schemas.microsoft.com/office/drawing/2014/main" id="{20D7DACE-3FC9-4B37-B18E-29472CDC8589}"/>
              </a:ext>
            </a:extLst>
          </p:cNvPr>
          <p:cNvSpPr txBox="1"/>
          <p:nvPr/>
        </p:nvSpPr>
        <p:spPr>
          <a:xfrm>
            <a:off x="4967172" y="2140488"/>
            <a:ext cx="4267198" cy="1200329"/>
          </a:xfrm>
          <a:prstGeom prst="rect">
            <a:avLst/>
          </a:prstGeom>
          <a:noFill/>
        </p:spPr>
        <p:txBody>
          <a:bodyPr wrap="square">
            <a:spAutoFit/>
          </a:bodyPr>
          <a:lstStyle/>
          <a:p>
            <a:pPr algn="just"/>
            <a:r>
              <a:rPr lang="es-MX" dirty="0">
                <a:latin typeface="Times New Roman" panose="02020603050405020304" pitchFamily="18" charset="0"/>
                <a:cs typeface="Times New Roman" panose="02020603050405020304" pitchFamily="18" charset="0"/>
              </a:rPr>
              <a:t>Se aplicarán aumentos de datos como rotación, recorte y ajustes de brillo/contraste para mejorar la capacidad del modelo frente a variaciones morfológicas y de fondo.</a:t>
            </a:r>
            <a:endParaRPr lang="es-PE" dirty="0"/>
          </a:p>
        </p:txBody>
      </p:sp>
    </p:spTree>
    <p:extLst>
      <p:ext uri="{BB962C8B-B14F-4D97-AF65-F5344CB8AC3E}">
        <p14:creationId xmlns:p14="http://schemas.microsoft.com/office/powerpoint/2010/main" val="27952344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8"/>
          <p:cNvGrpSpPr/>
          <p:nvPr/>
        </p:nvGrpSpPr>
        <p:grpSpPr>
          <a:xfrm>
            <a:off x="0" y="6340856"/>
            <a:ext cx="12192000" cy="557485"/>
            <a:chOff x="0" y="0"/>
            <a:chExt cx="24384000" cy="1114970"/>
          </a:xfrm>
        </p:grpSpPr>
        <p:sp>
          <p:nvSpPr>
            <p:cNvPr id="9" name="Freeform 9"/>
            <p:cNvSpPr/>
            <p:nvPr/>
          </p:nvSpPr>
          <p:spPr>
            <a:xfrm>
              <a:off x="0" y="0"/>
              <a:ext cx="24384000" cy="1114933"/>
            </a:xfrm>
            <a:custGeom>
              <a:avLst/>
              <a:gdLst/>
              <a:ahLst/>
              <a:cxnLst/>
              <a:rect l="l" t="t" r="r" b="b"/>
              <a:pathLst>
                <a:path w="24384000" h="1114933">
                  <a:moveTo>
                    <a:pt x="0" y="0"/>
                  </a:moveTo>
                  <a:lnTo>
                    <a:pt x="24384000" y="0"/>
                  </a:lnTo>
                  <a:lnTo>
                    <a:pt x="24384000" y="1114933"/>
                  </a:lnTo>
                  <a:lnTo>
                    <a:pt x="0" y="1114933"/>
                  </a:lnTo>
                  <a:lnTo>
                    <a:pt x="0" y="0"/>
                  </a:lnTo>
                  <a:close/>
                </a:path>
              </a:pathLst>
            </a:custGeom>
            <a:blipFill>
              <a:blip r:embed="rId2"/>
              <a:stretch>
                <a:fillRect l="-30644" t="-3"/>
              </a:stretch>
            </a:blipFill>
          </p:spPr>
          <p:txBody>
            <a:bodyPr/>
            <a:lstStyle/>
            <a:p>
              <a:endParaRPr lang="es-PE"/>
            </a:p>
          </p:txBody>
        </p:sp>
      </p:grpSp>
      <p:grpSp>
        <p:nvGrpSpPr>
          <p:cNvPr id="11" name="Group 11"/>
          <p:cNvGrpSpPr/>
          <p:nvPr/>
        </p:nvGrpSpPr>
        <p:grpSpPr>
          <a:xfrm>
            <a:off x="97003" y="70427"/>
            <a:ext cx="2180677" cy="641135"/>
            <a:chOff x="0" y="0"/>
            <a:chExt cx="4361354" cy="1282270"/>
          </a:xfrm>
        </p:grpSpPr>
        <p:sp>
          <p:nvSpPr>
            <p:cNvPr id="12" name="Freeform 12"/>
            <p:cNvSpPr/>
            <p:nvPr/>
          </p:nvSpPr>
          <p:spPr>
            <a:xfrm>
              <a:off x="0" y="0"/>
              <a:ext cx="4361307" cy="1282319"/>
            </a:xfrm>
            <a:custGeom>
              <a:avLst/>
              <a:gdLst/>
              <a:ahLst/>
              <a:cxnLst/>
              <a:rect l="l" t="t" r="r" b="b"/>
              <a:pathLst>
                <a:path w="4361307" h="1282319">
                  <a:moveTo>
                    <a:pt x="0" y="0"/>
                  </a:moveTo>
                  <a:lnTo>
                    <a:pt x="4361307" y="0"/>
                  </a:lnTo>
                  <a:lnTo>
                    <a:pt x="4361307" y="1282319"/>
                  </a:lnTo>
                  <a:lnTo>
                    <a:pt x="0" y="1282319"/>
                  </a:lnTo>
                  <a:lnTo>
                    <a:pt x="0" y="0"/>
                  </a:lnTo>
                  <a:close/>
                </a:path>
              </a:pathLst>
            </a:custGeom>
            <a:blipFill>
              <a:blip r:embed="rId3"/>
              <a:stretch>
                <a:fillRect t="-205" r="-1" b="-202"/>
              </a:stretch>
            </a:blipFill>
          </p:spPr>
          <p:txBody>
            <a:bodyPr/>
            <a:lstStyle/>
            <a:p>
              <a:endParaRPr lang="es-PE"/>
            </a:p>
          </p:txBody>
        </p:sp>
      </p:grpSp>
      <p:sp>
        <p:nvSpPr>
          <p:cNvPr id="24" name="CuadroTexto 23">
            <a:extLst>
              <a:ext uri="{FF2B5EF4-FFF2-40B4-BE49-F238E27FC236}">
                <a16:creationId xmlns:a16="http://schemas.microsoft.com/office/drawing/2014/main" id="{6888C567-3D68-4D70-9D56-AF0A60081177}"/>
              </a:ext>
            </a:extLst>
          </p:cNvPr>
          <p:cNvSpPr txBox="1"/>
          <p:nvPr/>
        </p:nvSpPr>
        <p:spPr>
          <a:xfrm>
            <a:off x="5463988" y="6457890"/>
            <a:ext cx="1264023" cy="400110"/>
          </a:xfrm>
          <a:prstGeom prst="rect">
            <a:avLst/>
          </a:prstGeom>
          <a:noFill/>
        </p:spPr>
        <p:txBody>
          <a:bodyPr wrap="square" rtlCol="0">
            <a:spAutoFit/>
          </a:bodyPr>
          <a:lstStyle/>
          <a:p>
            <a:pPr algn="ctr"/>
            <a:r>
              <a:rPr lang="es-PE" sz="2000" dirty="0">
                <a:solidFill>
                  <a:schemeClr val="bg1"/>
                </a:solidFill>
                <a:latin typeface="Times New Roman" panose="02020603050405020304" pitchFamily="18" charset="0"/>
                <a:cs typeface="Times New Roman" panose="02020603050405020304" pitchFamily="18" charset="0"/>
              </a:rPr>
              <a:t>8</a:t>
            </a:r>
          </a:p>
        </p:txBody>
      </p:sp>
      <p:cxnSp>
        <p:nvCxnSpPr>
          <p:cNvPr id="16" name="Conector recto 15">
            <a:extLst>
              <a:ext uri="{FF2B5EF4-FFF2-40B4-BE49-F238E27FC236}">
                <a16:creationId xmlns:a16="http://schemas.microsoft.com/office/drawing/2014/main" id="{8A788268-1A30-4A90-A431-BADE3EB1A3D4}"/>
              </a:ext>
            </a:extLst>
          </p:cNvPr>
          <p:cNvCxnSpPr/>
          <p:nvPr/>
        </p:nvCxnSpPr>
        <p:spPr>
          <a:xfrm>
            <a:off x="6651812" y="659866"/>
            <a:ext cx="0" cy="553826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5" name="CuadroTexto 24">
            <a:extLst>
              <a:ext uri="{FF2B5EF4-FFF2-40B4-BE49-F238E27FC236}">
                <a16:creationId xmlns:a16="http://schemas.microsoft.com/office/drawing/2014/main" id="{10F8F082-046C-484E-B7B5-D70324119D0B}"/>
              </a:ext>
            </a:extLst>
          </p:cNvPr>
          <p:cNvSpPr txBox="1"/>
          <p:nvPr/>
        </p:nvSpPr>
        <p:spPr>
          <a:xfrm>
            <a:off x="642243" y="1353327"/>
            <a:ext cx="5803379" cy="923330"/>
          </a:xfrm>
          <a:prstGeom prst="rect">
            <a:avLst/>
          </a:prstGeom>
          <a:noFill/>
        </p:spPr>
        <p:txBody>
          <a:bodyPr wrap="square">
            <a:spAutoFit/>
          </a:bodyPr>
          <a:lstStyle/>
          <a:p>
            <a:pPr algn="just"/>
            <a:r>
              <a:rPr lang="es-PE" sz="1800" dirty="0">
                <a:solidFill>
                  <a:srgbClr val="000000"/>
                </a:solidFill>
                <a:effectLst/>
                <a:latin typeface="Times New Roman" panose="02020603050405020304" pitchFamily="18" charset="0"/>
                <a:ea typeface="Calibri" panose="020F0502020204030204" pitchFamily="34" charset="0"/>
              </a:rPr>
              <a:t>Se tiene previsto diseñar una plataforma web usando el </a:t>
            </a:r>
            <a:r>
              <a:rPr lang="es-PE" sz="1800" dirty="0" err="1">
                <a:solidFill>
                  <a:srgbClr val="000000"/>
                </a:solidFill>
                <a:effectLst/>
                <a:latin typeface="Times New Roman" panose="02020603050405020304" pitchFamily="18" charset="0"/>
                <a:ea typeface="Calibri" panose="020F0502020204030204" pitchFamily="34" charset="0"/>
              </a:rPr>
              <a:t>framework</a:t>
            </a:r>
            <a:r>
              <a:rPr lang="es-PE" sz="1800" dirty="0">
                <a:solidFill>
                  <a:srgbClr val="000000"/>
                </a:solidFill>
                <a:effectLst/>
                <a:latin typeface="Times New Roman" panose="02020603050405020304" pitchFamily="18" charset="0"/>
                <a:ea typeface="Calibri" panose="020F0502020204030204" pitchFamily="34" charset="0"/>
              </a:rPr>
              <a:t> </a:t>
            </a:r>
            <a:r>
              <a:rPr lang="es-PE" sz="1800" dirty="0" err="1">
                <a:solidFill>
                  <a:srgbClr val="000000"/>
                </a:solidFill>
                <a:effectLst/>
                <a:latin typeface="Times New Roman" panose="02020603050405020304" pitchFamily="18" charset="0"/>
                <a:ea typeface="Calibri" panose="020F0502020204030204" pitchFamily="34" charset="0"/>
              </a:rPr>
              <a:t>Shiny</a:t>
            </a:r>
            <a:r>
              <a:rPr lang="es-PE" sz="1800" dirty="0">
                <a:solidFill>
                  <a:srgbClr val="000000"/>
                </a:solidFill>
                <a:effectLst/>
                <a:latin typeface="Times New Roman" panose="02020603050405020304" pitchFamily="18" charset="0"/>
                <a:ea typeface="Calibri" panose="020F0502020204030204" pitchFamily="34" charset="0"/>
              </a:rPr>
              <a:t> de R, que permitirá cargar imágenes nuevas para su análisis morfológico automatizado</a:t>
            </a:r>
            <a:endParaRPr lang="es-PE" dirty="0"/>
          </a:p>
        </p:txBody>
      </p:sp>
      <p:sp>
        <p:nvSpPr>
          <p:cNvPr id="27" name="CuadroTexto 26">
            <a:extLst>
              <a:ext uri="{FF2B5EF4-FFF2-40B4-BE49-F238E27FC236}">
                <a16:creationId xmlns:a16="http://schemas.microsoft.com/office/drawing/2014/main" id="{02EBA70F-8959-4DC3-84A6-C7057A0CABD5}"/>
              </a:ext>
            </a:extLst>
          </p:cNvPr>
          <p:cNvSpPr txBox="1"/>
          <p:nvPr/>
        </p:nvSpPr>
        <p:spPr>
          <a:xfrm>
            <a:off x="1878108" y="695865"/>
            <a:ext cx="4043082" cy="458074"/>
          </a:xfrm>
          <a:prstGeom prst="rect">
            <a:avLst/>
          </a:prstGeom>
          <a:noFill/>
        </p:spPr>
        <p:txBody>
          <a:bodyPr wrap="square">
            <a:spAutoFit/>
          </a:bodyPr>
          <a:lstStyle/>
          <a:p>
            <a:pPr algn="just">
              <a:lnSpc>
                <a:spcPct val="150000"/>
              </a:lnSpc>
              <a:spcAft>
                <a:spcPts val="600"/>
              </a:spcAft>
            </a:pPr>
            <a:r>
              <a:rPr lang="es-PE" sz="18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Desarrollo de plataforma digital</a:t>
            </a:r>
            <a:endParaRPr lang="es-PE"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p:txBody>
      </p:sp>
      <p:pic>
        <p:nvPicPr>
          <p:cNvPr id="28" name="Imagen 27">
            <a:extLst>
              <a:ext uri="{FF2B5EF4-FFF2-40B4-BE49-F238E27FC236}">
                <a16:creationId xmlns:a16="http://schemas.microsoft.com/office/drawing/2014/main" id="{ACC273AB-8C04-4948-85BF-BE0B6E22FFE5}"/>
              </a:ext>
            </a:extLst>
          </p:cNvPr>
          <p:cNvPicPr>
            <a:picLocks noChangeAspect="1"/>
          </p:cNvPicPr>
          <p:nvPr/>
        </p:nvPicPr>
        <p:blipFill>
          <a:blip r:embed="rId4"/>
          <a:stretch>
            <a:fillRect/>
          </a:stretch>
        </p:blipFill>
        <p:spPr>
          <a:xfrm>
            <a:off x="1120591" y="2392173"/>
            <a:ext cx="5146348" cy="1589248"/>
          </a:xfrm>
          <a:prstGeom prst="rect">
            <a:avLst/>
          </a:prstGeom>
        </p:spPr>
      </p:pic>
      <p:pic>
        <p:nvPicPr>
          <p:cNvPr id="29" name="Imagen 28">
            <a:extLst>
              <a:ext uri="{FF2B5EF4-FFF2-40B4-BE49-F238E27FC236}">
                <a16:creationId xmlns:a16="http://schemas.microsoft.com/office/drawing/2014/main" id="{00630637-1BF8-4637-BF87-1BEC944BD990}"/>
              </a:ext>
            </a:extLst>
          </p:cNvPr>
          <p:cNvPicPr>
            <a:picLocks noChangeAspect="1"/>
          </p:cNvPicPr>
          <p:nvPr/>
        </p:nvPicPr>
        <p:blipFill rotWithShape="1">
          <a:blip r:embed="rId5"/>
          <a:srcRect l="15978" t="7225" r="21288" b="7690"/>
          <a:stretch/>
        </p:blipFill>
        <p:spPr>
          <a:xfrm>
            <a:off x="2277657" y="3981421"/>
            <a:ext cx="2651627" cy="2022966"/>
          </a:xfrm>
          <a:prstGeom prst="rect">
            <a:avLst/>
          </a:prstGeom>
        </p:spPr>
      </p:pic>
      <p:sp>
        <p:nvSpPr>
          <p:cNvPr id="31" name="CuadroTexto 30">
            <a:extLst>
              <a:ext uri="{FF2B5EF4-FFF2-40B4-BE49-F238E27FC236}">
                <a16:creationId xmlns:a16="http://schemas.microsoft.com/office/drawing/2014/main" id="{DBA4EB23-E9DA-49A1-A1F0-171B567C0AEA}"/>
              </a:ext>
            </a:extLst>
          </p:cNvPr>
          <p:cNvSpPr txBox="1"/>
          <p:nvPr/>
        </p:nvSpPr>
        <p:spPr>
          <a:xfrm>
            <a:off x="7320631" y="1876739"/>
            <a:ext cx="4229124" cy="2308324"/>
          </a:xfrm>
          <a:prstGeom prst="rect">
            <a:avLst/>
          </a:prstGeom>
          <a:noFill/>
        </p:spPr>
        <p:txBody>
          <a:bodyPr wrap="square">
            <a:spAutoFit/>
          </a:bodyPr>
          <a:lstStyle/>
          <a:p>
            <a:pPr algn="just"/>
            <a:r>
              <a:rPr lang="es-MX" dirty="0">
                <a:latin typeface="Times New Roman" panose="02020603050405020304" pitchFamily="18" charset="0"/>
                <a:cs typeface="Times New Roman" panose="02020603050405020304" pitchFamily="18" charset="0"/>
              </a:rPr>
              <a:t>El análisis estadístico se realizará en R usando modelos lineales mixtos y ANOVA (5 % de significancia), con prueba de Tukey para comparaciones múltiples. También se calculará la correlación de Pearson entre mediciones manuales y automáticas, y se revisarán visualmente los resultados del modelo para detectar errores frecuentes.</a:t>
            </a:r>
            <a:endParaRPr lang="es-PE" dirty="0">
              <a:latin typeface="Times New Roman" panose="02020603050405020304" pitchFamily="18" charset="0"/>
              <a:cs typeface="Times New Roman" panose="02020603050405020304" pitchFamily="18" charset="0"/>
            </a:endParaRPr>
          </a:p>
        </p:txBody>
      </p:sp>
      <p:sp>
        <p:nvSpPr>
          <p:cNvPr id="33" name="CuadroTexto 32">
            <a:extLst>
              <a:ext uri="{FF2B5EF4-FFF2-40B4-BE49-F238E27FC236}">
                <a16:creationId xmlns:a16="http://schemas.microsoft.com/office/drawing/2014/main" id="{A2AF2F66-804C-465C-8E0A-33C43EED55C9}"/>
              </a:ext>
            </a:extLst>
          </p:cNvPr>
          <p:cNvSpPr txBox="1"/>
          <p:nvPr/>
        </p:nvSpPr>
        <p:spPr>
          <a:xfrm>
            <a:off x="8310282" y="1250431"/>
            <a:ext cx="2034988" cy="458074"/>
          </a:xfrm>
          <a:prstGeom prst="rect">
            <a:avLst/>
          </a:prstGeom>
          <a:noFill/>
        </p:spPr>
        <p:txBody>
          <a:bodyPr wrap="square">
            <a:spAutoFit/>
          </a:bodyPr>
          <a:lstStyle/>
          <a:p>
            <a:pPr algn="just">
              <a:lnSpc>
                <a:spcPct val="150000"/>
              </a:lnSpc>
              <a:spcAft>
                <a:spcPts val="600"/>
              </a:spcAft>
            </a:pPr>
            <a:r>
              <a:rPr lang="es-PE" sz="18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Análisis de datos</a:t>
            </a:r>
            <a:endParaRPr lang="es-PE"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34" name="CuadroTexto 33">
            <a:extLst>
              <a:ext uri="{FF2B5EF4-FFF2-40B4-BE49-F238E27FC236}">
                <a16:creationId xmlns:a16="http://schemas.microsoft.com/office/drawing/2014/main" id="{49FDF487-EB78-4BF5-B239-125EF50E3C6F}"/>
              </a:ext>
            </a:extLst>
          </p:cNvPr>
          <p:cNvSpPr txBox="1"/>
          <p:nvPr/>
        </p:nvSpPr>
        <p:spPr>
          <a:xfrm>
            <a:off x="5463988" y="93598"/>
            <a:ext cx="1945341" cy="458074"/>
          </a:xfrm>
          <a:prstGeom prst="rect">
            <a:avLst/>
          </a:prstGeom>
          <a:noFill/>
        </p:spPr>
        <p:txBody>
          <a:bodyPr wrap="square">
            <a:spAutoFit/>
          </a:bodyPr>
          <a:lstStyle/>
          <a:p>
            <a:pPr algn="just">
              <a:lnSpc>
                <a:spcPct val="150000"/>
              </a:lnSpc>
              <a:spcAft>
                <a:spcPts val="600"/>
              </a:spcAft>
            </a:pPr>
            <a:r>
              <a:rPr lang="es-PE" sz="18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6. Metodología</a:t>
            </a:r>
            <a:endParaRPr lang="es-PE"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8231653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8"/>
          <p:cNvGrpSpPr/>
          <p:nvPr/>
        </p:nvGrpSpPr>
        <p:grpSpPr>
          <a:xfrm>
            <a:off x="0" y="6340856"/>
            <a:ext cx="12192000" cy="557485"/>
            <a:chOff x="0" y="0"/>
            <a:chExt cx="24384000" cy="1114970"/>
          </a:xfrm>
        </p:grpSpPr>
        <p:sp>
          <p:nvSpPr>
            <p:cNvPr id="9" name="Freeform 9"/>
            <p:cNvSpPr/>
            <p:nvPr/>
          </p:nvSpPr>
          <p:spPr>
            <a:xfrm>
              <a:off x="0" y="0"/>
              <a:ext cx="24384000" cy="1114933"/>
            </a:xfrm>
            <a:custGeom>
              <a:avLst/>
              <a:gdLst/>
              <a:ahLst/>
              <a:cxnLst/>
              <a:rect l="l" t="t" r="r" b="b"/>
              <a:pathLst>
                <a:path w="24384000" h="1114933">
                  <a:moveTo>
                    <a:pt x="0" y="0"/>
                  </a:moveTo>
                  <a:lnTo>
                    <a:pt x="24384000" y="0"/>
                  </a:lnTo>
                  <a:lnTo>
                    <a:pt x="24384000" y="1114933"/>
                  </a:lnTo>
                  <a:lnTo>
                    <a:pt x="0" y="1114933"/>
                  </a:lnTo>
                  <a:lnTo>
                    <a:pt x="0" y="0"/>
                  </a:lnTo>
                  <a:close/>
                </a:path>
              </a:pathLst>
            </a:custGeom>
            <a:blipFill>
              <a:blip r:embed="rId2"/>
              <a:stretch>
                <a:fillRect l="-30644" t="-3"/>
              </a:stretch>
            </a:blipFill>
          </p:spPr>
          <p:txBody>
            <a:bodyPr/>
            <a:lstStyle/>
            <a:p>
              <a:endParaRPr lang="es-PE"/>
            </a:p>
          </p:txBody>
        </p:sp>
      </p:grpSp>
      <p:sp>
        <p:nvSpPr>
          <p:cNvPr id="24" name="CuadroTexto 23">
            <a:extLst>
              <a:ext uri="{FF2B5EF4-FFF2-40B4-BE49-F238E27FC236}">
                <a16:creationId xmlns:a16="http://schemas.microsoft.com/office/drawing/2014/main" id="{6888C567-3D68-4D70-9D56-AF0A60081177}"/>
              </a:ext>
            </a:extLst>
          </p:cNvPr>
          <p:cNvSpPr txBox="1"/>
          <p:nvPr/>
        </p:nvSpPr>
        <p:spPr>
          <a:xfrm>
            <a:off x="5463988" y="6457890"/>
            <a:ext cx="1264023" cy="400110"/>
          </a:xfrm>
          <a:prstGeom prst="rect">
            <a:avLst/>
          </a:prstGeom>
          <a:noFill/>
        </p:spPr>
        <p:txBody>
          <a:bodyPr wrap="square" rtlCol="0">
            <a:spAutoFit/>
          </a:bodyPr>
          <a:lstStyle/>
          <a:p>
            <a:pPr algn="ctr"/>
            <a:r>
              <a:rPr lang="es-PE" sz="2000" dirty="0">
                <a:solidFill>
                  <a:schemeClr val="bg1"/>
                </a:solidFill>
                <a:latin typeface="Times New Roman" panose="02020603050405020304" pitchFamily="18" charset="0"/>
                <a:cs typeface="Times New Roman" panose="02020603050405020304" pitchFamily="18" charset="0"/>
              </a:rPr>
              <a:t>9</a:t>
            </a:r>
          </a:p>
        </p:txBody>
      </p:sp>
      <p:sp>
        <p:nvSpPr>
          <p:cNvPr id="18" name="CuadroTexto 17">
            <a:extLst>
              <a:ext uri="{FF2B5EF4-FFF2-40B4-BE49-F238E27FC236}">
                <a16:creationId xmlns:a16="http://schemas.microsoft.com/office/drawing/2014/main" id="{8E6877BB-9FCA-40E4-A422-699FCB5662F7}"/>
              </a:ext>
            </a:extLst>
          </p:cNvPr>
          <p:cNvSpPr txBox="1"/>
          <p:nvPr/>
        </p:nvSpPr>
        <p:spPr>
          <a:xfrm>
            <a:off x="672351" y="827111"/>
            <a:ext cx="10712825" cy="4952766"/>
          </a:xfrm>
          <a:prstGeom prst="rect">
            <a:avLst/>
          </a:prstGeom>
          <a:noFill/>
        </p:spPr>
        <p:txBody>
          <a:bodyPr wrap="square">
            <a:spAutoFit/>
          </a:bodyPr>
          <a:lstStyle/>
          <a:p>
            <a:pPr marL="457200" indent="-457200" algn="just">
              <a:lnSpc>
                <a:spcPct val="150000"/>
              </a:lnSpc>
              <a:spcAft>
                <a:spcPts val="600"/>
              </a:spcAft>
            </a:pPr>
            <a:r>
              <a:rPr lang="es-PE" sz="1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Arteaga-Cano, D., Chacón-Calvo, L., Samamé-Herrera, V., Valverde-Cerna, D., &amp; </a:t>
            </a:r>
            <a:r>
              <a:rPr lang="es-PE" sz="1200"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Paucar</a:t>
            </a:r>
            <a:r>
              <a:rPr lang="es-PE" sz="1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-Menacho, L. M. (2022). </a:t>
            </a:r>
            <a:r>
              <a:rPr lang="es-PE" sz="1200"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Mashua</a:t>
            </a:r>
            <a:r>
              <a:rPr lang="es-PE" sz="1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s-PE" sz="1200" i="1"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Tropaeolum</a:t>
            </a:r>
            <a:r>
              <a:rPr lang="es-PE" sz="1200" i="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s-PE" sz="1200" i="1"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tuberosum</a:t>
            </a:r>
            <a:r>
              <a:rPr lang="es-PE" sz="1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Composición nutricional, características químicas, compuestos bioactivos y propiedades beneficiosas para la salud. </a:t>
            </a:r>
            <a:r>
              <a:rPr lang="es-PE" sz="1200" i="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Agroindustrial </a:t>
            </a:r>
            <a:r>
              <a:rPr lang="es-PE" sz="1200" i="1"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Science</a:t>
            </a:r>
            <a:r>
              <a:rPr lang="es-PE" sz="1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s-PE" sz="1200" i="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12</a:t>
            </a:r>
            <a:r>
              <a:rPr lang="es-PE" sz="1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(1), </a:t>
            </a:r>
            <a:r>
              <a:rPr lang="es-PE" sz="1200"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Article</a:t>
            </a:r>
            <a:r>
              <a:rPr lang="es-PE" sz="1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1. </a:t>
            </a:r>
            <a:r>
              <a:rPr lang="es-PE" sz="1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hlinkClick r:id="rId3"/>
              </a:rPr>
              <a:t>https://doi.org/10.17268/agroind.sci.2022.01.12</a:t>
            </a:r>
            <a:endParaRPr lang="es-PE" sz="1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p>
            <a:pPr marL="457200" indent="-457200" algn="just">
              <a:lnSpc>
                <a:spcPct val="150000"/>
              </a:lnSpc>
              <a:spcAft>
                <a:spcPts val="600"/>
              </a:spcAft>
            </a:pPr>
            <a:r>
              <a:rPr lang="es-PE" sz="1200" dirty="0">
                <a:solidFill>
                  <a:srgbClr val="000000"/>
                </a:solidFill>
                <a:effectLst/>
                <a:latin typeface="Times New Roman" panose="02020603050405020304" pitchFamily="18" charset="0"/>
                <a:ea typeface="Calibri" panose="020F0502020204030204" pitchFamily="34" charset="0"/>
              </a:rPr>
              <a:t>Chen, C., Bai, M., Wang, T., Zhang, W., </a:t>
            </a:r>
            <a:r>
              <a:rPr lang="es-PE" sz="1200" dirty="0" err="1">
                <a:solidFill>
                  <a:srgbClr val="000000"/>
                </a:solidFill>
                <a:effectLst/>
                <a:latin typeface="Times New Roman" panose="02020603050405020304" pitchFamily="18" charset="0"/>
                <a:ea typeface="Calibri" panose="020F0502020204030204" pitchFamily="34" charset="0"/>
              </a:rPr>
              <a:t>Yu</a:t>
            </a:r>
            <a:r>
              <a:rPr lang="es-PE" sz="1200" dirty="0">
                <a:solidFill>
                  <a:srgbClr val="000000"/>
                </a:solidFill>
                <a:effectLst/>
                <a:latin typeface="Times New Roman" panose="02020603050405020304" pitchFamily="18" charset="0"/>
                <a:ea typeface="Calibri" panose="020F0502020204030204" pitchFamily="34" charset="0"/>
              </a:rPr>
              <a:t>, H., </a:t>
            </a:r>
            <a:r>
              <a:rPr lang="es-PE" sz="1200" dirty="0" err="1">
                <a:solidFill>
                  <a:srgbClr val="000000"/>
                </a:solidFill>
                <a:effectLst/>
                <a:latin typeface="Times New Roman" panose="02020603050405020304" pitchFamily="18" charset="0"/>
                <a:ea typeface="Calibri" panose="020F0502020204030204" pitchFamily="34" charset="0"/>
              </a:rPr>
              <a:t>Pang</a:t>
            </a:r>
            <a:r>
              <a:rPr lang="es-PE" sz="1200" dirty="0">
                <a:solidFill>
                  <a:srgbClr val="000000"/>
                </a:solidFill>
                <a:effectLst/>
                <a:latin typeface="Times New Roman" panose="02020603050405020304" pitchFamily="18" charset="0"/>
                <a:ea typeface="Calibri" panose="020F0502020204030204" pitchFamily="34" charset="0"/>
              </a:rPr>
              <a:t>, T., Wu, J., Li, Z., &amp; Wang, X. (2024). </a:t>
            </a:r>
            <a:r>
              <a:rPr lang="es-PE" sz="1200" dirty="0" err="1">
                <a:solidFill>
                  <a:srgbClr val="000000"/>
                </a:solidFill>
                <a:effectLst/>
                <a:latin typeface="Times New Roman" panose="02020603050405020304" pitchFamily="18" charset="0"/>
                <a:ea typeface="Calibri" panose="020F0502020204030204" pitchFamily="34" charset="0"/>
              </a:rPr>
              <a:t>An</a:t>
            </a:r>
            <a:r>
              <a:rPr lang="es-PE" sz="1200" dirty="0">
                <a:solidFill>
                  <a:srgbClr val="000000"/>
                </a:solidFill>
                <a:effectLst/>
                <a:latin typeface="Times New Roman" panose="02020603050405020304" pitchFamily="18" charset="0"/>
                <a:ea typeface="Calibri" panose="020F0502020204030204" pitchFamily="34" charset="0"/>
              </a:rPr>
              <a:t> RGB </a:t>
            </a:r>
            <a:r>
              <a:rPr lang="es-PE" sz="1200" dirty="0" err="1">
                <a:solidFill>
                  <a:srgbClr val="000000"/>
                </a:solidFill>
                <a:effectLst/>
                <a:latin typeface="Times New Roman" panose="02020603050405020304" pitchFamily="18" charset="0"/>
                <a:ea typeface="Calibri" panose="020F0502020204030204" pitchFamily="34" charset="0"/>
              </a:rPr>
              <a:t>image</a:t>
            </a:r>
            <a:r>
              <a:rPr lang="es-PE" sz="1200" dirty="0">
                <a:solidFill>
                  <a:srgbClr val="000000"/>
                </a:solidFill>
                <a:effectLst/>
                <a:latin typeface="Times New Roman" panose="02020603050405020304" pitchFamily="18" charset="0"/>
                <a:ea typeface="Calibri" panose="020F0502020204030204" pitchFamily="34" charset="0"/>
              </a:rPr>
              <a:t> </a:t>
            </a:r>
            <a:r>
              <a:rPr lang="es-PE" sz="1200" dirty="0" err="1">
                <a:solidFill>
                  <a:srgbClr val="000000"/>
                </a:solidFill>
                <a:effectLst/>
                <a:latin typeface="Times New Roman" panose="02020603050405020304" pitchFamily="18" charset="0"/>
                <a:ea typeface="Calibri" panose="020F0502020204030204" pitchFamily="34" charset="0"/>
              </a:rPr>
              <a:t>dataset</a:t>
            </a:r>
            <a:r>
              <a:rPr lang="es-PE" sz="1200" dirty="0">
                <a:solidFill>
                  <a:srgbClr val="000000"/>
                </a:solidFill>
                <a:effectLst/>
                <a:latin typeface="Times New Roman" panose="02020603050405020304" pitchFamily="18" charset="0"/>
                <a:ea typeface="Calibri" panose="020F0502020204030204" pitchFamily="34" charset="0"/>
              </a:rPr>
              <a:t> </a:t>
            </a:r>
            <a:r>
              <a:rPr lang="es-PE" sz="1200" dirty="0" err="1">
                <a:solidFill>
                  <a:srgbClr val="000000"/>
                </a:solidFill>
                <a:effectLst/>
                <a:latin typeface="Times New Roman" panose="02020603050405020304" pitchFamily="18" charset="0"/>
                <a:ea typeface="Calibri" panose="020F0502020204030204" pitchFamily="34" charset="0"/>
              </a:rPr>
              <a:t>for</a:t>
            </a:r>
            <a:r>
              <a:rPr lang="es-PE" sz="1200" dirty="0">
                <a:solidFill>
                  <a:srgbClr val="000000"/>
                </a:solidFill>
                <a:effectLst/>
                <a:latin typeface="Times New Roman" panose="02020603050405020304" pitchFamily="18" charset="0"/>
                <a:ea typeface="Calibri" panose="020F0502020204030204" pitchFamily="34" charset="0"/>
              </a:rPr>
              <a:t> </a:t>
            </a:r>
            <a:r>
              <a:rPr lang="es-PE" sz="1200" dirty="0" err="1">
                <a:solidFill>
                  <a:srgbClr val="000000"/>
                </a:solidFill>
                <a:effectLst/>
                <a:latin typeface="Times New Roman" panose="02020603050405020304" pitchFamily="18" charset="0"/>
                <a:ea typeface="Calibri" panose="020F0502020204030204" pitchFamily="34" charset="0"/>
              </a:rPr>
              <a:t>seed</a:t>
            </a:r>
            <a:r>
              <a:rPr lang="es-PE" sz="1200" dirty="0">
                <a:solidFill>
                  <a:srgbClr val="000000"/>
                </a:solidFill>
                <a:effectLst/>
                <a:latin typeface="Times New Roman" panose="02020603050405020304" pitchFamily="18" charset="0"/>
                <a:ea typeface="Calibri" panose="020F0502020204030204" pitchFamily="34" charset="0"/>
              </a:rPr>
              <a:t> </a:t>
            </a:r>
            <a:r>
              <a:rPr lang="es-PE" sz="1200" dirty="0" err="1">
                <a:solidFill>
                  <a:srgbClr val="000000"/>
                </a:solidFill>
                <a:effectLst/>
                <a:latin typeface="Times New Roman" panose="02020603050405020304" pitchFamily="18" charset="0"/>
                <a:ea typeface="Calibri" panose="020F0502020204030204" pitchFamily="34" charset="0"/>
              </a:rPr>
              <a:t>germination</a:t>
            </a:r>
            <a:r>
              <a:rPr lang="es-PE" sz="1200" dirty="0">
                <a:solidFill>
                  <a:srgbClr val="000000"/>
                </a:solidFill>
                <a:effectLst/>
                <a:latin typeface="Times New Roman" panose="02020603050405020304" pitchFamily="18" charset="0"/>
                <a:ea typeface="Calibri" panose="020F0502020204030204" pitchFamily="34" charset="0"/>
              </a:rPr>
              <a:t> </a:t>
            </a:r>
            <a:r>
              <a:rPr lang="es-PE" sz="1200" dirty="0" err="1">
                <a:solidFill>
                  <a:srgbClr val="000000"/>
                </a:solidFill>
                <a:effectLst/>
                <a:latin typeface="Times New Roman" panose="02020603050405020304" pitchFamily="18" charset="0"/>
                <a:ea typeface="Calibri" panose="020F0502020204030204" pitchFamily="34" charset="0"/>
              </a:rPr>
              <a:t>prediction</a:t>
            </a:r>
            <a:r>
              <a:rPr lang="es-PE" sz="1200" dirty="0">
                <a:solidFill>
                  <a:srgbClr val="000000"/>
                </a:solidFill>
                <a:effectLst/>
                <a:latin typeface="Times New Roman" panose="02020603050405020304" pitchFamily="18" charset="0"/>
                <a:ea typeface="Calibri" panose="020F0502020204030204" pitchFamily="34" charset="0"/>
              </a:rPr>
              <a:t> and vigor </a:t>
            </a:r>
            <a:r>
              <a:rPr lang="es-PE" sz="1200" dirty="0" err="1">
                <a:solidFill>
                  <a:srgbClr val="000000"/>
                </a:solidFill>
                <a:effectLst/>
                <a:latin typeface="Times New Roman" panose="02020603050405020304" pitchFamily="18" charset="0"/>
                <a:ea typeface="Calibri" panose="020F0502020204030204" pitchFamily="34" charset="0"/>
              </a:rPr>
              <a:t>detection</a:t>
            </a:r>
            <a:r>
              <a:rPr lang="es-PE" sz="1200" dirty="0">
                <a:solidFill>
                  <a:srgbClr val="000000"/>
                </a:solidFill>
                <a:effectLst/>
                <a:latin typeface="Times New Roman" panose="02020603050405020304" pitchFamily="18" charset="0"/>
                <a:ea typeface="Calibri" panose="020F0502020204030204" pitchFamily="34" charset="0"/>
              </a:rPr>
              <a:t>—</a:t>
            </a:r>
            <a:r>
              <a:rPr lang="es-PE" sz="1200" dirty="0" err="1">
                <a:solidFill>
                  <a:srgbClr val="000000"/>
                </a:solidFill>
                <a:effectLst/>
                <a:latin typeface="Times New Roman" panose="02020603050405020304" pitchFamily="18" charset="0"/>
                <a:ea typeface="Calibri" panose="020F0502020204030204" pitchFamily="34" charset="0"/>
              </a:rPr>
              <a:t>Maize</a:t>
            </a:r>
            <a:r>
              <a:rPr lang="es-PE" sz="1200" dirty="0">
                <a:solidFill>
                  <a:srgbClr val="000000"/>
                </a:solidFill>
                <a:effectLst/>
                <a:latin typeface="Times New Roman" panose="02020603050405020304" pitchFamily="18" charset="0"/>
                <a:ea typeface="Calibri" panose="020F0502020204030204" pitchFamily="34" charset="0"/>
              </a:rPr>
              <a:t>. </a:t>
            </a:r>
            <a:r>
              <a:rPr lang="es-PE" sz="1200" i="1" dirty="0" err="1">
                <a:solidFill>
                  <a:srgbClr val="000000"/>
                </a:solidFill>
                <a:effectLst/>
                <a:latin typeface="Times New Roman" panose="02020603050405020304" pitchFamily="18" charset="0"/>
                <a:ea typeface="Calibri" panose="020F0502020204030204" pitchFamily="34" charset="0"/>
              </a:rPr>
              <a:t>Frontiers</a:t>
            </a:r>
            <a:r>
              <a:rPr lang="es-PE" sz="1200" i="1" dirty="0">
                <a:solidFill>
                  <a:srgbClr val="000000"/>
                </a:solidFill>
                <a:effectLst/>
                <a:latin typeface="Times New Roman" panose="02020603050405020304" pitchFamily="18" charset="0"/>
                <a:ea typeface="Calibri" panose="020F0502020204030204" pitchFamily="34" charset="0"/>
              </a:rPr>
              <a:t> in </a:t>
            </a:r>
            <a:r>
              <a:rPr lang="es-PE" sz="1200" i="1" dirty="0" err="1">
                <a:solidFill>
                  <a:srgbClr val="000000"/>
                </a:solidFill>
                <a:effectLst/>
                <a:latin typeface="Times New Roman" panose="02020603050405020304" pitchFamily="18" charset="0"/>
                <a:ea typeface="Calibri" panose="020F0502020204030204" pitchFamily="34" charset="0"/>
              </a:rPr>
              <a:t>Plant</a:t>
            </a:r>
            <a:r>
              <a:rPr lang="es-PE" sz="1200" i="1" dirty="0">
                <a:solidFill>
                  <a:srgbClr val="000000"/>
                </a:solidFill>
                <a:effectLst/>
                <a:latin typeface="Times New Roman" panose="02020603050405020304" pitchFamily="18" charset="0"/>
                <a:ea typeface="Calibri" panose="020F0502020204030204" pitchFamily="34" charset="0"/>
              </a:rPr>
              <a:t> </a:t>
            </a:r>
            <a:r>
              <a:rPr lang="es-PE" sz="1200" i="1" dirty="0" err="1">
                <a:solidFill>
                  <a:srgbClr val="000000"/>
                </a:solidFill>
                <a:effectLst/>
                <a:latin typeface="Times New Roman" panose="02020603050405020304" pitchFamily="18" charset="0"/>
                <a:ea typeface="Calibri" panose="020F0502020204030204" pitchFamily="34" charset="0"/>
              </a:rPr>
              <a:t>Science</a:t>
            </a:r>
            <a:r>
              <a:rPr lang="es-PE" sz="1200" dirty="0">
                <a:solidFill>
                  <a:srgbClr val="000000"/>
                </a:solidFill>
                <a:effectLst/>
                <a:latin typeface="Times New Roman" panose="02020603050405020304" pitchFamily="18" charset="0"/>
                <a:ea typeface="Calibri" panose="020F0502020204030204" pitchFamily="34" charset="0"/>
              </a:rPr>
              <a:t>, </a:t>
            </a:r>
            <a:r>
              <a:rPr lang="es-PE" sz="1200" i="1" dirty="0">
                <a:solidFill>
                  <a:srgbClr val="000000"/>
                </a:solidFill>
                <a:effectLst/>
                <a:latin typeface="Times New Roman" panose="02020603050405020304" pitchFamily="18" charset="0"/>
                <a:ea typeface="Calibri" panose="020F0502020204030204" pitchFamily="34" charset="0"/>
              </a:rPr>
              <a:t>15</a:t>
            </a:r>
            <a:r>
              <a:rPr lang="es-PE" sz="1200" dirty="0">
                <a:solidFill>
                  <a:srgbClr val="000000"/>
                </a:solidFill>
                <a:effectLst/>
                <a:latin typeface="Times New Roman" panose="02020603050405020304" pitchFamily="18" charset="0"/>
                <a:ea typeface="Calibri" panose="020F0502020204030204" pitchFamily="34" charset="0"/>
              </a:rPr>
              <a:t>. </a:t>
            </a:r>
            <a:r>
              <a:rPr lang="es-PE" sz="1200" dirty="0">
                <a:solidFill>
                  <a:srgbClr val="000000"/>
                </a:solidFill>
                <a:effectLst/>
                <a:latin typeface="Times New Roman" panose="02020603050405020304" pitchFamily="18" charset="0"/>
                <a:ea typeface="Calibri" panose="020F0502020204030204" pitchFamily="34" charset="0"/>
                <a:hlinkClick r:id="rId4"/>
              </a:rPr>
              <a:t>https://doi.org/10.3389/fpls.2024.1341335</a:t>
            </a:r>
            <a:endParaRPr lang="es-PE" sz="12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endParaRPr>
          </a:p>
          <a:p>
            <a:pPr marL="457200" indent="-457200" algn="just">
              <a:lnSpc>
                <a:spcPct val="150000"/>
              </a:lnSpc>
              <a:spcAft>
                <a:spcPts val="600"/>
              </a:spcAft>
            </a:pPr>
            <a:r>
              <a:rPr lang="es-PE" sz="1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Medeiros, A. D. de, </a:t>
            </a:r>
            <a:r>
              <a:rPr lang="es-PE" sz="1200"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Pinheiro</a:t>
            </a:r>
            <a:r>
              <a:rPr lang="es-PE" sz="1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D. T., Xavier, W. A., Silva, L. J. da, &amp; </a:t>
            </a:r>
            <a:r>
              <a:rPr lang="es-PE" sz="1200"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Dias</a:t>
            </a:r>
            <a:r>
              <a:rPr lang="es-PE" sz="1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D. C. F. dos S. (2020). Clasificación de calidad de las semillas de </a:t>
            </a:r>
            <a:r>
              <a:rPr lang="es-PE" sz="1200" i="1"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Jatropha</a:t>
            </a:r>
            <a:r>
              <a:rPr lang="es-PE" sz="1200" i="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curcas</a:t>
            </a:r>
            <a:r>
              <a:rPr lang="es-PE" sz="1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mediante imágenes radiográficas y aprendizaje automático. </a:t>
            </a:r>
            <a:r>
              <a:rPr lang="es-PE" sz="1200" i="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Industrial </a:t>
            </a:r>
            <a:r>
              <a:rPr lang="es-PE" sz="1200" i="1"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Crops</a:t>
            </a:r>
            <a:r>
              <a:rPr lang="es-PE" sz="1200" i="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and </a:t>
            </a:r>
            <a:r>
              <a:rPr lang="es-PE" sz="1200" i="1"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Products</a:t>
            </a:r>
            <a:r>
              <a:rPr lang="es-PE" sz="1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s-PE" sz="1200" i="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146</a:t>
            </a:r>
            <a:r>
              <a:rPr lang="es-PE" sz="1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112162. </a:t>
            </a:r>
            <a:r>
              <a:rPr lang="es-PE" sz="1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hlinkClick r:id="rId5"/>
              </a:rPr>
              <a:t>https://doi.org/10.1016/j.indcrop.2020.112162</a:t>
            </a:r>
            <a:endParaRPr lang="es-PE" sz="1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p>
            <a:pPr marL="457200" indent="-457200" algn="just">
              <a:lnSpc>
                <a:spcPct val="150000"/>
              </a:lnSpc>
              <a:spcAft>
                <a:spcPts val="600"/>
              </a:spcAft>
            </a:pPr>
            <a:r>
              <a:rPr lang="es-PE" sz="1200"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Mirano</a:t>
            </a:r>
            <a:r>
              <a:rPr lang="es-PE" sz="1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Papel, M. E. (2018). </a:t>
            </a:r>
            <a:r>
              <a:rPr lang="es-PE" sz="1200" i="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Caracterización morfológica de 113 entradas de </a:t>
            </a:r>
            <a:r>
              <a:rPr lang="es-PE" sz="1200" i="1"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Mashua</a:t>
            </a:r>
            <a:r>
              <a:rPr lang="es-PE" sz="1200" i="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s-PE" sz="1200" i="1"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Tropaeolum</a:t>
            </a:r>
            <a:r>
              <a:rPr lang="es-PE" sz="1200" i="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s-PE" sz="1200" i="1"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Tuberosum</a:t>
            </a:r>
            <a:r>
              <a:rPr lang="es-PE" sz="1200" i="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en el sector de Chiri </a:t>
            </a:r>
            <a:r>
              <a:rPr lang="es-PE" sz="1200" i="1"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Unuyoc</a:t>
            </a:r>
            <a:r>
              <a:rPr lang="es-PE" sz="1200" i="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s-PE" sz="1200" i="1"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Kayra</a:t>
            </a:r>
            <a:r>
              <a:rPr lang="es-PE" sz="1200" i="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—Cusco</a:t>
            </a:r>
            <a:r>
              <a:rPr lang="es-PE" sz="1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[Tesis de Título </a:t>
            </a:r>
            <a:r>
              <a:rPr lang="es-PE" sz="1200"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Profecional</a:t>
            </a:r>
            <a:r>
              <a:rPr lang="es-PE" sz="1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Universidad Nacional de San Antonio Abad del Cusco]. https://repositorio.unsaac.edu.pe/handle/20.500.12918/4757</a:t>
            </a:r>
            <a:endParaRPr lang="es-PE" sz="12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endParaRPr>
          </a:p>
          <a:p>
            <a:pPr marL="457200" indent="-457200" algn="just">
              <a:lnSpc>
                <a:spcPct val="150000"/>
              </a:lnSpc>
              <a:spcAft>
                <a:spcPts val="600"/>
              </a:spcAft>
            </a:pPr>
            <a:r>
              <a:rPr lang="es-PE" sz="1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Pacheco Arenas, E. S. (2015). </a:t>
            </a:r>
            <a:r>
              <a:rPr lang="es-PE" sz="1200" i="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Caracterización morfológica y molecular de </a:t>
            </a:r>
            <a:r>
              <a:rPr lang="es-PE" sz="1200" i="1"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mashua</a:t>
            </a:r>
            <a:r>
              <a:rPr lang="es-PE" sz="1200" i="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s-PE" sz="1200" i="1"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Tropaeolum</a:t>
            </a:r>
            <a:r>
              <a:rPr lang="es-PE" sz="1200" i="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s-PE" sz="1200" i="1"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tuberosum</a:t>
            </a:r>
            <a:r>
              <a:rPr lang="es-PE" sz="1200" i="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Ruiz y Pavón) de los departamentos de Cusco y Cajamarca</a:t>
            </a:r>
            <a:r>
              <a:rPr lang="es-PE" sz="1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[Tesis de Maestría, Universidad Nacional Agraria La Molina]. https://hdl.handle.net/20.500.12996/2095</a:t>
            </a:r>
          </a:p>
          <a:p>
            <a:pPr marL="457200" indent="-457200" algn="just">
              <a:lnSpc>
                <a:spcPct val="150000"/>
              </a:lnSpc>
              <a:spcAft>
                <a:spcPts val="600"/>
              </a:spcAft>
            </a:pPr>
            <a:r>
              <a:rPr lang="en-US" sz="1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Sharma, A. K., </a:t>
            </a:r>
            <a:r>
              <a:rPr lang="en-US" sz="1200"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Zotarelli</a:t>
            </a:r>
            <a:r>
              <a:rPr lang="en-US" sz="1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L., </a:t>
            </a:r>
            <a:r>
              <a:rPr lang="en-US" sz="1200"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Zare</a:t>
            </a:r>
            <a:r>
              <a:rPr lang="en-US" sz="1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 &amp; Sharma, L. K. (2025). Automated potato tuber mass estimation and grading with multiangle 2D images. Smart Agricultural Technology, 10, 100832. </a:t>
            </a:r>
            <a:r>
              <a:rPr lang="en-US" sz="1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hlinkClick r:id="rId6"/>
              </a:rPr>
              <a:t>https://doi.org/10.1016/j.atech.2025.100832</a:t>
            </a:r>
            <a:endParaRPr lang="en-US" sz="1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p>
            <a:pPr marL="457200" indent="-457200" algn="just">
              <a:lnSpc>
                <a:spcPct val="150000"/>
              </a:lnSpc>
              <a:spcAft>
                <a:spcPts val="600"/>
              </a:spcAft>
            </a:pPr>
            <a:r>
              <a:rPr lang="es-PE" sz="1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Valle-Parra, M., </a:t>
            </a:r>
            <a:r>
              <a:rPr lang="es-PE" sz="1200"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Pomboza-Tamaquiza</a:t>
            </a:r>
            <a:r>
              <a:rPr lang="es-PE" sz="1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P., Buenaño-</a:t>
            </a:r>
            <a:r>
              <a:rPr lang="es-PE" sz="1200"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Sanchez</a:t>
            </a:r>
            <a:r>
              <a:rPr lang="es-PE" sz="1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M., Guevara-Freire, D., </a:t>
            </a:r>
            <a:r>
              <a:rPr lang="es-PE" sz="1200"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Chasi</a:t>
            </a:r>
            <a:r>
              <a:rPr lang="es-PE" sz="1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-Vizuete, P., Vásquez-</a:t>
            </a:r>
            <a:r>
              <a:rPr lang="es-PE" sz="1200"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Freitez</a:t>
            </a:r>
            <a:r>
              <a:rPr lang="es-PE" sz="1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C., &amp; Pérez-Salinas, M. (2018). </a:t>
            </a:r>
            <a:r>
              <a:rPr lang="es-PE" sz="1200"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Morphology</a:t>
            </a:r>
            <a:r>
              <a:rPr lang="es-PE" sz="1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s-PE" sz="1200"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phenology</a:t>
            </a:r>
            <a:r>
              <a:rPr lang="es-PE" sz="1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s-PE" sz="1200"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nutrients</a:t>
            </a:r>
            <a:r>
              <a:rPr lang="es-PE" sz="1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and </a:t>
            </a:r>
            <a:r>
              <a:rPr lang="es-PE" sz="1200"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yield</a:t>
            </a:r>
            <a:r>
              <a:rPr lang="es-PE" sz="1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s-PE" sz="1200"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of</a:t>
            </a:r>
            <a:r>
              <a:rPr lang="es-PE" sz="1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s-PE" sz="1200"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six</a:t>
            </a:r>
            <a:r>
              <a:rPr lang="es-PE" sz="1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s-PE" sz="1200"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accessions</a:t>
            </a:r>
            <a:r>
              <a:rPr lang="es-PE" sz="1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s-PE" sz="1200"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of</a:t>
            </a:r>
            <a:r>
              <a:rPr lang="es-PE" sz="1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s-PE" sz="1200" i="1"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Tropaeolum</a:t>
            </a:r>
            <a:r>
              <a:rPr lang="es-PE" sz="1200" i="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s-PE" sz="1200" i="1"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tuberosum</a:t>
            </a:r>
            <a:r>
              <a:rPr lang="es-PE" sz="1200" i="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s-PE" sz="1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Ruiz y </a:t>
            </a:r>
            <a:r>
              <a:rPr lang="es-PE" sz="1200"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Pav</a:t>
            </a:r>
            <a:r>
              <a:rPr lang="es-PE" sz="1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s-PE" sz="1200"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mashua</a:t>
            </a:r>
            <a:r>
              <a:rPr lang="es-PE" sz="1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Tropical and Subtropical </a:t>
            </a:r>
            <a:r>
              <a:rPr lang="es-PE" sz="1200"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Agroecosystems</a:t>
            </a:r>
            <a:r>
              <a:rPr lang="es-PE" sz="1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21(1), </a:t>
            </a:r>
            <a:r>
              <a:rPr lang="es-PE" sz="1200"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Article</a:t>
            </a:r>
            <a:r>
              <a:rPr lang="es-PE" sz="1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1. https://doi.org/10.56369/tsaes.2574</a:t>
            </a:r>
          </a:p>
        </p:txBody>
      </p:sp>
      <p:sp>
        <p:nvSpPr>
          <p:cNvPr id="20" name="CuadroTexto 19">
            <a:extLst>
              <a:ext uri="{FF2B5EF4-FFF2-40B4-BE49-F238E27FC236}">
                <a16:creationId xmlns:a16="http://schemas.microsoft.com/office/drawing/2014/main" id="{6AC217D7-FBF3-4C7D-801D-4C86053F680D}"/>
              </a:ext>
            </a:extLst>
          </p:cNvPr>
          <p:cNvSpPr txBox="1"/>
          <p:nvPr/>
        </p:nvSpPr>
        <p:spPr>
          <a:xfrm>
            <a:off x="1335741" y="266132"/>
            <a:ext cx="6096000" cy="458074"/>
          </a:xfrm>
          <a:prstGeom prst="rect">
            <a:avLst/>
          </a:prstGeom>
          <a:noFill/>
        </p:spPr>
        <p:txBody>
          <a:bodyPr wrap="square">
            <a:spAutoFit/>
          </a:bodyPr>
          <a:lstStyle/>
          <a:p>
            <a:pPr algn="just">
              <a:lnSpc>
                <a:spcPct val="150000"/>
              </a:lnSpc>
              <a:spcAft>
                <a:spcPts val="600"/>
              </a:spcAft>
            </a:pPr>
            <a:r>
              <a:rPr lang="es-PE" sz="18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7. Referencias</a:t>
            </a:r>
            <a:endParaRPr lang="es-PE"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p:txBody>
      </p:sp>
      <p:grpSp>
        <p:nvGrpSpPr>
          <p:cNvPr id="21" name="Group 11">
            <a:extLst>
              <a:ext uri="{FF2B5EF4-FFF2-40B4-BE49-F238E27FC236}">
                <a16:creationId xmlns:a16="http://schemas.microsoft.com/office/drawing/2014/main" id="{9CA30087-6FDF-4264-9DF6-88BBFF287F64}"/>
              </a:ext>
            </a:extLst>
          </p:cNvPr>
          <p:cNvGrpSpPr/>
          <p:nvPr/>
        </p:nvGrpSpPr>
        <p:grpSpPr>
          <a:xfrm>
            <a:off x="9765920" y="0"/>
            <a:ext cx="2180677" cy="641135"/>
            <a:chOff x="0" y="0"/>
            <a:chExt cx="4361354" cy="1282270"/>
          </a:xfrm>
        </p:grpSpPr>
        <p:sp>
          <p:nvSpPr>
            <p:cNvPr id="22" name="Freeform 12">
              <a:extLst>
                <a:ext uri="{FF2B5EF4-FFF2-40B4-BE49-F238E27FC236}">
                  <a16:creationId xmlns:a16="http://schemas.microsoft.com/office/drawing/2014/main" id="{EC1337C0-F1FC-40D0-81B0-99F339851224}"/>
                </a:ext>
              </a:extLst>
            </p:cNvPr>
            <p:cNvSpPr/>
            <p:nvPr/>
          </p:nvSpPr>
          <p:spPr>
            <a:xfrm>
              <a:off x="0" y="0"/>
              <a:ext cx="4361307" cy="1282319"/>
            </a:xfrm>
            <a:custGeom>
              <a:avLst/>
              <a:gdLst/>
              <a:ahLst/>
              <a:cxnLst/>
              <a:rect l="l" t="t" r="r" b="b"/>
              <a:pathLst>
                <a:path w="4361307" h="1282319">
                  <a:moveTo>
                    <a:pt x="0" y="0"/>
                  </a:moveTo>
                  <a:lnTo>
                    <a:pt x="4361307" y="0"/>
                  </a:lnTo>
                  <a:lnTo>
                    <a:pt x="4361307" y="1282319"/>
                  </a:lnTo>
                  <a:lnTo>
                    <a:pt x="0" y="1282319"/>
                  </a:lnTo>
                  <a:lnTo>
                    <a:pt x="0" y="0"/>
                  </a:lnTo>
                  <a:close/>
                </a:path>
              </a:pathLst>
            </a:custGeom>
            <a:blipFill>
              <a:blip r:embed="rId7"/>
              <a:stretch>
                <a:fillRect t="-205" r="-1" b="-202"/>
              </a:stretch>
            </a:blipFill>
          </p:spPr>
          <p:txBody>
            <a:bodyPr/>
            <a:lstStyle/>
            <a:p>
              <a:endParaRPr lang="es-PE"/>
            </a:p>
          </p:txBody>
        </p:sp>
      </p:grpSp>
    </p:spTree>
    <p:extLst>
      <p:ext uri="{BB962C8B-B14F-4D97-AF65-F5344CB8AC3E}">
        <p14:creationId xmlns:p14="http://schemas.microsoft.com/office/powerpoint/2010/main" val="1213752724"/>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8980</TotalTime>
  <Words>1378</Words>
  <Application>Microsoft Office PowerPoint</Application>
  <PresentationFormat>Panorámica</PresentationFormat>
  <Paragraphs>67</Paragraphs>
  <Slides>9</Slides>
  <Notes>1</Notes>
  <HiddenSlides>0</HiddenSlides>
  <MMClips>0</MMClips>
  <ScaleCrop>false</ScaleCrop>
  <HeadingPairs>
    <vt:vector size="6" baseType="variant">
      <vt:variant>
        <vt:lpstr>Fuentes usadas</vt:lpstr>
      </vt:variant>
      <vt:variant>
        <vt:i4>6</vt:i4>
      </vt:variant>
      <vt:variant>
        <vt:lpstr>Tema</vt:lpstr>
      </vt:variant>
      <vt:variant>
        <vt:i4>2</vt:i4>
      </vt:variant>
      <vt:variant>
        <vt:lpstr>Títulos de diapositiva</vt:lpstr>
      </vt:variant>
      <vt:variant>
        <vt:i4>9</vt:i4>
      </vt:variant>
    </vt:vector>
  </HeadingPairs>
  <TitlesOfParts>
    <vt:vector size="17" baseType="lpstr">
      <vt:lpstr>Aptos</vt:lpstr>
      <vt:lpstr>Arial</vt:lpstr>
      <vt:lpstr>Calibri</vt:lpstr>
      <vt:lpstr>Calibri Light</vt:lpstr>
      <vt:lpstr>Times New Roman</vt:lpstr>
      <vt:lpstr>Wingdings</vt:lpstr>
      <vt:lpstr>Tema de Office</vt:lpstr>
      <vt:lpstr>1_Office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Usuario</dc:creator>
  <cp:lastModifiedBy>Yoel Diaz</cp:lastModifiedBy>
  <cp:revision>229</cp:revision>
  <dcterms:created xsi:type="dcterms:W3CDTF">2024-11-03T00:16:39Z</dcterms:created>
  <dcterms:modified xsi:type="dcterms:W3CDTF">2025-06-10T21:54:57Z</dcterms:modified>
</cp:coreProperties>
</file>